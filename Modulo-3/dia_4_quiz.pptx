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138" y="5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3225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22627E"/>
          </a:solidFill>
          <a:ln w="12700">
            <a:solidFill>
              <a:srgbClr val="22627E"/>
            </a:solidFill>
            <a:prstDash val="solid"/>
          </a:ln>
        </p:spPr>
      </p:sp>
      <p:sp>
        <p:nvSpPr>
          <p:cNvPr id="3" name="Shape 1"/>
          <p:cNvSpPr/>
          <p:nvPr/>
        </p:nvSpPr>
        <p:spPr>
          <a:xfrm>
            <a:off x="0" y="6720840"/>
            <a:ext cx="12191695" cy="137160"/>
          </a:xfrm>
          <a:prstGeom prst="rect">
            <a:avLst/>
          </a:prstGeom>
          <a:solidFill>
            <a:srgbClr val="22627E"/>
          </a:solidFill>
          <a:ln w="12700">
            <a:solidFill>
              <a:srgbClr val="22627E"/>
            </a:solidFill>
            <a:prstDash val="solid"/>
          </a:ln>
        </p:spPr>
      </p:sp>
      <p:sp>
        <p:nvSpPr>
          <p:cNvPr id="4" name="Text 2"/>
          <p:cNvSpPr/>
          <p:nvPr/>
        </p:nvSpPr>
        <p:spPr>
          <a:xfrm>
            <a:off x="457200" y="365760"/>
            <a:ext cx="10972800" cy="457200"/>
          </a:xfrm>
          <a:prstGeom prst="rect">
            <a:avLst/>
          </a:prstGeom>
          <a:noFill/>
          <a:ln/>
        </p:spPr>
        <p:txBody>
          <a:bodyPr wrap="square" rtlCol="0" anchor="ctr"/>
          <a:lstStyle/>
          <a:p>
            <a:pPr marL="0" indent="0">
              <a:buNone/>
            </a:pPr>
            <a:r>
              <a:rPr lang="en-US" sz="1600" b="1" dirty="0">
                <a:solidFill>
                  <a:srgbClr val="22627E"/>
                </a:solidFill>
                <a:latin typeface="Calibri" pitchFamily="34" charset="0"/>
                <a:ea typeface="Calibri" pitchFamily="34" charset="-122"/>
                <a:cs typeface="Calibri" pitchFamily="34" charset="-120"/>
              </a:rPr>
              <a:t>Modulo 3: Vision Empresarial</a:t>
            </a:r>
            <a:endParaRPr lang="en-US" sz="1600" dirty="0"/>
          </a:p>
        </p:txBody>
      </p:sp>
      <p:sp>
        <p:nvSpPr>
          <p:cNvPr id="5" name="Text 3"/>
          <p:cNvSpPr/>
          <p:nvPr/>
        </p:nvSpPr>
        <p:spPr>
          <a:xfrm>
            <a:off x="457200" y="1828800"/>
            <a:ext cx="10972800" cy="2286000"/>
          </a:xfrm>
          <a:prstGeom prst="rect">
            <a:avLst/>
          </a:prstGeom>
          <a:noFill/>
          <a:ln/>
        </p:spPr>
        <p:txBody>
          <a:bodyPr wrap="square" rtlCol="0" anchor="ctr"/>
          <a:lstStyle/>
          <a:p>
            <a:pPr marL="0" indent="0">
              <a:buNone/>
            </a:pPr>
            <a:r>
              <a:rPr lang="en-US" sz="5400" b="1" dirty="0">
                <a:solidFill>
                  <a:srgbClr val="22627E"/>
                </a:solidFill>
                <a:latin typeface="Calibri" pitchFamily="34" charset="0"/>
                <a:ea typeface="Calibri" pitchFamily="34" charset="-122"/>
                <a:cs typeface="Calibri" pitchFamily="34" charset="-120"/>
              </a:rPr>
              <a:t>Repaso del día 4</a:t>
            </a:r>
            <a:endParaRPr lang="en-US" sz="5400" dirty="0"/>
          </a:p>
        </p:txBody>
      </p:sp>
      <p:sp>
        <p:nvSpPr>
          <p:cNvPr id="6" name="Text 4"/>
          <p:cNvSpPr/>
          <p:nvPr/>
        </p:nvSpPr>
        <p:spPr>
          <a:xfrm>
            <a:off x="457200" y="4114800"/>
            <a:ext cx="10972800" cy="1645920"/>
          </a:xfrm>
          <a:prstGeom prst="rect">
            <a:avLst/>
          </a:prstGeom>
          <a:noFill/>
          <a:ln/>
        </p:spPr>
        <p:txBody>
          <a:bodyPr wrap="square" rtlCol="0" anchor="ctr"/>
          <a:lstStyle/>
          <a:p>
            <a:pPr marL="0" indent="0">
              <a:buNone/>
            </a:pPr>
            <a:r>
              <a:rPr lang="en-US" sz="2200" dirty="0">
                <a:solidFill>
                  <a:srgbClr val="333333"/>
                </a:solidFill>
                <a:latin typeface="Calibri" pitchFamily="34" charset="0"/>
                <a:ea typeface="Calibri" pitchFamily="34" charset="-122"/>
                <a:cs typeface="Calibri" pitchFamily="34" charset="-120"/>
              </a:rPr>
              <a:t>20 preguntas sobre gestión de proyectos: idea, análisis, planificación, ejecución, riesgos y particularidades de los proyectos blockchain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627E"/>
        </a:solidFill>
        <a:effectLst/>
      </p:bgPr>
    </p:bg>
    <p:spTree>
      <p:nvGrpSpPr>
        <p:cNvPr id="1" name=""/>
        <p:cNvGrpSpPr/>
        <p:nvPr/>
      </p:nvGrpSpPr>
      <p:grpSpPr>
        <a:xfrm>
          <a:off x="0" y="0"/>
          <a:ext cx="0" cy="0"/>
          <a:chOff x="0" y="0"/>
          <a:chExt cx="0" cy="0"/>
        </a:xfrm>
      </p:grpSpPr>
      <p:sp>
        <p:nvSpPr>
          <p:cNvPr id="2" name="Text 0"/>
          <p:cNvSpPr/>
          <p:nvPr/>
        </p:nvSpPr>
        <p:spPr>
          <a:xfrm>
            <a:off x="457200" y="228600"/>
            <a:ext cx="10972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Las 20 preguntas — Repaso día 4 (Módulo 3)</a:t>
            </a:r>
            <a:endParaRPr lang="en-US" sz="2800" dirty="0"/>
          </a:p>
        </p:txBody>
      </p:sp>
      <p:sp>
        <p:nvSpPr>
          <p:cNvPr id="3" name="Shape 1"/>
          <p:cNvSpPr/>
          <p:nvPr/>
        </p:nvSpPr>
        <p:spPr>
          <a:xfrm>
            <a:off x="457200" y="868680"/>
            <a:ext cx="10972800" cy="27432"/>
          </a:xfrm>
          <a:prstGeom prst="rect">
            <a:avLst/>
          </a:prstGeom>
          <a:solidFill>
            <a:srgbClr val="FFFFFF"/>
          </a:solidFill>
          <a:ln w="12700">
            <a:solidFill>
              <a:srgbClr val="FFFFFF"/>
            </a:solidFill>
            <a:prstDash val="solid"/>
          </a:ln>
        </p:spPr>
      </p:sp>
      <p:sp>
        <p:nvSpPr>
          <p:cNvPr id="4" name="Text 2"/>
          <p:cNvSpPr/>
          <p:nvPr/>
        </p:nvSpPr>
        <p:spPr>
          <a:xfrm>
            <a:off x="457200" y="1051560"/>
            <a:ext cx="5760720" cy="5303520"/>
          </a:xfrm>
          <a:prstGeom prst="rect">
            <a:avLst/>
          </a:prstGeom>
          <a:noFill/>
          <a:ln/>
        </p:spPr>
        <p:txBody>
          <a:bodyPr wrap="square" rtlCol="0" anchor="t"/>
          <a:lstStyle/>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El curso estructura la gestión de un proyecto en seis fases secuenciales. Enuméralas en orden y explica brevemente qué se hace en cada </a:t>
            </a:r>
            <a:r>
              <a:rPr lang="en-US" sz="1100" dirty="0" err="1">
                <a:solidFill>
                  <a:srgbClr val="FFFFFF"/>
                </a:solidFill>
                <a:latin typeface="Calibri" pitchFamily="34" charset="0"/>
                <a:ea typeface="Calibri" pitchFamily="34" charset="-122"/>
                <a:cs typeface="Calibri" pitchFamily="34" charset="-120"/>
              </a:rPr>
              <a:t>una</a:t>
            </a:r>
            <a:r>
              <a:rPr lang="en-US" sz="1100" dirty="0">
                <a:solidFill>
                  <a:srgbClr val="FFFFFF"/>
                </a:solidFill>
                <a:latin typeface="Calibri" pitchFamily="34" charset="0"/>
                <a:ea typeface="Calibri" pitchFamily="34" charset="-122"/>
                <a:cs typeface="Calibri" pitchFamily="34" charset="-120"/>
              </a:rPr>
              <a:t>.</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 ¿Cuál es la regla clave que distingue un brainstorming bien hecho de una reunión cualquiera con ideas?</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¿Qué es SCAMPER y para qué tipo de problema se usa? Enumera las siete operaciones que codifica el </a:t>
            </a:r>
            <a:r>
              <a:rPr lang="en-US" sz="1100" dirty="0" err="1">
                <a:solidFill>
                  <a:srgbClr val="FFFFFF"/>
                </a:solidFill>
                <a:latin typeface="Calibri" pitchFamily="34" charset="0"/>
                <a:ea typeface="Calibri" pitchFamily="34" charset="-122"/>
                <a:cs typeface="Calibri" pitchFamily="34" charset="-120"/>
              </a:rPr>
              <a:t>acrónimo</a:t>
            </a:r>
            <a:r>
              <a:rPr lang="en-US" sz="1100" dirty="0">
                <a:solidFill>
                  <a:srgbClr val="FFFFFF"/>
                </a:solidFill>
                <a:latin typeface="Calibri" pitchFamily="34" charset="0"/>
                <a:ea typeface="Calibri" pitchFamily="34" charset="-122"/>
                <a:cs typeface="Calibri" pitchFamily="34" charset="-120"/>
              </a:rPr>
              <a:t>.</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Design Thinking tiene cinco fases bien definidas. Enuméralas en orden y explica qué se hace en la fase "empatizar", que suele ser la más mal </a:t>
            </a:r>
            <a:r>
              <a:rPr lang="en-US" sz="1100" dirty="0" err="1">
                <a:solidFill>
                  <a:srgbClr val="FFFFFF"/>
                </a:solidFill>
                <a:latin typeface="Calibri" pitchFamily="34" charset="0"/>
                <a:ea typeface="Calibri" pitchFamily="34" charset="-122"/>
                <a:cs typeface="Calibri" pitchFamily="34" charset="-120"/>
              </a:rPr>
              <a:t>entendida</a:t>
            </a:r>
            <a:r>
              <a:rPr lang="en-US" sz="1100" dirty="0">
                <a:solidFill>
                  <a:srgbClr val="FFFFFF"/>
                </a:solidFill>
                <a:latin typeface="Calibri" pitchFamily="34" charset="0"/>
                <a:ea typeface="Calibri" pitchFamily="34" charset="-122"/>
                <a:cs typeface="Calibri" pitchFamily="34" charset="-120"/>
              </a:rPr>
              <a:t>.</a:t>
            </a:r>
          </a:p>
          <a:p>
            <a:pPr marL="228600" indent="-228600">
              <a:spcAft>
                <a:spcPts val="600"/>
              </a:spcAft>
              <a:buAutoNum type="arabicPeriod"/>
            </a:pPr>
            <a:r>
              <a:rPr lang="en-US" sz="1100" dirty="0" err="1">
                <a:solidFill>
                  <a:srgbClr val="FFFFFF"/>
                </a:solidFill>
                <a:latin typeface="Calibri" pitchFamily="34" charset="0"/>
                <a:ea typeface="Calibri" pitchFamily="34" charset="-122"/>
                <a:cs typeface="Calibri" pitchFamily="34" charset="-120"/>
              </a:rPr>
              <a:t>Diferencia</a:t>
            </a:r>
            <a:r>
              <a:rPr lang="en-US" sz="1100" dirty="0">
                <a:solidFill>
                  <a:srgbClr val="FFFFFF"/>
                </a:solidFill>
                <a:latin typeface="Calibri" pitchFamily="34" charset="0"/>
                <a:ea typeface="Calibri" pitchFamily="34" charset="-122"/>
                <a:cs typeface="Calibri" pitchFamily="34" charset="-120"/>
              </a:rPr>
              <a:t> entre requisitos funcionales y no funcionales, con un ejemplo de cada uno aplicado a una plataforma de fidelización tipo </a:t>
            </a:r>
            <a:r>
              <a:rPr lang="en-US" sz="1100" dirty="0" err="1">
                <a:solidFill>
                  <a:srgbClr val="FFFFFF"/>
                </a:solidFill>
                <a:latin typeface="Calibri" pitchFamily="34" charset="0"/>
                <a:ea typeface="Calibri" pitchFamily="34" charset="-122"/>
                <a:cs typeface="Calibri" pitchFamily="34" charset="-120"/>
              </a:rPr>
              <a:t>FidelityChain</a:t>
            </a:r>
            <a:r>
              <a:rPr lang="en-US" sz="1100" dirty="0">
                <a:solidFill>
                  <a:srgbClr val="FFFFFF"/>
                </a:solidFill>
                <a:latin typeface="Calibri" pitchFamily="34" charset="0"/>
                <a:ea typeface="Calibri" pitchFamily="34" charset="-122"/>
                <a:cs typeface="Calibri" pitchFamily="34" charset="-120"/>
              </a:rPr>
              <a:t>.</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¿Qué es MoSCoW y por qué se usa al priorizar requisitos? ¿Qué significa cada </a:t>
            </a:r>
            <a:r>
              <a:rPr lang="en-US" sz="1100" dirty="0" err="1">
                <a:solidFill>
                  <a:srgbClr val="FFFFFF"/>
                </a:solidFill>
                <a:latin typeface="Calibri" pitchFamily="34" charset="0"/>
                <a:ea typeface="Calibri" pitchFamily="34" charset="-122"/>
                <a:cs typeface="Calibri" pitchFamily="34" charset="-120"/>
              </a:rPr>
              <a:t>letra</a:t>
            </a:r>
            <a:r>
              <a:rPr lang="en-US" sz="1100" dirty="0">
                <a:solidFill>
                  <a:srgbClr val="FFFFFF"/>
                </a:solidFill>
                <a:latin typeface="Calibri" pitchFamily="34" charset="0"/>
                <a:ea typeface="Calibri" pitchFamily="34" charset="-122"/>
                <a:cs typeface="Calibri" pitchFamily="34" charset="-120"/>
              </a:rPr>
              <a:t>?</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¿En qué se diferencia el modelo Kano de MoSCoW y para qué sirve </a:t>
            </a:r>
            <a:r>
              <a:rPr lang="en-US" sz="1100" dirty="0" err="1">
                <a:solidFill>
                  <a:srgbClr val="FFFFFF"/>
                </a:solidFill>
                <a:latin typeface="Calibri" pitchFamily="34" charset="0"/>
                <a:ea typeface="Calibri" pitchFamily="34" charset="-122"/>
                <a:cs typeface="Calibri" pitchFamily="34" charset="-120"/>
              </a:rPr>
              <a:t>realmente</a:t>
            </a:r>
            <a:r>
              <a:rPr lang="en-US" sz="1100" dirty="0">
                <a:solidFill>
                  <a:srgbClr val="FFFFFF"/>
                </a:solidFill>
                <a:latin typeface="Calibri" pitchFamily="34" charset="0"/>
                <a:ea typeface="Calibri" pitchFamily="34" charset="-122"/>
                <a:cs typeface="Calibri" pitchFamily="34" charset="-120"/>
              </a:rPr>
              <a:t>?</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¿Para qué sirve la matriz de stakeholders poder vs interés y por qué un stakeholder "silencioso" puede ser más peligroso que uno "</a:t>
            </a:r>
            <a:r>
              <a:rPr lang="en-US" sz="1100" dirty="0" err="1">
                <a:solidFill>
                  <a:srgbClr val="FFFFFF"/>
                </a:solidFill>
                <a:latin typeface="Calibri" pitchFamily="34" charset="0"/>
                <a:ea typeface="Calibri" pitchFamily="34" charset="-122"/>
                <a:cs typeface="Calibri" pitchFamily="34" charset="-120"/>
              </a:rPr>
              <a:t>ruidoso</a:t>
            </a:r>
            <a:r>
              <a:rPr lang="en-US" sz="1100" dirty="0">
                <a:solidFill>
                  <a:srgbClr val="FFFFFF"/>
                </a:solidFill>
                <a:latin typeface="Calibri" pitchFamily="34" charset="0"/>
                <a:ea typeface="Calibri" pitchFamily="34" charset="-122"/>
                <a:cs typeface="Calibri" pitchFamily="34" charset="-120"/>
              </a:rPr>
              <a:t>"?</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¿Qué significa que un proyecto sea "technology-driven" y por qué es un anti-pattern?</a:t>
            </a:r>
          </a:p>
          <a:p>
            <a:pPr marL="228600" indent="-228600">
              <a:spcAft>
                <a:spcPts val="600"/>
              </a:spcAft>
              <a:buAutoNum type="arabicPeriod"/>
            </a:pPr>
            <a:r>
              <a:rPr lang="en-US" sz="1100" dirty="0">
                <a:solidFill>
                  <a:srgbClr val="FFFFFF"/>
                </a:solidFill>
                <a:latin typeface="Calibri" pitchFamily="34" charset="0"/>
                <a:ea typeface="Calibri" pitchFamily="34" charset="-122"/>
                <a:cs typeface="Calibri" pitchFamily="34" charset="-120"/>
              </a:rPr>
              <a:t>¿Qué criterio guía la elección entre Waterfall y Agile, y cuándo tiene sentido cada uno?</a:t>
            </a:r>
            <a:endParaRPr lang="en-US" sz="1100" dirty="0"/>
          </a:p>
        </p:txBody>
      </p:sp>
      <p:sp>
        <p:nvSpPr>
          <p:cNvPr id="5" name="Text 3"/>
          <p:cNvSpPr/>
          <p:nvPr/>
        </p:nvSpPr>
        <p:spPr>
          <a:xfrm>
            <a:off x="6355080" y="1051560"/>
            <a:ext cx="5760720" cy="5303520"/>
          </a:xfrm>
          <a:prstGeom prst="rect">
            <a:avLst/>
          </a:prstGeom>
          <a:noFill/>
          <a:ln/>
        </p:spPr>
        <p:txBody>
          <a:bodyPr wrap="square" rtlCol="0" anchor="t"/>
          <a:lstStyle/>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11. ¿Qué busca Lean como metodología de gestión y cuáles son sus principios clave?</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12. ¿Qué es la Definition of Done (DoD) y por qué un equipo no debe arrancar sin tenerla </a:t>
            </a:r>
            <a:r>
              <a:rPr lang="en-US" sz="1100" dirty="0" err="1">
                <a:solidFill>
                  <a:srgbClr val="FFFFFF"/>
                </a:solidFill>
                <a:latin typeface="Calibri" pitchFamily="34" charset="0"/>
                <a:ea typeface="Calibri" pitchFamily="34" charset="-122"/>
                <a:cs typeface="Calibri" pitchFamily="34" charset="-120"/>
              </a:rPr>
              <a:t>acordada</a:t>
            </a:r>
            <a:r>
              <a:rPr lang="en-US" sz="1100" dirty="0">
                <a:solidFill>
                  <a:srgbClr val="FFFFFF"/>
                </a:solidFill>
                <a:latin typeface="Calibri" pitchFamily="34" charset="0"/>
                <a:ea typeface="Calibri" pitchFamily="34" charset="-122"/>
                <a:cs typeface="Calibri" pitchFamily="34" charset="-120"/>
              </a:rPr>
              <a:t>?</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13. Una historia tiene criterios de aceptación y debe cumplir la Definition of Done. ¿Cuál es la diferencia y cómo se </a:t>
            </a:r>
            <a:r>
              <a:rPr lang="en-US" sz="1100" dirty="0" err="1">
                <a:solidFill>
                  <a:srgbClr val="FFFFFF"/>
                </a:solidFill>
                <a:latin typeface="Calibri" pitchFamily="34" charset="0"/>
                <a:ea typeface="Calibri" pitchFamily="34" charset="-122"/>
                <a:cs typeface="Calibri" pitchFamily="34" charset="-120"/>
              </a:rPr>
              <a:t>relacionan</a:t>
            </a:r>
            <a:r>
              <a:rPr lang="en-US" sz="1100" dirty="0">
                <a:solidFill>
                  <a:srgbClr val="FFFFFF"/>
                </a:solidFill>
                <a:latin typeface="Calibri" pitchFamily="34" charset="0"/>
                <a:ea typeface="Calibri" pitchFamily="34" charset="-122"/>
                <a:cs typeface="Calibri" pitchFamily="34" charset="-120"/>
              </a:rPr>
              <a:t>?</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14. ¿Cuál es la diferencia esencial entre Product Owner y Scrum Master, y por qué confundirlos arruina el </a:t>
            </a:r>
            <a:r>
              <a:rPr lang="en-US" sz="1100" dirty="0" err="1">
                <a:solidFill>
                  <a:srgbClr val="FFFFFF"/>
                </a:solidFill>
                <a:latin typeface="Calibri" pitchFamily="34" charset="0"/>
                <a:ea typeface="Calibri" pitchFamily="34" charset="-122"/>
                <a:cs typeface="Calibri" pitchFamily="34" charset="-120"/>
              </a:rPr>
              <a:t>equipo</a:t>
            </a:r>
            <a:r>
              <a:rPr lang="en-US" sz="1100" dirty="0">
                <a:solidFill>
                  <a:srgbClr val="FFFFFF"/>
                </a:solidFill>
                <a:latin typeface="Calibri" pitchFamily="34" charset="0"/>
                <a:ea typeface="Calibri" pitchFamily="34" charset="-122"/>
                <a:cs typeface="Calibri" pitchFamily="34" charset="-120"/>
              </a:rPr>
              <a:t>?</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15. ¿Qué es exactamente un MVP y cuál es la confusión más común a la hora de </a:t>
            </a:r>
            <a:r>
              <a:rPr lang="en-US" sz="1100" dirty="0" err="1">
                <a:solidFill>
                  <a:srgbClr val="FFFFFF"/>
                </a:solidFill>
                <a:latin typeface="Calibri" pitchFamily="34" charset="0"/>
                <a:ea typeface="Calibri" pitchFamily="34" charset="-122"/>
                <a:cs typeface="Calibri" pitchFamily="34" charset="-120"/>
              </a:rPr>
              <a:t>definirlo</a:t>
            </a:r>
            <a:r>
              <a:rPr lang="en-US" sz="1100" dirty="0">
                <a:solidFill>
                  <a:srgbClr val="FFFFFF"/>
                </a:solidFill>
                <a:latin typeface="Calibri" pitchFamily="34" charset="0"/>
                <a:ea typeface="Calibri" pitchFamily="34" charset="-122"/>
                <a:cs typeface="Calibri" pitchFamily="34" charset="-120"/>
              </a:rPr>
              <a:t>?</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16. Aplicando MoSCoW a FidelityChain, ¿qué entraría en el MVP (Must have) y qué se </a:t>
            </a:r>
            <a:r>
              <a:rPr lang="en-US" sz="1100" dirty="0" err="1">
                <a:solidFill>
                  <a:srgbClr val="FFFFFF"/>
                </a:solidFill>
                <a:latin typeface="Calibri" pitchFamily="34" charset="0"/>
                <a:ea typeface="Calibri" pitchFamily="34" charset="-122"/>
                <a:cs typeface="Calibri" pitchFamily="34" charset="-120"/>
              </a:rPr>
              <a:t>aplazaría</a:t>
            </a:r>
            <a:r>
              <a:rPr lang="en-US" sz="1100" dirty="0">
                <a:solidFill>
                  <a:srgbClr val="FFFFFF"/>
                </a:solidFill>
                <a:latin typeface="Calibri" pitchFamily="34" charset="0"/>
                <a:ea typeface="Calibri" pitchFamily="34" charset="-122"/>
                <a:cs typeface="Calibri" pitchFamily="34" charset="-120"/>
              </a:rPr>
              <a:t>?</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17. ¿Cómo se mide un riesgo y por qué la fórmula Probabilidad × Impacto es más útil que mirar uno solo de los dos </a:t>
            </a:r>
            <a:r>
              <a:rPr lang="en-US" sz="1100" dirty="0" err="1">
                <a:solidFill>
                  <a:srgbClr val="FFFFFF"/>
                </a:solidFill>
                <a:latin typeface="Calibri" pitchFamily="34" charset="0"/>
                <a:ea typeface="Calibri" pitchFamily="34" charset="-122"/>
                <a:cs typeface="Calibri" pitchFamily="34" charset="-120"/>
              </a:rPr>
              <a:t>factores</a:t>
            </a:r>
            <a:r>
              <a:rPr lang="en-US" sz="1100" dirty="0">
                <a:solidFill>
                  <a:srgbClr val="FFFFFF"/>
                </a:solidFill>
                <a:latin typeface="Calibri" pitchFamily="34" charset="0"/>
                <a:ea typeface="Calibri" pitchFamily="34" charset="-122"/>
                <a:cs typeface="Calibri" pitchFamily="34" charset="-120"/>
              </a:rPr>
              <a:t>?</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18. Para cada riesgo identificado hay que elegir una estrategia de respuesta. Enumera las cuatro y pon un ejemplo de cada </a:t>
            </a:r>
            <a:r>
              <a:rPr lang="en-US" sz="1100" dirty="0" err="1">
                <a:solidFill>
                  <a:srgbClr val="FFFFFF"/>
                </a:solidFill>
                <a:latin typeface="Calibri" pitchFamily="34" charset="0"/>
                <a:ea typeface="Calibri" pitchFamily="34" charset="-122"/>
                <a:cs typeface="Calibri" pitchFamily="34" charset="-120"/>
              </a:rPr>
              <a:t>una</a:t>
            </a:r>
            <a:r>
              <a:rPr lang="en-US" sz="1100" dirty="0">
                <a:solidFill>
                  <a:srgbClr val="FFFFFF"/>
                </a:solidFill>
                <a:latin typeface="Calibri" pitchFamily="34" charset="0"/>
                <a:ea typeface="Calibri" pitchFamily="34" charset="-122"/>
                <a:cs typeface="Calibri" pitchFamily="34" charset="-120"/>
              </a:rPr>
              <a:t>.</a:t>
            </a:r>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19. ¿Por qué en un proyecto Fabric la gobernanza del consorcio debe tratarse como un workstream completo desde el día </a:t>
            </a:r>
            <a:r>
              <a:rPr lang="en-US" sz="1100">
                <a:solidFill>
                  <a:srgbClr val="FFFFFF"/>
                </a:solidFill>
                <a:latin typeface="Calibri" pitchFamily="34" charset="0"/>
                <a:ea typeface="Calibri" pitchFamily="34" charset="-122"/>
                <a:cs typeface="Calibri" pitchFamily="34" charset="-120"/>
              </a:rPr>
              <a:t>1?</a:t>
            </a:r>
          </a:p>
          <a:p>
            <a:pPr marL="0" indent="0">
              <a:spcAft>
                <a:spcPts val="600"/>
              </a:spcAft>
              <a:buNone/>
            </a:pPr>
            <a:r>
              <a:rPr lang="en-US" sz="1100">
                <a:solidFill>
                  <a:srgbClr val="FFFFFF"/>
                </a:solidFill>
                <a:latin typeface="Calibri" pitchFamily="34" charset="0"/>
                <a:ea typeface="Calibri" pitchFamily="34" charset="-122"/>
                <a:cs typeface="Calibri" pitchFamily="34" charset="-120"/>
              </a:rPr>
              <a:t>20</a:t>
            </a:r>
            <a:r>
              <a:rPr lang="en-US" sz="1100" dirty="0">
                <a:solidFill>
                  <a:srgbClr val="FFFFFF"/>
                </a:solidFill>
                <a:latin typeface="Calibri" pitchFamily="34" charset="0"/>
                <a:ea typeface="Calibri" pitchFamily="34" charset="-122"/>
                <a:cs typeface="Calibri" pitchFamily="34" charset="-120"/>
              </a:rPr>
              <a:t>. ¿Cuál es el error típico al diseñar un MVP blockchain y cuál es el enfoque correcto, ilustrado con un ejemplo del proyecto FidelityChain?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Las 6 fases de un proyecto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curso estructura la gestión de un proyecto en seis fases secuenciales. Enuméralas en orden y explica brevemente qué se hace en cada una.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(1) IDEA — generar el concepto del proyecto, unir puntos, bajar a tierra. (2) ANÁLISIS — entender requerimientos, stakeholders, tecnología necesaria. (3) PLANIFICACIÓN — estructurar workstreams, milestones, cronograma, presupuesto, riesgos. (4) EJECUCIÓN — desarrollar, seguir KPIs, coordinar, decidir continuar o pivotar. (5) ENTREGA — pruebas de aceptación, formación, evaluación de satisfacción. (6) MANTENIMIENTO — soporte, evolución, ajustes. La trampa frecuente es saltarse las dos primeras y empezar por la planificación o directamente por el código.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 / 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2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Brainstorming — regla de oro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¿Cuál es la regla clave que distingue un brainstorming bien hecho de una reunión cualquiera con ideas?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NO se juzga ninguna idea durante la sesión. Brainstorming busca cantidad, no calidad: cuantas más ideas, mejor, y se fomenta construir sobre las ideas de los demás. El filtrado y la crítica vienen DESPUÉS, en una sesión distinta. Si juzgas a la vez que generas, la gente se autocensura y solo aparecen las ideas "seguras" — que casi siempre son las que ya conocíais. Aplicación práctica: "¿Cómo podríamos mejorar la experiencia del cliente en una tienda física?" — primero todo vale, incluso lo absurdo.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2 / 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3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SCAMPER</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es SCAMPER y para qué tipo de problema se usa? Enumera las siete operaciones que codifica el acrónimo.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Es una técnica de creatividad para MEJORAR O TRANSFORMAR un producto o idea YA EXISTENTE (no para crear desde cero). Las siete operaciones: Sustituir, Combinar, Adaptar, Modificar, Proponer otros usos, Eliminar, Reordenar. Aplicado a una botella de agua, por ejemplo, te obliga a preguntar: ¿qué pasa si sustituyo el plástico? ¿si la combino con un filtro? ¿si la adapto para hacer deporte? ¿si elimino la tapa? Es muy útil cuando partes de algo que funciona pero quieres encontrar variantes con valor diferenciado.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3 / 20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4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Design Thinking — las cinco fases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Design Thinking tiene cinco fases bien definidas. Enuméralas en orden y explica qué se hace en la fase "empatizar", que suele ser la más mal entendida.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Fases: Empatizar → Definir → Idear → Prototipar → Testear. EMPATIZAR no es "pensar en lo que querría el usuario": es OBSERVARLO en su contexto real, entrevistarlo, vivir su problema. El producto que diseñas DESPUÉS depende de lo bien que hayas escuchado ANTES. El error típico es saltarse esta fase porque "ya conocemos al usuario" y luego construir algo que nadie usa. Es un enfoque iterativo, colaborativo y centrado en personas, no en tecnologías. Ejemplo: rediseñar una silla para personas mayores — primero entrevistas y observación, luego ideas y bocetos, luego prototipos y pruebas con usuarios reales.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4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5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Requisitos funcionales vs no funcionales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Diferencia entre requisitos funcionales y no funcionales, con un ejemplo de cada uno aplicado a una plataforma de fidelización tipo FidelityChain.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Los FUNCIONALES son LO QUE el sistema debe hacer (funciones, procesos): "el cliente puede canjear puntos por productos", "el partner emite puntos al cliente tras una compra". Los NO FUNCIONALES son CÓMO debe comportarse: rendimiento, seguridad, escalabilidad, usabilidad, disponibilidad. Ejemplo no funcional en FidelityChain: "el sistema soporta 100 transacciones por segundo", "el portal funciona en móvil sin app dedicada", "los datos personales cumplen GDPR". El error frecuente: documentar solo los funcionales y descubrir tarde que el sistema no aguanta carga o no es usable. Los no funcionales son los que matan los proyectos en producción.</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5 / 20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6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MoSCoW</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es MoSCoW y por qué se usa al priorizar requisitos? ¿Qué significa cada letra?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Es una técnica de priorización que clasifica cada requisito en una de cuatro categorías: MUST have (imprescindible, sin esto no hay producto), SHOULD have (importante pero no bloqueante), COULD have (deseable si sobra tiempo) y WON'T have (explícitamente fuera del alcance esta vez, ojo: "by the moment", puede entrar en una iteración futura). Se usa porque obliga al equipo y al cliente a negociar prioridades reales en vez de pedir "todo es crítico". El MVP normalmente coincide con los Must have. Eso desmonta el clásico "todo es prioridad 1" del cliente y permite entregar algo a tiempo.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6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7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Kano vs MoSCoW</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¿En qué se diferencia el modelo Kano de MoSCoW y para qué sirve realmente?</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MoSCoW prioriza requisitos por importancia (must/should/could/won't). Kano clasifica las funcionalidades por CÓMO LE HARÁN SENTIR AL USUARIO: básicas (las espera, si no están se enfada), deseadas (cuanto más mejor), atractivas (lo sorprenden y enamoran), indiferentes (no le importa) y reversas (cuanto más, peor). Mientras MoSCoW responde a "¿qué entrego primero?", Kano responde a "¿qué genera valor real al usuario?". Lo ideal es combinarlos: con Kano identificas dónde está el wow factor y con MoSCoW lo programas. Una funcionalidad básica ausente hunde el producto; una atractiva crea fans.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7 /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8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Matriz de stakeholders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¿Para qué sirve la matriz de stakeholders poder vs interés y por qué un stakeholder "silencioso" puede ser más peligroso que uno "ruidoso"?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Sirve para clasificar a los interesados en cuatro cuadrantes según su poder (capacidad de influir en el proyecto) y su interés (motivación por seguirlo): a alto poder + alto interés se les GESTIONA DE CERCA; alto poder + bajo interés se les MANTIENE SATISFECHOS; bajo poder + alto interés se les INFORMA; bajo poder + bajo interés se les MONITORIZA. Un stakeholder silencioso con alto poder es peligroso porque no recibes señales tempranas de que algo no le encaja, y cuando habla suele hacerlo en el momento crítico (un comité de aprobación, un veto en producción). "Ignorar a un stakeholder clave es como dejar una bomba sin desactivar en tu proyecto."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8 / 20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9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Anti-pattern technology-driven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significa que un proyecto sea "technology-driven" y por qué es un anti-pattern?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Es el proyecto que empieza decidiendo la tecnología ("quiero usar IA / blockchain / Kubernetes") y DESPUÉS busca el problema que justifique haberla elegido. Es un anti-pattern porque inviertes el orden lógico: la tecnología debe ser consecuencia del problema, no causa. Síntomas claros: "No necesitas blockchain para hacer una lista de tareas", "quiero usar IA aunque no la necesite". Resultado típico: solución compleja, cara y frágil para un problema que se resolvía con una BD y un CRUD. La regla sana es: define el problema, evalúa varias opciones de tecnología contra requisitos y conocimiento del equipo, y elige la más simple que cumpla.</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9 /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10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Agile vs Waterfall: cuándo cada uno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criterio guía la elección entre Waterfall y Agile, y cuándo tiene sentido cada uno?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El criterio principal es el NIVEL DE INCERTIDUMBRE del proyecto: alta incertidumbre (mercado nuevo, tecnología nueva, requisitos cambiantes) → Ágil; baja incertidumbre (proyecto bien definido, alcance estable, normativa estricta) → Predictiva/Waterfall; mixta → Híbrida. Waterfall encaja en gran empresa, administración pública, o proyectos sencillos con poca flexibilidad necesaria. Ágil encaja cuando hay que adaptar planificación, entregar pronto y mejorar continuamente. Y como dice la slide: "la metodología no es el objetivo, es el vehículo" — no te cases con una etiqueta, adapta.</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10 /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11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Lean — principios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busca Lean como metodología de gestión y cuáles son sus principios clave?</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Lean busca OPTIMIZAR procesos reduciendo inversión, tiempo y esfuerzo. Sus principios: (1) identificar el VALOR desde la perspectiva del cliente; (2) mapear el flujo de trabajo end-to-end; (3) mantener un flujo continuo sin cuellos de botella; (4) PULL: solo se inician tareas cuando hay demanda real, no se acumula trabajo en curso; (5) búsqueda permanente de mejora continua (kaizen). Es complementario a Agile más que excluyente. Lean es especialmente útil para detectar desperdicio (waste): reuniones inútiles, tareas duplicadas, esperas, retrabajo, sobreingeniería.</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11 / 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12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Definition of Done</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es la Definition of Done (DoD) y por qué un equipo no debe arrancar sin tenerla acordada?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Es un acuerdo del equipo sobre qué significa que una historia o tarea está REALMENTE terminada. Ejemplo de DoD: código escrito y revisado (code review aprobado), tests unitarios pasando, tests de integración pasando, documentación actualizada si aplica, desplegado en entorno de test, QA ha validado los criterios de aceptación, sin bugs críticos abiertos. Sin DoD cada persona tiene un criterio distinto: para uno "hecho" es "compila", para otro "está en preproducción con tests". Resultado: discusiones eternas en cada review y bugs descubiertos tarde. La DoD se acuerda al inicio y se respeta para todas las historias.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12 /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13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DoD vs Criterios de aceptación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Una historia tiene criterios de aceptación y debe cumplir la Definition of Done. ¿Cuál es la diferencia y cómo se relacionan?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Son cosas DIFERENTES y COMPLEMENTARIAS. Los criterios de ACEPTACIÓN son específicos de cada historia: "como usuario, puedo canjear puntos y mi saldo se reduce correctamente". La Definition of Done es común a TODAS las historias del equipo: "el código tiene tests, está revisado y desplegado en test". Una historia está terminada cuando: (1) cumple SUS criterios de aceptación específicos, Y (2) cumple ADEMÁS la DoD general del equipo. Si solo cumple lo primero, funciona pero no está bien probada; si solo cumple lo segundo, está bien hecha pero no resuelve lo que pedía el cliente.</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13 /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14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Roles ágiles — PO vs Scrum Master</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¿Cuál es la diferencia esencial entre Product Owner y Scrum Master, y por qué confundirlos arruina el equipo?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El PRODUCT OWNER representa al negocio: prioriza el backlog, decide QUÉ se construye y en qué orden. Es la voz del cliente dentro del equipo, NO es el jefe del equipo. El SCRUM MASTER facilita el proceso: elimina impedimentos, facilita las ceremonias, protege al equipo del ruido externo. NO es un gestor de proyecto tradicional, no asigna tareas. Si confundes los roles aparecen los antipatrones clásicos: el PO que no está disponible (el equipo decide sin él y rehace cosas), el Scrum Master que es jefe encubierto (asigna y controla en vez de facilitar), o ambos roles fundidos en una sola persona que no puede hacer ni una cosa bien.</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14 /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15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MVP — qué es y qué NO es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es exactamente un MVP y cuál es la confusión más común a la hora de definirlo?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MVP (Minimum Viable Product) es la versión MÁS PEQUEÑA del producto que aporta VALOR REAL al usuario. La confusión típica es pensar que es "un prototipo a medias" o "una demo cualquiera": NO. Un MVP es funcional, solo que con alcance reducido — el usuario lo puede usar y obtener un beneficio real, aunque le falten funcionalidades. El objetivo es validar hipótesis con USUARIOS REALES lo antes posible. Si esperas a tener el producto completo para validar, llegas tarde. "Mínimo" no significa cutre, significa enfocado. Mejor entregar tres funciones que funcionan a la perfección que diez a medias.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15 / 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16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Cómo definir el MVP con MoSCoW</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Aplicando MoSCoW a FidelityChain, ¿qué entraría en el MVP (Must have) y qué se aplazaría?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MUST have (= MVP): registrar cliente, emitir puntos, canjear puntos, consultar saldo. Es lo mínimo para que un cliente real pueda usar la plataforma. SHOULD have (siguiente iteración): historial de transacciones, información del token, catálogo de productos canjeables. COULD have (si sobra tiempo): eventos en tiempo real, web UI completa, soporte para múltiples partners simultáneos. WON'T have v1: caducidad de puntos, transferencia de puntos entre clientes, integración con sistemas legacy del partner. Procedimiento: listar TODAS las funcionalidades deseables, clasificarlas, entregar solo Must, ponerlo delante del usuario y dejar que el feedback decida qué Should pasa a Must en la próxima iteración.</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16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17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Riesgo: probabilidad x impacto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¿Cómo se mide un riesgo y por qué la fórmula Probabilidad × Impacto es más útil que mirar uno solo de los dos factores?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Un riesgo es un evento incierto que, si ocurre, impacta en el proyecto. Tiene dos dimensiones: PROBABILIDAD (qué tan probable es que ocurra: alta/media/baja) e IMPACTO (cómo de grave sería: crítico/alto/medio/bajo). La fórmula Riesgo = Probabilidad × Impacto te obliga a no obsesionarte con escenarios catastróficos pero improbables (terremoto que destruye el datacenter) ni a despreciar problemas pequeños que pasarán seguro y al final suman mucho. Un riesgo de probabilidad baja y impacto crítico (fallo de seguridad) merece más atención que uno de probabilidad alta e impacto bajo (alguien se despista en una reunión). Multiplicar te da una prioridad real.</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17 /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18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Plan de respuesta a riesgos — 4 estrategias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Para cada riesgo identificado hay que elegir una estrategia de respuesta. Enumera las cuatro y pon un ejemplo de cada una.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(1) EVITAR — eliminar la causa del riesgo cambiando el enfoque o reduciendo alcance ("no integremos con ese sistema legacy, lo replicamos en el MVP"). (2) MITIGAR — reducir probabilidad o impacto sin eliminarlo (PoC temprana de la tecnología, tests automáticos, pair programming para que no haya un único experto). (3) TRANSFERIR — pasar el riesgo a otro (contratar un seguro, subcontratar la parte crítica con SLA, externalizar la operación). (4) ACEPTAR — asumir que puede pasar y tener un plan B preparado (no podemos evitar que el cliente cambie de opinión, pero podemos trabajar con MVP e iteraciones cortas). Y los riesgos se revisan periódicamente — no es un ejercicio único de inicio de proyecto.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18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19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Gobernanza como workstream en blockchain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¿Por qué en un proyecto Fabric la gobernanza del consorcio debe tratarse como un workstream completo desde el día 1?</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Porque las decisiones de gobernanza no son detalles técnicos sino estructurales y, si no las resuelves antes de escribir código, el proyecto fracasará — TradeLens y B3i lo demostraron. Cuestiones que hay que cerrar antes de tocar el peer: quién puede proponer cambios al chaincode, cómo se aprueba un nuevo chaincode o una actualización (lifecycle), quién paga la infraestructura (orderers, CAs), cómo se incorpora una nueva organización al consorcio, qué pasa si una org quiere salir, quién accede a qué datos (canales, Private Data). Es un proyecto POLÍTICO además de técnico: hay múltiples orgs que son simultáneamente clientes y participantes, cada una con sus intereses. La parte política suele ser más difícil que la técnica.</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19 / 20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20 / 20</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MVP en blockchain — la regla del 2-3</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¿Cuál es el error típico al diseñar un MVP blockchain y cuál es el enfoque correcto, ilustrado con un ejemplo del proyecto FidelityChain?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El error típico es intentar montar un consorcio de 20 orgs desde el día 1: coordinar 20 actores antes de tener nada en funcionamiento es agotador y casi nadie ve valor. El enfoque correcto es empezar con 2-3 orgs, 1 canal y 1 chaincode sencillo. FASE 1 (MVP): 2 orgs (Hotel + Cafetería) con un caso de uso básico — un programa de puntos de fidelización entre ellos. Objetivo: demostrar que funciona y que aporta valor real. FASE 2: añadir 1-2 orgs más (un restaurante, una tienda), ampliar funcionalidades probadas. FASE 3: escalar a producción, governance formal, SLAs — pero solo si las dos fases anteriores demostraron valor. Cada org añadida cuesta más que la anterior; añadirlas en orden inverso al valor que aportan es suicida.</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20 / 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3647</Words>
  <Application>Microsoft Office PowerPoint</Application>
  <PresentationFormat>Panorámica</PresentationFormat>
  <Paragraphs>186</Paragraphs>
  <Slides>22</Slides>
  <Notes>22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22</vt:i4>
      </vt:variant>
    </vt:vector>
  </HeadingPairs>
  <TitlesOfParts>
    <vt:vector size="2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Repaso del día 4 (Módulo 3)</dc:title>
  <dc:subject>PptxGenJS Presentation</dc:subject>
  <dc:creator>PptxGenJS</dc:creator>
  <cp:lastModifiedBy>Javier Nieto</cp:lastModifiedBy>
  <cp:revision>2</cp:revision>
  <dcterms:created xsi:type="dcterms:W3CDTF">2026-06-04T18:35:16Z</dcterms:created>
  <dcterms:modified xsi:type="dcterms:W3CDTF">2026-06-04T18:42:13Z</dcterms:modified>
</cp:coreProperties>
</file>