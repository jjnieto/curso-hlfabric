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138" y="5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504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22627E"/>
          </a:solidFill>
          <a:ln w="12700">
            <a:solidFill>
              <a:srgbClr val="22627E"/>
            </a:solidFill>
            <a:prstDash val="solid"/>
          </a:ln>
        </p:spPr>
      </p:sp>
      <p:sp>
        <p:nvSpPr>
          <p:cNvPr id="3" name="Shape 1"/>
          <p:cNvSpPr/>
          <p:nvPr/>
        </p:nvSpPr>
        <p:spPr>
          <a:xfrm>
            <a:off x="0" y="6720840"/>
            <a:ext cx="12191695" cy="137160"/>
          </a:xfrm>
          <a:prstGeom prst="rect">
            <a:avLst/>
          </a:prstGeom>
          <a:solidFill>
            <a:srgbClr val="22627E"/>
          </a:solidFill>
          <a:ln w="12700">
            <a:solidFill>
              <a:srgbClr val="22627E"/>
            </a:solidFill>
            <a:prstDash val="solid"/>
          </a:ln>
        </p:spPr>
      </p:sp>
      <p:sp>
        <p:nvSpPr>
          <p:cNvPr id="4" name="Text 2"/>
          <p:cNvSpPr/>
          <p:nvPr/>
        </p:nvSpPr>
        <p:spPr>
          <a:xfrm>
            <a:off x="457200" y="365760"/>
            <a:ext cx="10972800" cy="457200"/>
          </a:xfrm>
          <a:prstGeom prst="rect">
            <a:avLst/>
          </a:prstGeom>
          <a:noFill/>
          <a:ln/>
        </p:spPr>
        <p:txBody>
          <a:bodyPr wrap="square" rtlCol="0" anchor="ctr"/>
          <a:lstStyle/>
          <a:p>
            <a:pPr marL="0" indent="0">
              <a:buNone/>
            </a:pPr>
            <a:r>
              <a:rPr lang="en-US" sz="1600" b="1" dirty="0">
                <a:solidFill>
                  <a:srgbClr val="22627E"/>
                </a:solidFill>
                <a:latin typeface="Calibri" pitchFamily="34" charset="0"/>
                <a:ea typeface="Calibri" pitchFamily="34" charset="-122"/>
                <a:cs typeface="Calibri" pitchFamily="34" charset="-120"/>
              </a:rPr>
              <a:t>Modulo 3: Vision Empresarial</a:t>
            </a:r>
            <a:endParaRPr lang="en-US" sz="1600" dirty="0"/>
          </a:p>
        </p:txBody>
      </p:sp>
      <p:sp>
        <p:nvSpPr>
          <p:cNvPr id="5" name="Text 3"/>
          <p:cNvSpPr/>
          <p:nvPr/>
        </p:nvSpPr>
        <p:spPr>
          <a:xfrm>
            <a:off x="457200" y="1828800"/>
            <a:ext cx="10972800" cy="2286000"/>
          </a:xfrm>
          <a:prstGeom prst="rect">
            <a:avLst/>
          </a:prstGeom>
          <a:noFill/>
          <a:ln/>
        </p:spPr>
        <p:txBody>
          <a:bodyPr wrap="square" rtlCol="0" anchor="ctr"/>
          <a:lstStyle/>
          <a:p>
            <a:pPr marL="0" indent="0">
              <a:buNone/>
            </a:pPr>
            <a:r>
              <a:rPr lang="en-US" sz="5400" b="1" dirty="0">
                <a:solidFill>
                  <a:srgbClr val="22627E"/>
                </a:solidFill>
                <a:latin typeface="Calibri" pitchFamily="34" charset="0"/>
                <a:ea typeface="Calibri" pitchFamily="34" charset="-122"/>
                <a:cs typeface="Calibri" pitchFamily="34" charset="-120"/>
              </a:rPr>
              <a:t>Repaso del día 1</a:t>
            </a:r>
            <a:endParaRPr lang="en-US" sz="5400" dirty="0"/>
          </a:p>
        </p:txBody>
      </p:sp>
      <p:sp>
        <p:nvSpPr>
          <p:cNvPr id="6" name="Text 4"/>
          <p:cNvSpPr/>
          <p:nvPr/>
        </p:nvSpPr>
        <p:spPr>
          <a:xfrm>
            <a:off x="457200" y="4114800"/>
            <a:ext cx="10972800" cy="1645920"/>
          </a:xfrm>
          <a:prstGeom prst="rect">
            <a:avLst/>
          </a:prstGeom>
          <a:noFill/>
          <a:ln/>
        </p:spPr>
        <p:txBody>
          <a:bodyPr wrap="square" rtlCol="0" anchor="ctr"/>
          <a:lstStyle/>
          <a:p>
            <a:pPr marL="0" indent="0">
              <a:buNone/>
            </a:pPr>
            <a:r>
              <a:rPr lang="en-US" sz="2200" dirty="0">
                <a:solidFill>
                  <a:srgbClr val="333333"/>
                </a:solidFill>
                <a:latin typeface="Calibri" pitchFamily="34" charset="0"/>
                <a:ea typeface="Calibri" pitchFamily="34" charset="-122"/>
                <a:cs typeface="Calibri" pitchFamily="34" charset="-120"/>
              </a:rPr>
              <a:t>16 preguntas sobre casos reales de blockchain — éxitos, fracasos y las 5 barreras (gobernanza, incentivos, regulación, UX y genesis)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2627E"/>
        </a:solidFill>
        <a:effectLst/>
      </p:bgPr>
    </p:bg>
    <p:spTree>
      <p:nvGrpSpPr>
        <p:cNvPr id="1" name=""/>
        <p:cNvGrpSpPr/>
        <p:nvPr/>
      </p:nvGrpSpPr>
      <p:grpSpPr>
        <a:xfrm>
          <a:off x="0" y="0"/>
          <a:ext cx="0" cy="0"/>
          <a:chOff x="0" y="0"/>
          <a:chExt cx="0" cy="0"/>
        </a:xfrm>
      </p:grpSpPr>
      <p:sp>
        <p:nvSpPr>
          <p:cNvPr id="2" name="Text 0"/>
          <p:cNvSpPr/>
          <p:nvPr/>
        </p:nvSpPr>
        <p:spPr>
          <a:xfrm>
            <a:off x="457200" y="228600"/>
            <a:ext cx="10972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Las 16 preguntas — Repaso día 1 (Módulo 3)</a:t>
            </a:r>
            <a:endParaRPr lang="en-US" sz="2800" dirty="0"/>
          </a:p>
        </p:txBody>
      </p:sp>
      <p:sp>
        <p:nvSpPr>
          <p:cNvPr id="3" name="Shape 1"/>
          <p:cNvSpPr/>
          <p:nvPr/>
        </p:nvSpPr>
        <p:spPr>
          <a:xfrm>
            <a:off x="457200" y="868680"/>
            <a:ext cx="10972800" cy="27432"/>
          </a:xfrm>
          <a:prstGeom prst="rect">
            <a:avLst/>
          </a:prstGeom>
          <a:solidFill>
            <a:srgbClr val="FFFFFF"/>
          </a:solidFill>
          <a:ln w="12700">
            <a:solidFill>
              <a:srgbClr val="FFFFFF"/>
            </a:solidFill>
            <a:prstDash val="solid"/>
          </a:ln>
        </p:spPr>
      </p:sp>
      <p:sp>
        <p:nvSpPr>
          <p:cNvPr id="4" name="Text 2"/>
          <p:cNvSpPr/>
          <p:nvPr/>
        </p:nvSpPr>
        <p:spPr>
          <a:xfrm>
            <a:off x="457200" y="1051560"/>
            <a:ext cx="5760720" cy="5303520"/>
          </a:xfrm>
          <a:prstGeom prst="rect">
            <a:avLst/>
          </a:prstGeom>
          <a:noFill/>
          <a:ln/>
        </p:spPr>
        <p:txBody>
          <a:bodyPr wrap="square" rtlCol="0" anchor="t"/>
          <a:lstStyle/>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Blockchain prometía revolucionar trazabilidad, registros, pagos, votación… pero en 2024-2026 la mayoría de pilotos fuera de cripto/DeFi no llegaron a producción. ¿Qué ha fallado: la tecnología o algo </a:t>
            </a:r>
            <a:r>
              <a:rPr lang="en-US" sz="1200" dirty="0" err="1">
                <a:solidFill>
                  <a:srgbClr val="FFFFFF"/>
                </a:solidFill>
                <a:latin typeface="Calibri" pitchFamily="34" charset="0"/>
                <a:ea typeface="Calibri" pitchFamily="34" charset="-122"/>
                <a:cs typeface="Calibri" pitchFamily="34" charset="-120"/>
              </a:rPr>
              <a:t>más</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err="1">
                <a:solidFill>
                  <a:srgbClr val="FFFFFF"/>
                </a:solidFill>
                <a:latin typeface="Calibri" pitchFamily="34" charset="0"/>
                <a:ea typeface="Calibri" pitchFamily="34" charset="-122"/>
                <a:cs typeface="Calibri" pitchFamily="34" charset="-120"/>
              </a:rPr>
              <a:t>TradeLens</a:t>
            </a:r>
            <a:r>
              <a:rPr lang="en-US" sz="1200" dirty="0">
                <a:solidFill>
                  <a:srgbClr val="FFFFFF"/>
                </a:solidFill>
                <a:latin typeface="Calibri" pitchFamily="34" charset="0"/>
                <a:ea typeface="Calibri" pitchFamily="34" charset="-122"/>
                <a:cs typeface="Calibri" pitchFamily="34" charset="-120"/>
              </a:rPr>
              <a:t> conectó a más de 150 organizaciones y cerró en noviembre de 2022 a pesar de IBM y Maersk detrás. ¿Por qué falló si la tecnología </a:t>
            </a:r>
            <a:r>
              <a:rPr lang="en-US" sz="1200" dirty="0" err="1">
                <a:solidFill>
                  <a:srgbClr val="FFFFFF"/>
                </a:solidFill>
                <a:latin typeface="Calibri" pitchFamily="34" charset="0"/>
                <a:ea typeface="Calibri" pitchFamily="34" charset="-122"/>
                <a:cs typeface="Calibri" pitchFamily="34" charset="-120"/>
              </a:rPr>
              <a:t>funcionaba</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B3i agrupaba Allianz, Swiss Re, Zurich, Munich Re y más de 15 aseguradoras. Cerró en julio de 2022 tras declararse insolvente. ¿La tecnología no </a:t>
            </a:r>
            <a:r>
              <a:rPr lang="en-US" sz="1200" dirty="0" err="1">
                <a:solidFill>
                  <a:srgbClr val="FFFFFF"/>
                </a:solidFill>
                <a:latin typeface="Calibri" pitchFamily="34" charset="0"/>
                <a:ea typeface="Calibri" pitchFamily="34" charset="-122"/>
                <a:cs typeface="Calibri" pitchFamily="34" charset="-120"/>
              </a:rPr>
              <a:t>funcionaba</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err="1">
                <a:solidFill>
                  <a:srgbClr val="FFFFFF"/>
                </a:solidFill>
                <a:latin typeface="Calibri" pitchFamily="34" charset="0"/>
                <a:ea typeface="Calibri" pitchFamily="34" charset="-122"/>
                <a:cs typeface="Calibri" pitchFamily="34" charset="-120"/>
              </a:rPr>
              <a:t>MedRec</a:t>
            </a:r>
            <a:r>
              <a:rPr lang="en-US" sz="1200" dirty="0">
                <a:solidFill>
                  <a:srgbClr val="FFFFFF"/>
                </a:solidFill>
                <a:latin typeface="Calibri" pitchFamily="34" charset="0"/>
                <a:ea typeface="Calibri" pitchFamily="34" charset="-122"/>
                <a:cs typeface="Calibri" pitchFamily="34" charset="-120"/>
              </a:rPr>
              <a:t> proponía que el paciente controlara quién accede a sus datos médicos. Nunca pasó de investigación académica. ¿Por </a:t>
            </a:r>
            <a:r>
              <a:rPr lang="en-US" sz="1200" dirty="0" err="1">
                <a:solidFill>
                  <a:srgbClr val="FFFFFF"/>
                </a:solidFill>
                <a:latin typeface="Calibri" pitchFamily="34" charset="0"/>
                <a:ea typeface="Calibri" pitchFamily="34" charset="-122"/>
                <a:cs typeface="Calibri" pitchFamily="34" charset="-120"/>
              </a:rPr>
              <a:t>qué</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err="1">
                <a:solidFill>
                  <a:srgbClr val="FFFFFF"/>
                </a:solidFill>
                <a:latin typeface="Calibri" pitchFamily="34" charset="0"/>
                <a:ea typeface="Calibri" pitchFamily="34" charset="-122"/>
                <a:cs typeface="Calibri" pitchFamily="34" charset="-120"/>
              </a:rPr>
              <a:t>Voatz</a:t>
            </a:r>
            <a:r>
              <a:rPr lang="en-US" sz="1200" dirty="0">
                <a:solidFill>
                  <a:srgbClr val="FFFFFF"/>
                </a:solidFill>
                <a:latin typeface="Calibri" pitchFamily="34" charset="0"/>
                <a:ea typeface="Calibri" pitchFamily="34" charset="-122"/>
                <a:cs typeface="Calibri" pitchFamily="34" charset="-120"/>
              </a:rPr>
              <a:t> se usó en elecciones locales reales en West Virginia en 2018. Una auditoría del MIT encontró vulnerabilidades graves. Pero hay un problema más profundo: ¿qué NO resuelve blockchain en la votación </a:t>
            </a:r>
            <a:r>
              <a:rPr lang="en-US" sz="1200" dirty="0" err="1">
                <a:solidFill>
                  <a:srgbClr val="FFFFFF"/>
                </a:solidFill>
                <a:latin typeface="Calibri" pitchFamily="34" charset="0"/>
                <a:ea typeface="Calibri" pitchFamily="34" charset="-122"/>
                <a:cs typeface="Calibri" pitchFamily="34" charset="-120"/>
              </a:rPr>
              <a:t>electrónica</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Tracr quería garantizar que un diamante no fuera 'de sangre' trazándolo desde la mina al consumidor. La tecnología funciona, pero la adopción es muy limitada. ¿Cuál es el problema fundamental?</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El proyecto pretendía usar blockchain para combatir el fraude endémico en registros de propiedad. Fue abandonado en fase inicial. ¿Por qué la tecnología no sirvió para combatir la </a:t>
            </a:r>
            <a:r>
              <a:rPr lang="en-US" sz="1200" dirty="0" err="1">
                <a:solidFill>
                  <a:srgbClr val="FFFFFF"/>
                </a:solidFill>
                <a:latin typeface="Calibri" pitchFamily="34" charset="0"/>
                <a:ea typeface="Calibri" pitchFamily="34" charset="-122"/>
                <a:cs typeface="Calibri" pitchFamily="34" charset="-120"/>
              </a:rPr>
              <a:t>corrupción</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El patrón se repite en TradeLens (Maersk) y en De Beers Tracr. ¿Por qué este patrón hunde proyectos blockchain multi-org? ¿Cómo se evita?</a:t>
            </a:r>
            <a:endParaRPr lang="en-US" sz="1200" dirty="0"/>
          </a:p>
        </p:txBody>
      </p:sp>
      <p:sp>
        <p:nvSpPr>
          <p:cNvPr id="5" name="Text 3"/>
          <p:cNvSpPr/>
          <p:nvPr/>
        </p:nvSpPr>
        <p:spPr>
          <a:xfrm>
            <a:off x="6355080" y="1051560"/>
            <a:ext cx="5760720" cy="5303520"/>
          </a:xfrm>
          <a:prstGeom prst="rect">
            <a:avLst/>
          </a:prstGeom>
          <a:noFill/>
          <a:ln/>
        </p:spPr>
        <p:txBody>
          <a:bodyPr wrap="square" rtlCol="0" anchor="t"/>
          <a:lstStyle/>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9. Da una regla práctica y cuatro escenarios donde aplicar blockchain es probablemente un error.</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10. Blockchain promete inmutabilidad y trazabilidad. Pero, según los casos vistos, ¿qué NO garantiza? Explica el concepto del 'problema del genesis’.</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11. Las 5 barreras (gobernanza, incentivos, regulación, UX, genesis). De estas, ¿cuál resuelve Fabric con respecto a la GOBERNANZA?</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12. ¿Resuelve Fabric el problema de los INCENTIVOS (que cada actor encuentre razones para unirse y </a:t>
            </a:r>
            <a:r>
              <a:rPr lang="en-US" sz="1200" dirty="0" err="1">
                <a:solidFill>
                  <a:srgbClr val="FFFFFF"/>
                </a:solidFill>
                <a:latin typeface="Calibri" pitchFamily="34" charset="0"/>
                <a:ea typeface="Calibri" pitchFamily="34" charset="-122"/>
                <a:cs typeface="Calibri" pitchFamily="34" charset="-120"/>
              </a:rPr>
              <a:t>mantenerse</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13. GDPR consagra el derecho al olvido. Blockchain promete inmutabilidad. ¿Cómo se reconcilia en Fabric? ¿Resuelve el problema </a:t>
            </a:r>
            <a:r>
              <a:rPr lang="en-US" sz="1200" dirty="0" err="1">
                <a:solidFill>
                  <a:srgbClr val="FFFFFF"/>
                </a:solidFill>
                <a:latin typeface="Calibri" pitchFamily="34" charset="0"/>
                <a:ea typeface="Calibri" pitchFamily="34" charset="-122"/>
                <a:cs typeface="Calibri" pitchFamily="34" charset="-120"/>
              </a:rPr>
              <a:t>regulatorio</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14. ¿Resuelve Fabric el problema de la UX (que en MedRec mató al </a:t>
            </a:r>
            <a:r>
              <a:rPr lang="en-US" sz="1200" dirty="0" err="1">
                <a:solidFill>
                  <a:srgbClr val="FFFFFF"/>
                </a:solidFill>
                <a:latin typeface="Calibri" pitchFamily="34" charset="0"/>
                <a:ea typeface="Calibri" pitchFamily="34" charset="-122"/>
                <a:cs typeface="Calibri" pitchFamily="34" charset="-120"/>
              </a:rPr>
              <a:t>proyecto</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15. ¿Cambia algo Fabric con respecto al problema del 'garbage in, garbage out’?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16. Conociendo estos seis fracasos, ¿qué argumentos darías a tu jefe para convencerle de usar blockchain sin caer en las mismas trampas?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La promesa vs la realidad</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Blockchain prometía revolucionar trazabilidad, registros, pagos, votación… pero en 2024-2026 la mayoría de pilotos fuera de cripto/DeFi no llegaron a producción. ¿Qué ha fallado: la tecnología o algo más?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No es la tecnología. Lo que falla son los INCENTIVOS (quién paga, quién gana algo por participar), la REGULACIÓN (no preparada para registros inmutables descentralizados) y la UX (si el usuario tiene que entender blockchain, ya has perdido). La tecnología funciona desde hace años; alinear personas, negocio y leyes es lo difícil. Ninguno de los seis casos famosos de fracaso fue por motivos técnicos.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2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TradeLens (Maersk + IBM)</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TradeLens conectó a más de 150 organizaciones y cerró en noviembre de 2022 a pesar de IBM y Maersk detrás. ¿Por qué falló si la tecnología funcionaba?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Por el problema del FUNDADOR DOMINANTE. Las navieras competidoras (MSC, CMA CGM y otras) no querían unirse a una plataforma controlada por su rival directo Maersk: significaba darle sus datos comerciales. Sin las grandes navieras, no se alcanzó masa crítica y la red dejó de tener utilidad real. Una red multi-org sin gobernanza neutral está condenada — la propuesta de valor nunca compensa el coste de ceder soberanía al competidor.</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2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3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B3i (reaseguros)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B3i agrupaba Allianz, Swiss Re, Zurich, Munich Re y más de 15 aseguradoras. Cerró en julio de 2022 tras declararse insolvente. ¿La tecnología no funcionaba?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Funcionaba. El problema fue el MODELO DE NEGOCIO: nadie sabía quién pagaba la plataforma a largo plazo. Las aseguradoras querían participar pero no financiar indefinidamente. Además la complejidad regulatoria (cada país con reglas distintas para reaseguros) y los sistemas legacy difíciles de integrar lastraron el proyecto. La lección clave: 'la tecnología funcionaba, el negocio no'. Sin modelo de ingresos sostenible desde el día 1, ningún consorcio sobrevive.</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3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4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MedRec (MIT, historial médico)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MedRec proponía que el paciente controlara quién accede a sus datos médicos. Nunca pasó de investigación académica. ¿Por qué?</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Por cuatro razones: (1) regulación sanitaria extremadamente estricta (HIPAA en EE.UU., GDPR en Europa); (2) los médicos no quieren aprender herramientas nuevas — la UX debe ser INVISIBLE; (3) los hospitales tienen sistemas legacy incompatibles entre sí, integrarlos es carísimo; (4) preguntas sin responder: ¿quién administra la red? ¿quién paga los nodos? ¿quién es responsable si se filtran datos? Y de fondo: ¿realmente queremos datos médicos en CUALQUIER tipo de blockchain?</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4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5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Voatz (votación electrónica)</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Voatz se usó en elecciones locales reales en West Virginia en 2018. Una auditoría del MIT encontró vulnerabilidades graves. Pero hay un problema más profundo: ¿qué NO resuelve blockchain en la votación electrónica?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No resuelve el 'ÚLTIMO METRO': cómo verificar criptográficamente que la persona física que vota es quien dice ser. Blockchain garantiza el registro inmutable y verificable del voto, pero la identidad del votante es un problema POLÍTICO, LEGAL y SOCIAL, no técnico. Además, blockchain choca con la tensión fundamental del voto: verificabilidad pública vs anonimato individual. Por si fuera poco, ambos partidos políticos desconfían del voto electrónico independientemente de la tecnología. Aquí blockchain es la parte fácil.</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5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6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De Beers Tracr (diamantes)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Tracr quería garantizar que un diamante no fuera 'de sangre' trazándolo desde la mina al consumidor. La tecnología funciona, pero la adopción es muy limitada. ¿Cuál es el problema fundamental?</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El 'GARBAGE IN, GARBAGE OUT'. Si la mina miente al registrar la procedencia del diamante, blockchain registra esa mentira de forma inmutable. Blockchain garantiza que el dato no se altera DESPUÉS de entrar, pero NO garantiza que el dato inicial sea cierto. A esto se suman barreras prácticas: las minas artesanales pequeñas no tienen infraestructura digital, los intermediarios que viven de la opacidad no quieren participar, y el consumidor final no sabe (ni le importa) verificar nada. Más el mismo problema de TradeLens: De Beers como fundador dominante.</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6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7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Registro de propiedad de Honduras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proyecto pretendía usar blockchain para combatir el fraude endémico en registros de propiedad. Fue abandonado en fase inicial. ¿Por qué la tecnología no sirvió para combatir la corrupción?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Porque los que se benefician de la corrupción CONTROLABAN la entrada al sistema. Bloquearon políticamente el proyecto desde dentro, alegaron problemas de marco legal (la ley hondureña no reconocía registros digitales como válidos), y mientras tanto seguían introduciendo datos fraudulentos en cualquier sistema disponible. Blockchain hace inmutable lo que se mete: si los corruptos meten registros falsos al inicio, blockchain protege esas falsedades igual que protegería la verdad. Lección dura: la tecnología no derrota a una resistencia institucional decidida.</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7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8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El problema del fundador dominante</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patrón se repite en TradeLens (Maersk) y en De Beers Tracr. ¿Por qué este patrón hunde proyectos blockchain multi-org? ¿Cómo se evita?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Los competidores se niegan a unirse porque tendrían que darle sus datos a su rival directo. La gobernanza percibida es: 'una empresa decide las reglas y se queda con la información'. Sin las grandes, no hay masa crítica y la red muere. Se evita con GOBERNANZA NEUTRAL: un consorcio sin dueño claro, una fundación independiente, un regulador o un organismo internacional (IMO, GIA, EIOPA…). Las reglas de entrada/salida y los costes deben ser transparentes y proporcionales. Nadie debe controlar los orderers en solitario.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8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9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Cuándo NO necesitas blockchain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Da una regla práctica y cuatro escenarios donde aplicar blockchain es probablemente un error.</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Regla: si una BBDD + APIs resuelve el problema, no necesitas blockchain. Cuatro escenarios donde sobra: (1) un solo actor gestiona todos los datos → BBDD; (2) no hay desconfianza entre las partes que comparten datos → SaaS con permisos; (3) los datos no se comparten realmente entre orgs → APIs entre sistemas; (4) hace falta rendimiento crítico (&gt;10k TPS) → BD distribuida tradicional. Aplicar blockchain a un problema interno suele ser 'tecnología buscando problema'. Y proponerlo 'porque suena bien' es el camino más corto al fracaso.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9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10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El problema del genesis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Blockchain promete inmutabilidad y trazabilidad. Pero, según los casos vistos, ¿qué NO garantiza? Explica el concepto del 'problema del genesis'.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Blockchain NO garantiza la VERACIDAD del dato cuando entra. Si introduces información falsa, el sistema la hará inmutable: tan protegida como si fuera cierta. Es el 'garbage in, garbage out' aplicado a registros públicos. La confianza no se elimina, se DESPLAZA al primer momento de la inserción: quién mete el dato, con qué controles, con qué auditoría. Por eso casos como De Beers o Honduras no se resuelven solo con tecnología — necesitan sensores IoT, identidades verificadas, auditoría externa o múltiples fuentes para garantizar que el genesis es de confianza.</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10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11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¿Fabric resuelve la gobernanza?</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Las 5 barreras (gobernanza, incentivos, regulación, UX, genesis). De estas, ¿cuál resuelve Fabric con respecto a la GOBERNANZA?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Parcialmente. Fabric da las HERRAMIENTAS: policies (MAJORITY, ALL…), MSPs por org, canales con su propia config, channel config updates firmados según reglas. Pero NO decide quién las usa ni qué reglas se acuerdan. Si en la práctica una sola org concentra todos los admins del canal, las herramientas no salvan al proyecto — sigue siendo TradeLens disfrazado. La gobernanza es un problema humano y de negocio que Fabric facilita instrumentar, pero no resuelve por sí solo.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11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12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¿Fabric resuelve los incentivos?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¿Resuelve Fabric el problema de los INCENTIVOS (que cada actor encuentre razones para unirse y mantenerse)?</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No. Los incentivos son un problema de NEGOCIO, no técnico. Fabric puede dar trazabilidad, aislamiento por canal, identidades verificadas, queries ricas — pero nada de eso te dice cuál es el modelo de ingresos del consorcio, ni por qué cada participante debería querer pagar/contribuir. B3i tenía la tecnología funcionando y aun así quebró porque no había modelo de negocio. Antes de elegir Fabric o cualquier otro, hay que tener claro quién paga, quién gana qué y por qué cada actor querría seguir en la red en el año 3.</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12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13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¿Fabric y GDPR?</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GDPR consagra el derecho al olvido. Blockchain promete inmutabilidad. ¿Cómo se reconcilia en Fabric? ¿Resuelve el problema regulatorio?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Parcialmente, con el patrón estándar: HASH ON-CHAIN, DATO OFF-CHAIN. Los datos personales viven en una BD tradicional (donde sí puedes borrarlos) y solo se registra en el ledger su hash + metadatos no sensibles. Si el ciudadano ejerce su derecho al olvido, borras el dato off-chain; el hash que queda en blockchain ya no apunta a nada útil. Funciona si lo diseñas DESDE EL PRINCIPIO. Si por descuido metes datos personales directamente en el ledger, ya no hay forma limpia de cumplir GDPR — habría que crear un canal nuevo sin esos datos y migrar.</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13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14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¿Fabric y la UX?</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¿Resuelve Fabric el problema de la UX (que en MedRec mató al proyecto)?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Sí, en gran medida. Fabric vive en el backend y se puede ocultar COMPLETAMENTE detrás de una app web/móvil tradicional. El usuario final puede usar el sistema sin saber siquiera que hay blockchain debajo: usa una web, hace clic en botones, ve resultados. Esa es la regla de oro: si el usuario final necesita entender blockchain para usar tu producto, ya perdiste. Fabric (al no exigir wallets externas como MetaMask ni gas) lo hace mucho más fácil que Ethereum en este aspecto.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14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15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¿Fabric resuelve el problema del genesis?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¿Cambia algo Fabric con respecto al problema del 'garbage in, garbage out'?</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No. Fabric protege con la misma fuerza una verdad y una mentira que se hayan registrado correctamente firmadas. Si Org1 con identidad válida introduce datos falsos, esos datos serán inmutables. La mitigación NO viene de blockchain, viene de combinar: identidades verificadas (que reducen el incentivo a mentir porque eres trazable), sensores IoT (los datos no los teclea una persona), auditoría externa periódica de los datos iniciales, y múltiples fuentes que valida cada registro. Blockchain hace inmutable lo que reciba — la calidad del genesis es responsabilidad humana.</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15 / 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16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Argumentos al jefe</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Conociendo estos seis fracasos, ¿qué argumentos darías a tu jefe para convencerle de usar blockchain sin caer en las mismas trampas?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500" dirty="0">
                <a:solidFill>
                  <a:srgbClr val="333333"/>
                </a:solidFill>
                <a:latin typeface="Calibri" pitchFamily="34" charset="0"/>
                <a:ea typeface="Calibri" pitchFamily="34" charset="-122"/>
                <a:cs typeface="Calibri" pitchFamily="34" charset="-120"/>
              </a:rPr>
              <a:t>(1) 'Empezamos con un MVP muy pequeño: 2-3 orgs, 6 meses, una sola línea de negocio.' Reduce riesgo (evita TradeLens). (2) 'No somos el fundador dominante: nos sumamos como uno más a un consorcio neutro.' Evita el problema de gobernanza. (3) 'Tenemos modelo de ingresos antes de desarrollar.' Evita el problema B3i. (4) 'La regulación está ahora mejor preparada, podemos cumplir GDPR con hash on-chain + dato off-chain.' (5) El argumento que NUNCA hay que dar: 'porque es blockchain'. Si la respuesta a 'por qué blockchain' es solo 'porque mola', el camino al fracaso está garantizado.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16 / 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2724</Words>
  <Application>Microsoft Office PowerPoint</Application>
  <PresentationFormat>Panorámica</PresentationFormat>
  <Paragraphs>150</Paragraphs>
  <Slides>18</Slides>
  <Notes>18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Repaso del día 1 (Módulo 3)</dc:title>
  <dc:subject>PptxGenJS Presentation</dc:subject>
  <dc:creator>PptxGenJS</dc:creator>
  <cp:lastModifiedBy>Javier Nieto</cp:lastModifiedBy>
  <cp:revision>2</cp:revision>
  <dcterms:created xsi:type="dcterms:W3CDTF">2026-05-29T08:46:32Z</dcterms:created>
  <dcterms:modified xsi:type="dcterms:W3CDTF">2026-05-29T08:49:42Z</dcterms:modified>
</cp:coreProperties>
</file>