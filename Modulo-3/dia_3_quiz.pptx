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22627E"/>
          </a:solidFill>
          <a:ln w="12700">
            <a:solidFill>
              <a:srgbClr val="22627E"/>
            </a:solidFill>
            <a:prstDash val="solid"/>
          </a:ln>
        </p:spPr>
      </p:sp>
      <p:sp>
        <p:nvSpPr>
          <p:cNvPr id="3" name="Shape 1"/>
          <p:cNvSpPr/>
          <p:nvPr/>
        </p:nvSpPr>
        <p:spPr>
          <a:xfrm>
            <a:off x="0" y="6720840"/>
            <a:ext cx="12191695" cy="137160"/>
          </a:xfrm>
          <a:prstGeom prst="rect">
            <a:avLst/>
          </a:prstGeom>
          <a:solidFill>
            <a:srgbClr val="22627E"/>
          </a:solidFill>
          <a:ln w="12700">
            <a:solidFill>
              <a:srgbClr val="22627E"/>
            </a:solidFill>
            <a:prstDash val="solid"/>
          </a:ln>
        </p:spPr>
      </p:sp>
      <p:sp>
        <p:nvSpPr>
          <p:cNvPr id="4" name="Text 2"/>
          <p:cNvSpPr/>
          <p:nvPr/>
        </p:nvSpPr>
        <p:spPr>
          <a:xfrm>
            <a:off x="457200" y="365760"/>
            <a:ext cx="10972800" cy="457200"/>
          </a:xfrm>
          <a:prstGeom prst="rect">
            <a:avLst/>
          </a:prstGeom>
          <a:noFill/>
          <a:ln/>
        </p:spPr>
        <p:txBody>
          <a:bodyPr wrap="square" rtlCol="0" anchor="ctr"/>
          <a:lstStyle/>
          <a:p>
            <a:pPr indent="0" marL="0">
              <a:buNone/>
            </a:pPr>
            <a:r>
              <a:rPr lang="en-US" sz="1600" b="1" dirty="0">
                <a:solidFill>
                  <a:srgbClr val="22627E"/>
                </a:solidFill>
                <a:latin typeface="Calibri" pitchFamily="34" charset="0"/>
                <a:ea typeface="Calibri" pitchFamily="34" charset="-122"/>
                <a:cs typeface="Calibri" pitchFamily="34" charset="-120"/>
              </a:rPr>
              <a:t>Modulo 3: Vision Empresarial</a:t>
            </a:r>
            <a:endParaRPr lang="en-US" sz="1600" dirty="0"/>
          </a:p>
        </p:txBody>
      </p:sp>
      <p:sp>
        <p:nvSpPr>
          <p:cNvPr id="5" name="Text 3"/>
          <p:cNvSpPr/>
          <p:nvPr/>
        </p:nvSpPr>
        <p:spPr>
          <a:xfrm>
            <a:off x="457200" y="1828800"/>
            <a:ext cx="10972800" cy="2286000"/>
          </a:xfrm>
          <a:prstGeom prst="rect">
            <a:avLst/>
          </a:prstGeom>
          <a:noFill/>
          <a:ln/>
        </p:spPr>
        <p:txBody>
          <a:bodyPr wrap="square" rtlCol="0" anchor="ctr"/>
          <a:lstStyle/>
          <a:p>
            <a:pPr indent="0" marL="0">
              <a:buNone/>
            </a:pPr>
            <a:r>
              <a:rPr lang="en-US" sz="5400" b="1" dirty="0">
                <a:solidFill>
                  <a:srgbClr val="22627E"/>
                </a:solidFill>
                <a:latin typeface="Calibri" pitchFamily="34" charset="0"/>
                <a:ea typeface="Calibri" pitchFamily="34" charset="-122"/>
                <a:cs typeface="Calibri" pitchFamily="34" charset="-120"/>
              </a:rPr>
              <a:t>Repaso del día 3</a:t>
            </a:r>
            <a:endParaRPr lang="en-US" sz="5400" dirty="0"/>
          </a:p>
        </p:txBody>
      </p:sp>
      <p:sp>
        <p:nvSpPr>
          <p:cNvPr id="6" name="Text 4"/>
          <p:cNvSpPr/>
          <p:nvPr/>
        </p:nvSpPr>
        <p:spPr>
          <a:xfrm>
            <a:off x="457200" y="4114800"/>
            <a:ext cx="10972800" cy="1645920"/>
          </a:xfrm>
          <a:prstGeom prst="rect">
            <a:avLst/>
          </a:prstGeom>
          <a:noFill/>
          <a:ln/>
        </p:spPr>
        <p:txBody>
          <a:bodyPr wrap="square" rtlCol="0" anchor="ctr"/>
          <a:lstStyle/>
          <a:p>
            <a:pPr indent="0" marL="0">
              <a:buNone/>
            </a:pPr>
            <a:r>
              <a:rPr lang="en-US" sz="2200" dirty="0">
                <a:solidFill>
                  <a:srgbClr val="333333"/>
                </a:solidFill>
                <a:latin typeface="Calibri" pitchFamily="34" charset="0"/>
                <a:ea typeface="Calibri" pitchFamily="34" charset="-122"/>
                <a:cs typeface="Calibri" pitchFamily="34" charset="-120"/>
              </a:rPr>
              <a:t>8 preguntas sobre gobernanza de consorcios, marco legal (GDPR, MiCA), smart contracts y responsabilidad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627E"/>
        </a:solidFill>
      </p:bgPr>
    </p:bg>
    <p:spTree>
      <p:nvGrpSpPr>
        <p:cNvPr id="1" name=""/>
        <p:cNvGrpSpPr/>
        <p:nvPr/>
      </p:nvGrpSpPr>
      <p:grpSpPr>
        <a:xfrm>
          <a:off x="0" y="0"/>
          <a:ext cx="0" cy="0"/>
          <a:chOff x="0" y="0"/>
          <a:chExt cx="0" cy="0"/>
        </a:xfrm>
      </p:grpSpPr>
      <p:sp>
        <p:nvSpPr>
          <p:cNvPr id="2" name="Text 0"/>
          <p:cNvSpPr/>
          <p:nvPr/>
        </p:nvSpPr>
        <p:spPr>
          <a:xfrm>
            <a:off x="457200" y="228600"/>
            <a:ext cx="109728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Las 8 preguntas — Repaso día 3 (Módulo 3)</a:t>
            </a:r>
            <a:endParaRPr lang="en-US" sz="2800" dirty="0"/>
          </a:p>
        </p:txBody>
      </p:sp>
      <p:sp>
        <p:nvSpPr>
          <p:cNvPr id="3" name="Shape 1"/>
          <p:cNvSpPr/>
          <p:nvPr/>
        </p:nvSpPr>
        <p:spPr>
          <a:xfrm>
            <a:off x="457200" y="868680"/>
            <a:ext cx="10972800" cy="27432"/>
          </a:xfrm>
          <a:prstGeom prst="rect">
            <a:avLst/>
          </a:prstGeom>
          <a:solidFill>
            <a:srgbClr val="FFFFFF"/>
          </a:solidFill>
          <a:ln w="12700">
            <a:solidFill>
              <a:srgbClr val="FFFFFF"/>
            </a:solidFill>
            <a:prstDash val="solid"/>
          </a:ln>
        </p:spPr>
      </p:sp>
      <p:sp>
        <p:nvSpPr>
          <p:cNvPr id="4" name="Text 2"/>
          <p:cNvSpPr/>
          <p:nvPr/>
        </p:nvSpPr>
        <p:spPr>
          <a:xfrm>
            <a:off x="457200" y="1051560"/>
            <a:ext cx="5760720" cy="5303520"/>
          </a:xfrm>
          <a:prstGeom prst="rect">
            <a:avLst/>
          </a:prstGeom>
          <a:noFill/>
          <a:ln/>
        </p:spPr>
        <p:txBody>
          <a:bodyPr wrap="square" rtlCol="0" anchor="t"/>
          <a:lstStyle/>
          <a:p>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1. ¿Qué es la gobernanza de un consorcio blockchain y por qué se dice que NO es un tema técnico?</a:t>
            </a:r>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2. Los tres modelos clásicos de gobernanza de consorcio son fundador dominante, democrático y federado. ¿Cuándo es razonable cada uno y cuál es el contra de cada uno?</a:t>
            </a:r>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3. Se dice que Fabric convierte la gobernanza en "código ejecutable". ¿Qué quiere decir esto y qué mecanismos lo hacen posible?</a:t>
            </a:r>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4. ¿Por qué las reglas de onboarding (entrada) y offboarding (salida) de organizaciones deben estar definidas ANTES de que nadie las necesite? ¿Qué problema concreto hay con la salida de una org?</a:t>
            </a:r>
            <a:endParaRPr lang="en-US" sz="1400" dirty="0"/>
          </a:p>
        </p:txBody>
      </p:sp>
      <p:sp>
        <p:nvSpPr>
          <p:cNvPr id="5" name="Text 3"/>
          <p:cNvSpPr/>
          <p:nvPr/>
        </p:nvSpPr>
        <p:spPr>
          <a:xfrm>
            <a:off x="6355080" y="1051560"/>
            <a:ext cx="5760720" cy="5303520"/>
          </a:xfrm>
          <a:prstGeom prst="rect">
            <a:avLst/>
          </a:prstGeom>
          <a:noFill/>
          <a:ln/>
        </p:spPr>
        <p:txBody>
          <a:bodyPr wrap="square" rtlCol="0" anchor="t"/>
          <a:lstStyle/>
          <a:p>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5. GDPR consagra el derecho al olvido. Blockchain garantiza inmutabilidad. ¿Cuál es el patrón estándar para reconciliarlos y qué pieza de Fabric ayuda específicamente?</a:t>
            </a:r>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6. Tu jefe te pregunta si un smart contract sustituye a un contrato legal tradicional. ¿Qué le contestas?</a:t>
            </a:r>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7. MiCA (Markets in Crypto-Assets Regulation) está en vigor en la UE desde diciembre de 2024. ¿Aplica a tu proyecto Fabric permissioned? ¿Cuándo sí y cuándo no?</a:t>
            </a:r>
            <a:pPr indent="0" marL="0">
              <a:spcAft>
                <a:spcPts val="1200"/>
              </a:spcAft>
              <a:buNone/>
            </a:pPr>
            <a:r>
              <a:rPr lang="en-US" sz="1400" dirty="0">
                <a:solidFill>
                  <a:srgbClr val="FFFFFF"/>
                </a:solidFill>
                <a:latin typeface="Calibri" pitchFamily="34" charset="0"/>
                <a:ea typeface="Calibri" pitchFamily="34" charset="-122"/>
                <a:cs typeface="Calibri" pitchFamily="34" charset="-120"/>
              </a:rPr>
              <a:t>8. Si un chaincode tiene un bug y transfiere fondos incorrectamente, ¿quién responde legalmente? ¿Por qué este punto es uno de los más importantes del acuerdo del consorcio?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1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Qué es la gobernanza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¿Qué es la gobernanza de un consorcio blockchain y por qué se dice que NO es un tema técnico?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Es el conjunto de reglas que definen cómo se toman las decisiones en la red: quién entra, quién sale, quién paga, quién aprueba cambios, qué pasa con los datos si alguien se va, cómo se resuelven los conflictos. No es técnico porque la tecnología (Fabric, políticas, MSPs) solo EJECUTA las reglas que un acuerdo humano previo ha definido. Si la gobernanza no está clara desde el día 1, el proyecto fracasará por mucho que la tecnología funcione. Es lo que mató a B3i y a TradeLens.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1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2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Los tres modelos de gobernanza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Los tres modelos clásicos de gobernanza de consorcio son fundador dominante, democrático y federado. ¿Cuándo es razonable cada uno y cuál es el contra de cada uno?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Fundador dominante (Walmart Food Trust): rápido de arrancar porque alguien manda, pero genera desconfianza en los demás participantes. Democrático (Alastria): equitativo (1 miembro = 1 voto) pero lento — con 500 miembros, llegar a un acuerdo es muy costoso. Federado (EBSI): ágil porque un comité ejecutivo decide, pero el comité puede desconectarse de los miembros base. La elección depende del número de orgs, la urgencia y la relación de fuerzas entre los participantes.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2 / 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3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Gobernanza como código en Fabric</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Se dice que Fabric convierte la gobernanza en "código ejecutable". ¿Qué quiere decir esto y qué mecanismos lo hacen posible?</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Fabric codifica las reglas del consorcio DIRECTAMENTE en la configuración del canal, no en un documento Word que nadie lee. Mecanismos clave: (1) políticas de canal — MAJORITY Admins o ALL Admins exigen el voto explícito de las orgs para cambios estructurales; (2) políticas de endorsement — AND/OR/OutOf definen qué orgs deben firmar cada transacción; (3) lifecycle del chaincode — aprobar un chaincode requiere mayoría de orgs vía firmas. Las reglas no son papel: son condiciones que el código del peer verifica antes de aceptar cualquier acción.</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3 /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4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Onboarding y offboarding</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¿Por qué las reglas de onboarding (entrada) y offboarding (salida) de organizaciones deben estar definidas ANTES de que nadie las necesite? ¿Qué problema concreto hay con la salida de una org?</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Porque cuando una org quiere salir o ser expulsada (lo cual rara vez es amistoso) ya no hay tiempo para negociar las reglas con calma — habrá conflicto, prisas y posiblemente abogados. Definir antes evita esa crisis. Problema concreto al salir: los datos que esa org metió en el ledger son INMUTABLES y no se pueden borrar; sus certificados se pueden revocar vía CRL, pero todo lo histórico que firmó queda en el ledger para siempre. Hay que decidir antes si puede llevarse una copia, cómo se redistribuyen sus responsabilidades operativas y qué pasa con su parte de la infraestructura compartida.</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4 / 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5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GDPR vs inmutabilidad</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GDPR consagra el derecho al olvido. Blockchain garantiza inmutabilidad. ¿Cuál es el patrón estándar para reconciliarlos y qué pieza de Fabric ayuda específicamente?</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Patrón estándar: NUNCA guardar datos personales directamente en el ledger. Se guarda un HASH o una referencia, y los datos reales viven OFF-CHAIN en una base de datos normal (borrable). Si el ciudadano ejerce su derecho al olvido, borras el dato off-chain; el hash que queda on-chain ya no apunta a nada útil (pseudonimización efectiva). En Fabric, además, las Private Data Collections soportan blockToLive: se pueden configurar para que los datos privados se purguen automáticamente tras un número de bloques. Diseñar esto bien desde el principio es clave — si por error metiste datos personales directamente, no hay vuelta atrás.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5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6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Smart contracts y valor legal</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Tu jefe te pregunta si un smart contract sustituye a un contrato legal tradicional. ¿Qué le contestas?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No automáticamente. Un smart contract es CÓDIGO, no un contrato jurídico. Para tener valor legal vinculante necesita además: consentimiento de las partes (firma digital con identidad real), objeto lícito, partes identificadas (no anónimas), jurisdicción y ley aplicable definidas, y un mecanismo claro de resolución de disputas. El enfoque práctico que está cuajando es: el CONTRATO LEGAL (en papel o documento firmado) dice QUÉ se hace; el SMART CONTRACT define solo CÓMO se ejecuta automáticamente. Son complementarios. La jurisprudencia sigue muy verde y varía por país.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6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7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MiCA y proyectos Fabric</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MiCA (Markets in Crypto-Assets Regulation) está en vigor en la UE desde diciembre de 2024. ¿Aplica a tu proyecto Fabric permissioned? ¿Cuándo sí y cuándo no?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Depende de si tu proyecto emite tokens que SALEN AL MERCADO público. Si tu Fabric es 100% interno entre orgs del consorcio y los tokens (si los hay) no se venden a terceros, MiCA NO aplica directamente. Si tu proyecto emite stablecoins, security tokens o cripto-activos que llegan al inversor minorista, MiCA SÍ aplica: hace falta autorización, whitepaper, reservas auditadas para stablecoins, supervisión de ESMA/CNMV. Para tokenizar un valor (bono, acción, inmueble) en Fabric con venta pública entran además MiFID II y la CNMV — son las mismas reglas que para los valores tradicionales.</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7 / 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PREGUNTA 8 / 8</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indent="0" marL="0">
              <a:buNone/>
            </a:pPr>
            <a:r>
              <a:rPr lang="en-US" sz="2600" b="1" dirty="0">
                <a:solidFill>
                  <a:srgbClr val="333333"/>
                </a:solidFill>
                <a:latin typeface="Calibri" pitchFamily="34" charset="0"/>
                <a:ea typeface="Calibri" pitchFamily="34" charset="-122"/>
                <a:cs typeface="Calibri" pitchFamily="34" charset="-120"/>
              </a:rPr>
              <a:t>Responsabilidad legal por bugs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indent="0" marL="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indent="0" marL="0">
              <a:buNone/>
            </a:pPr>
            <a:r>
              <a:rPr lang="en-US" sz="1800" dirty="0">
                <a:solidFill>
                  <a:srgbClr val="333333"/>
                </a:solidFill>
                <a:latin typeface="Calibri" pitchFamily="34" charset="0"/>
                <a:ea typeface="Calibri" pitchFamily="34" charset="-122"/>
                <a:cs typeface="Calibri" pitchFamily="34" charset="-120"/>
              </a:rPr>
              <a:t>Si un chaincode tiene un bug y transfiere fondos incorrectamente, ¿quién responde legalmente? ¿Por qué este punto es uno de los más importantes del acuerdo del consorcio?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indent="0" marL="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indent="0" marL="0">
              <a:buNone/>
            </a:pPr>
            <a:r>
              <a:rPr lang="en-US" sz="1500" dirty="0">
                <a:solidFill>
                  <a:srgbClr val="333333"/>
                </a:solidFill>
                <a:latin typeface="Calibri" pitchFamily="34" charset="0"/>
                <a:ea typeface="Calibri" pitchFamily="34" charset="-122"/>
                <a:cs typeface="Calibri" pitchFamily="34" charset="-120"/>
              </a:rPr>
              <a:t>Depende de lo que diga el acuerdo del consorcio firmado entre las orgs. Si NO lo dice, hay un caos: ¿responsabilidad del desarrollador que escribió el bug? ¿de la org que lo aprobó en su lifecycle? ¿responsabilidad compartida porque todas las orgs aprobaron por mayoría? ¿negligencia de una org que detectó el bug y no lo reportó? Sin un acuerdo previo, esto termina en tribunales con jurisdicción incierta. Por eso el acuerdo del consorcio debe definir POR ESCRITO: quién audita los chaincodes antes de aprobarlos, si hay un seguro de responsabilidad civil, qué mecanismo de compensación existe entre las orgs afectadas y qué jurisdicción y ley aplicable rige en caso de conflicto.</a:t>
            </a:r>
            <a:endParaRPr lang="en-US" sz="1500" dirty="0"/>
          </a:p>
        </p:txBody>
      </p:sp>
      <p:sp>
        <p:nvSpPr>
          <p:cNvPr id="12" name="Text 10"/>
          <p:cNvSpPr/>
          <p:nvPr/>
        </p:nvSpPr>
        <p:spPr>
          <a:xfrm>
            <a:off x="10515600" y="6446520"/>
            <a:ext cx="1371600" cy="274320"/>
          </a:xfrm>
          <a:prstGeom prst="rect">
            <a:avLst/>
          </a:prstGeom>
          <a:noFill/>
          <a:ln/>
        </p:spPr>
        <p:txBody>
          <a:bodyPr wrap="square" rtlCol="0" anchor="ctr"/>
          <a:lstStyle/>
          <a:p>
            <a:pPr algn="r" indent="0" marL="0">
              <a:buNone/>
            </a:pPr>
            <a:r>
              <a:rPr lang="en-US" sz="1200" dirty="0">
                <a:solidFill>
                  <a:srgbClr val="333333"/>
                </a:solidFill>
                <a:latin typeface="Calibri" pitchFamily="34" charset="0"/>
                <a:ea typeface="Calibri" pitchFamily="34" charset="-122"/>
                <a:cs typeface="Calibri" pitchFamily="34" charset="-120"/>
              </a:rPr>
              <a:t>8 / 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Repaso del día 3 (Módulo 3)</dc:title>
  <dc:subject>PptxGenJS Presentation</dc:subject>
  <dc:creator>PptxGenJS</dc:creator>
  <cp:lastModifiedBy>PptxGenJS</cp:lastModifiedBy>
  <cp:revision>1</cp:revision>
  <dcterms:created xsi:type="dcterms:W3CDTF">2026-06-02T07:11:27Z</dcterms:created>
  <dcterms:modified xsi:type="dcterms:W3CDTF">2026-06-02T07:11:27Z</dcterms:modified>
</cp:coreProperties>
</file>