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indent="0" marL="0">
              <a:buNone/>
            </a:pPr>
            <a:r>
              <a:rPr lang="en-US" sz="1600" b="1" dirty="0">
                <a:solidFill>
                  <a:srgbClr val="22627E"/>
                </a:solidFill>
                <a:latin typeface="Calibri" pitchFamily="34" charset="0"/>
                <a:ea typeface="Calibri" pitchFamily="34" charset="-122"/>
                <a:cs typeface="Calibri" pitchFamily="34" charset="-120"/>
              </a:rPr>
              <a:t>Modulo 3: Vision Empresarial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indent="0" marL="0">
              <a:buNone/>
            </a:pPr>
            <a:r>
              <a:rPr lang="en-US" sz="5400" b="1" dirty="0">
                <a:solidFill>
                  <a:srgbClr val="22627E"/>
                </a:solidFill>
                <a:latin typeface="Calibri" pitchFamily="34" charset="0"/>
                <a:ea typeface="Calibri" pitchFamily="34" charset="-122"/>
                <a:cs typeface="Calibri" pitchFamily="34" charset="-120"/>
              </a:rPr>
              <a:t>Repaso del día 2</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indent="0" marL="0">
              <a:buNone/>
            </a:pPr>
            <a:r>
              <a:rPr lang="en-US" sz="2200" dirty="0">
                <a:solidFill>
                  <a:srgbClr val="333333"/>
                </a:solidFill>
                <a:latin typeface="Calibri" pitchFamily="34" charset="0"/>
                <a:ea typeface="Calibri" pitchFamily="34" charset="-122"/>
                <a:cs typeface="Calibri" pitchFamily="34" charset="-120"/>
              </a:rPr>
              <a:t>16 preguntas sobre casos que SÍ funcionan (Walmart, We.Trade, HKMA), árbol de decisión y cómo vender un proyecto blockchain al comité</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Las 16 preguntas — Repaso día 2 (Módulo 3)</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Walmart Food Trust (Fabric, en producción desde 2018) bajó el rastreo de un mango de 7 días a 2,2 segundos y conecta más de 150 organizaciones. ¿Cuál fue la clave del éxito que casi nadie reconoce abiertamente?</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Walmart Food Trust funciona pero genera debate ético: ¿es un consorcio real o una imposición disfrazada? ¿Cómo se reconcilia esto con el problema del "fundador dominante" que hundió TradeLens?</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We.Trade reúne a 12 bancos europeos (Deutsche, HSBC, Santander…) y funciona, a diferencia de B3i que reunió grandes aseguradoras y quebró. ¿Cuál es la diferencia esencial?</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eTradeConnect (Hong Kong Monetary Authority, en producción desde 2019) interconecta bancos para compartir info de operaciones comerciales. ¿Qué hace que este caso encaje donde otros del mismo sector fallaron?</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Uno de los problemas que ataca eTradeConnect es el "fraude de doble financiación". ¿Qué es y cómo lo resuelve blockchain?</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6. La tabla comparativa muestra seis factores que diferencian a los proyectos que funcionan de los que fracasan. Enumera al menos cuatro de esos factores y di qué hace cada bando en cada uno.</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7. Walmart, We.Trade y eTradeConnect tienen en común que empezaron pequeño y crecieron. ¿Por qué los que intentan todo desde el día 1 fracasan?</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8. El curso propone un árbol de cinco preguntas para decidir si blockchain tiene sentido. ¿Cuáles son y qué pasa si respondes NO a alguna?</a:t>
            </a:r>
            <a:endParaRPr lang="en-US" sz="1200" dirty="0"/>
          </a:p>
        </p:txBody>
      </p:sp>
      <p:sp>
        <p:nvSpPr>
          <p:cNvPr id="5" name="Text 3"/>
          <p:cNvSpPr/>
          <p:nvPr/>
        </p:nvSpPr>
        <p:spPr>
          <a:xfrm>
            <a:off x="6355080" y="1051560"/>
            <a:ext cx="5760720" cy="5303520"/>
          </a:xfrm>
          <a:prstGeom prst="rect">
            <a:avLst/>
          </a:prstGeom>
          <a:noFill/>
          <a:ln/>
        </p:spPr>
        <p:txBody>
          <a:bodyPr wrap="square"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9. Caso A: un hospital quiere registrar los historiales de sus pacientes. Caso B: tres hospitales quieren compartir historiales de pacientes que pasan por los tres. ¿Cuál justifica blockchain y por qué?</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10. ¿Cuál fue el primer proyecto serio de blockchain enterprise, quién lo impulsó y en qué se convirtió?</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11. ¿Cuál es la regla de oro al presentar un proyecto blockchain al comité de dirección, y por qué?</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12. ¿Por qué se recomienda evitar la palabra "blockchain" en una presentación a dirección y qué expresión usar en su lugar?</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13. Si tu jefe te pide "métricas claras" para evaluar el éxito de un proyecto blockchain, ¿qué tres categorías de métricas debes presentar y un ejemplo de cada una?</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14. Cita al menos cuatro sectores donde blockchain tiene casos de uso reales y para cada uno un ejemplo concreto.</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15. Tienes 2 minutos para vender un proyecto blockchain a tu director. ¿Cómo estructuras el pitch?</a:t>
            </a:r>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16. Más allá del árbol de decisión, ¿cuáles son los escenarios prácticos donde NO debes proponer blockchain aunque suene atractivo?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Walmart Food Trust — el éxito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Walmart Food Trust (Fabric, en producción desde 2018) bajó el rastreo de un mango de 7 días a 2,2 segundos y conecta más de 150 organizaciones. ¿Cuál fue la clave del éxito que casi nadie reconoce abiertamente?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Walmart EXIGIÓ a sus proveedores que participaran. Cuando el actor más grande del ecosistema impone la adopción, la red alcanza masa crítica de golpe. Las soluciones "voluntarias" entre iguales casi siempre se atascan; aquí el desequilibrio de poder fue lo que lo hizo viable. La trazabilidad ya existía como concepto desde hacía décadas — lo que faltaba era alguien con suficiente músculo para forzar el cambio.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Walmart: ¿consorcio o imposición?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Walmart Food Trust funciona pero genera debate ético: ¿es un consorcio real o una imposición disfrazada? ¿Cómo se reconcilia esto con el problema del "fundador dominante" que hundió TradeLens?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La diferencia clave es la posición relativa de los participantes. En TradeLens, Maersk pedía a sus COMPETIDORES DIRECTOS que se unieran — y nadie quiere dar datos a un rival. En Walmart, los participantes son PROVEEDORES, no competidores: no compiten entre sí por el mismo cliente final, y necesitan a Walmart más que Walmart a ellos. Misma estructura asimétrica, pero relación distinta. El "fundador dominante" hunde proyectos cuando los demás son competidores; funciona cuando los demás son la cadena de suministro.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2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We.Trade — los bancos sí funcionaron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We.Trade reúne a 12 bancos europeos (Deutsche, HSBC, Santander…) y funciona, a diferencia de B3i que reunió grandes aseguradoras y quebró. ¿Cuál es la diferencia esencial?</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Que TODOS los bancos tienen un incentivo CONCRETO y compartido: reducir el riesgo y el coste del comercio internacional para sus PYMEs cliente. Cada banco gana algo medible: menos papeleo, menos fraude, operaciones más rápidas, comisiones recuperables. En B3i nadie sabía quién pagaba la plataforma a largo plazo. Lección: los consorcios funcionan cuando cada participante ve un retorno claro y rápido; mueren cuando el modelo de negocio se decide "sobre la marcha".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3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HKMA eTradeConnect — el regulador como ancla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eTradeConnect (Hong Kong Monetary Authority, en producción desde 2019) interconecta bancos para compartir info de operaciones comerciales. ¿Qué hace que este caso encaje donde otros del mismo sector fallaron?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El respaldo del REGULADOR (HKMA) desde el inicio. No es una iniciativa privada que después busca aprobación regulatoria; es el propio regulador quien convoca, alinea reglas, marca participantes obligatorios y garantiza marco legal. Resuelve dos de las cinco barreras simultáneamente: gobernanza (neutral, regulada) y regulación (compatible por diseño). Cuando el regulador es promotor, los bancos pueden justificar la inversión ante sus consejos.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4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Fraude de doble financiación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Uno de los problemas que ataca eTradeConnect es el "fraude de doble financiación". ¿Qué es y cómo lo resuelve blockchain?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Es cuando un exportador pide crédito a DOS bancos distintos sobre la MISMA mercancía (mismas facturas, mismos contenedores). Sin coordinación entre bancos, el exportador cobra el doble por la misma operación; cuando se descubre, ya ha desaparecido el dinero. Blockchain entre bancos resuelve esto compartiendo el registro de operaciones financiadas: si el banco B intenta financiar una operación que el banco A ya registró, el sistema lo detecta al instante. No hace falta cifrar el detalle: basta con que vean los hashes/IDs comunes.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5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Éxitos vs fracasos — los seis factores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La tabla comparativa muestra seis factores que diferencian a los proyectos que funcionan de los que fracasan. Enumera al menos cuatro de esos factores y di qué hace cada bando en cada uno.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Los seis factores: (1) GOBERNANZA — equilibrada o con regulador en los que funcionan, fundador dominante en los que fracasan; (2) INCENTIVOS — todos ganan algo concreto vs solo unos pocos se benefician; (3) MASA CRÍTICA — un actor principal impone o el regulador exige vs adopción voluntaria sin urgencia; (4) REGULACIÓN — compatible o con apoyo del regulador vs choque con leyes existentes; (5) UX — invisible para el usuario final vs requiere que entienda blockchain; (6) MVP — empiezan pequeño y escalan vs intentan todo desde el día 1.</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6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7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El patrón "empezar pequeño y escalar"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Walmart, We.Trade y eTradeConnect tienen en común que empezaron pequeño y crecieron. ¿Por qué los que intentan todo desde el día 1 fracasan?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Porque cada actor que se suma al MVP es un punto de fallo extra: hay que alinear sus intereses, integrar sus sistemas, formar a sus equipos. Diez orgs son DIEZ veces más difíciles de mover que dos. Además, hasta que la red no demuestra valor real, es muy difícil convencer a alguien de invertir tiempo y dinero. Los proyectos que arrancan con "el consorcio definitivo de toda la industria" gastan años en coordinar antes de aportar un solo céntimo de valor, y mueren por agotamiento financiero o desinterés. El antídoto: 2-3 orgs, una línea de negocio, 6 meses, valor medible — y solo después escalar.</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7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8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Árbol de decisión: ¿blockchain o BD?</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El curso propone un árbol de cinco preguntas para decidir si blockchain tiene sentido. ¿Cuáles son y qué pasa si respondes NO a alguna?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Las cinco: (1) ¿Hay múltiples partes que NO se fían entre sí? (2) ¿Necesitan compartir datos y validar transacciones? (3) ¿La inmutabilidad del registro es crítica? (4) ¿Las reglas de negocio deben ser verificables por todos? (5) ¿Ningún actor puede ser el dueño de la base de datos? Solo si respondes SÍ a las CINCO, blockchain tiene sentido. Basta un NO para que exista una solución más sencilla (BBDD, APIs, SaaS, BD compartida con permisos…). Es la herramienta más útil contra el "queremos hacerlo en blockchain porque mola".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8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9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Un hospital vs tres hospitales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Caso A: un hospital quiere registrar los historiales de sus pacientes. Caso B: tres hospitales quieren compartir historiales de pacientes que pasan por los tres. ¿Cuál justifica blockchain y por qué?</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El B. En el A hay un solo actor: una BBDD tradicional resuelve el problema mejor (más rápida, barata, simple). No hay desconfianza entre partes que blockchain pueda resolver. En el B hay múltiples orgs (los tres hospitales), datos compartidos, necesidad de trazabilidad auditable y desconfianza implícita en quién registra qué. Eso sí justifica blockchain — con el matiz importante de meter los datos personales OFF-CHAIN (BD borrable) y solo hashes on-chain, por GDPR.</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9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10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El primer proyecto blockchain enterprise — R3</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¿Cuál fue el primer proyecto serio de blockchain enterprise, quién lo impulsó y en qué se convirtió?</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El consorcio R3, lanzado en septiembre de 2015 por David Rutter (ex-ICAP). Empezó con 9 bancos (Barclays, BBVA, Credit Suisse, Goldman Sachs, JP Morgan, State Street, UBS, entre otros) y llegó a más de 70. R3 desarrolló CORDA, una plataforma de libro distribuido específicamente diseñada para instituciones financieras: permissioned, sin blockchain tradicional (no propaga todas las txs a todos), transacciones solo visibles para las partes implicadas. Hoy Corda es una de las tres grandes plataformas enterprise junto con Fabric y Quorum/Besu.</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10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Cómo presentar al comité de dirección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¿Cuál es la regla de oro al presentar un proyecto blockchain al comité de dirección, y por qué?</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NO empezar por la tecnología. Empezar por el PROBLEMA DE NEGOCIO. El orden recomendado es: (1) cuál es el problema (coste, tiempo, fraude, desconfianza); (2) cuánto nos cuesta hoy en euros, días, riesgo; (3) por qué las soluciones actuales no funcionan; (4) qué propones ("consorcio + ledger compartido", sin decir aún "blockchain"); (5) con quién lo haríamos; (6) cuánto cuesta y cuánto ahorra (ROI, payback); (7) qué riesgos tiene y cómo los mitigamos. Quien arranca con "voy a usar blockchain porque…" ya perdió la atención de la sala.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11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La palabra "blockchain" genera ruido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¿Por qué se recomienda evitar la palabra "blockchain" en una presentación a dirección y qué expresión usar en su lugar?</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Porque "blockchain" arrastra años de hype, crypto, NFTs, scams y fracasos sonados — gente del comité tiene asociaciones negativas y dejan de escuchar. La expresión recomendada es "registro distribuido compartido" (o "DLT — Distributed Ledger Technology"): describe lo mismo en lenguaje neutro y desactiva las defensas. Una vez que la propuesta convence por sus números, ya puedes desvelar que la tecnología elegida es Hyperledger Fabric o Corda. La técnica se llama "vender el resultado, no la herramienta".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12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Métricas: cómo medir el éxito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Si tu jefe te pide "métricas claras" para evaluar el éxito de un proyecto blockchain, ¿qué tres categorías de métricas debes presentar y un ejemplo de cada 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(1) EFICIENCIA: tiempo de proceso (KYC de 2 semanas a 2 minutos), errores manuales eliminados, número de intermediarios reducidos. (2) CONFIANZA: disputas comerciales evitadas, tiempo de auditoría antes vs después, casos de fraude detectados o prevenidos. (3) COSTE: coste de infraestructura, coste de intermediarios eliminados, payback (en cuánto tiempo se recupera la inversión). Las métricas técnicas (TPS, latencia) sirven a TI pero NO al comité de dirección — ellos quieren euros y tiempo.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13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Oportunidades por sector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Cita al menos cuatro sectores donde blockchain tiene casos de uso reales y para cada uno un ejemplo concreto.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(1) Finanzas: liquidación interbancaria, trade finance, tokenización de activos, KYC compartido entre bancos. (2) Supply chain: trazabilidad alimentaria (Walmart), certificación de origen (diamantes, café), cadena del frío. (3) Salud: historiales médicos compartidos entre hospitales, trazabilidad de fármacos, ensayos clínicos multi-centro. (4) Administración pública: registro de propiedad, licitaciones, subvenciones, identidad digital. Otros: energía (certificados de origen renovable, mercados P2P), seguros (reaseguros automatizados), educación (títulos verificables, credenciales profesionales).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14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Elevator pitch — la estructura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Tienes 2 minutos para vender un proyecto blockchain a tu director. ¿Cómo estructuras el pitch?</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Cuatro bloques de 30 segundos cada uno: (1) EL PROBLEMA — qué duele hoy en cifras ("cada KYC nos cuesta 2 semanas y 800 €"); (2) POR QUÉ LO ACTUAL NO SIRVE — "hemos probado APIs y consorcios bilaterales, no escalan"; (3) LA PROPUESTA — "un registro compartido entre nuestras 3 entidades para sellar el resultado del KYC y reutilizarlo"; (4) SOCIOS Y BENEFICIO ESPERADO — "con Banco A y Banco B, payback estimado de 14 meses, ahorro anual de X euros". Importante: nada de "y para esto usaremos Hyperledger Fabric con consenso Raft". Eso es para más tarde.</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15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Cuándo NO usar blockchain — repaso operativo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Más allá del árbol de decisión, ¿cuáles son los escenarios prácticos donde NO debes proponer blockchain aunque suene atractivo?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(1) Un solo actor gestiona todos los datos → BBDD tradicional. (2) Los datos no se comparten realmente entre orgs → APIs directas. (3) Rendimiento crítico con miles de TPS y baja latencia → BD distribuida. (4) Los datos necesitan poder editarse o borrarse a menudo (GDPR, lógica de negocio cambiante) → BD con auditoría. (5) No hay desconfianza entre las partes → SaaS compartido con permisos. (6) El coste de montar y mantener la red no compensa el beneficio. Saber cuándo NO usarlo es tan importante como saber cuándo sí — quien propone blockchain mal hace más daño al ecosistema que quien no lo propone.</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16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2 (Módulo 3)</dc:title>
  <dc:subject>PptxGenJS Presentation</dc:subject>
  <dc:creator>PptxGenJS</dc:creator>
  <cp:lastModifiedBy>PptxGenJS</cp:lastModifiedBy>
  <cp:revision>1</cp:revision>
  <dcterms:created xsi:type="dcterms:W3CDTF">2026-05-31T12:42:36Z</dcterms:created>
  <dcterms:modified xsi:type="dcterms:W3CDTF">2026-05-31T12:42:36Z</dcterms:modified>
</cp:coreProperties>
</file>