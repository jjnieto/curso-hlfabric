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6" d="100"/>
          <a:sy n="106" d="100"/>
        </p:scale>
        <p:origin x="138" y="5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25964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37160"/>
          </a:xfrm>
          <a:prstGeom prst="rect">
            <a:avLst/>
          </a:prstGeom>
          <a:solidFill>
            <a:srgbClr val="22627E"/>
          </a:solidFill>
          <a:ln w="12700">
            <a:solidFill>
              <a:srgbClr val="22627E"/>
            </a:solidFill>
            <a:prstDash val="solid"/>
          </a:ln>
        </p:spPr>
      </p:sp>
      <p:sp>
        <p:nvSpPr>
          <p:cNvPr id="3" name="Shape 1"/>
          <p:cNvSpPr/>
          <p:nvPr/>
        </p:nvSpPr>
        <p:spPr>
          <a:xfrm>
            <a:off x="0" y="6720840"/>
            <a:ext cx="12191695" cy="137160"/>
          </a:xfrm>
          <a:prstGeom prst="rect">
            <a:avLst/>
          </a:prstGeom>
          <a:solidFill>
            <a:srgbClr val="22627E"/>
          </a:solidFill>
          <a:ln w="12700">
            <a:solidFill>
              <a:srgbClr val="22627E"/>
            </a:solidFill>
            <a:prstDash val="solid"/>
          </a:ln>
        </p:spPr>
      </p:sp>
      <p:sp>
        <p:nvSpPr>
          <p:cNvPr id="4" name="Text 2"/>
          <p:cNvSpPr/>
          <p:nvPr/>
        </p:nvSpPr>
        <p:spPr>
          <a:xfrm>
            <a:off x="457200" y="365760"/>
            <a:ext cx="10972800" cy="457200"/>
          </a:xfrm>
          <a:prstGeom prst="rect">
            <a:avLst/>
          </a:prstGeom>
          <a:noFill/>
          <a:ln/>
        </p:spPr>
        <p:txBody>
          <a:bodyPr wrap="square" rtlCol="0" anchor="ctr"/>
          <a:lstStyle/>
          <a:p>
            <a:pPr marL="0" indent="0">
              <a:buNone/>
            </a:pPr>
            <a:r>
              <a:rPr lang="en-US" sz="1600" b="1" dirty="0">
                <a:solidFill>
                  <a:srgbClr val="22627E"/>
                </a:solidFill>
                <a:latin typeface="Calibri" pitchFamily="34" charset="0"/>
                <a:ea typeface="Calibri" pitchFamily="34" charset="-122"/>
                <a:cs typeface="Calibri" pitchFamily="34" charset="-120"/>
              </a:rPr>
              <a:t>Modulo 4: Tokenizacion y dinero digital</a:t>
            </a:r>
            <a:endParaRPr lang="en-US" sz="1600" dirty="0"/>
          </a:p>
        </p:txBody>
      </p:sp>
      <p:sp>
        <p:nvSpPr>
          <p:cNvPr id="5" name="Text 3"/>
          <p:cNvSpPr/>
          <p:nvPr/>
        </p:nvSpPr>
        <p:spPr>
          <a:xfrm>
            <a:off x="457200" y="1828800"/>
            <a:ext cx="10972800" cy="2286000"/>
          </a:xfrm>
          <a:prstGeom prst="rect">
            <a:avLst/>
          </a:prstGeom>
          <a:noFill/>
          <a:ln/>
        </p:spPr>
        <p:txBody>
          <a:bodyPr wrap="square" rtlCol="0" anchor="ctr"/>
          <a:lstStyle/>
          <a:p>
            <a:pPr marL="0" indent="0">
              <a:buNone/>
            </a:pPr>
            <a:r>
              <a:rPr lang="en-US" sz="5400" b="1" dirty="0">
                <a:solidFill>
                  <a:srgbClr val="22627E"/>
                </a:solidFill>
                <a:latin typeface="Calibri" pitchFamily="34" charset="0"/>
                <a:ea typeface="Calibri" pitchFamily="34" charset="-122"/>
                <a:cs typeface="Calibri" pitchFamily="34" charset="-120"/>
              </a:rPr>
              <a:t>Repaso del día 1</a:t>
            </a:r>
            <a:endParaRPr lang="en-US" sz="5400" dirty="0"/>
          </a:p>
        </p:txBody>
      </p:sp>
      <p:sp>
        <p:nvSpPr>
          <p:cNvPr id="6" name="Text 4"/>
          <p:cNvSpPr/>
          <p:nvPr/>
        </p:nvSpPr>
        <p:spPr>
          <a:xfrm>
            <a:off x="457200" y="4114800"/>
            <a:ext cx="10972800" cy="1645920"/>
          </a:xfrm>
          <a:prstGeom prst="rect">
            <a:avLst/>
          </a:prstGeom>
          <a:noFill/>
          <a:ln/>
        </p:spPr>
        <p:txBody>
          <a:bodyPr wrap="square" rtlCol="0" anchor="ctr"/>
          <a:lstStyle/>
          <a:p>
            <a:pPr marL="0" indent="0">
              <a:buNone/>
            </a:pPr>
            <a:r>
              <a:rPr lang="en-US" sz="2200" dirty="0">
                <a:solidFill>
                  <a:srgbClr val="333333"/>
                </a:solidFill>
                <a:latin typeface="Calibri" pitchFamily="34" charset="0"/>
                <a:ea typeface="Calibri" pitchFamily="34" charset="-122"/>
                <a:cs typeface="Calibri" pitchFamily="34" charset="-120"/>
              </a:rPr>
              <a:t>16 preguntas sobre tokenización de activos, bonos digitales (Santander, EIB), stablecoins y el colapso de Terra/Luna</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2627E"/>
        </a:solidFill>
        <a:effectLst/>
      </p:bgPr>
    </p:bg>
    <p:spTree>
      <p:nvGrpSpPr>
        <p:cNvPr id="1" name=""/>
        <p:cNvGrpSpPr/>
        <p:nvPr/>
      </p:nvGrpSpPr>
      <p:grpSpPr>
        <a:xfrm>
          <a:off x="0" y="0"/>
          <a:ext cx="0" cy="0"/>
          <a:chOff x="0" y="0"/>
          <a:chExt cx="0" cy="0"/>
        </a:xfrm>
      </p:grpSpPr>
      <p:sp>
        <p:nvSpPr>
          <p:cNvPr id="2" name="Text 0"/>
          <p:cNvSpPr/>
          <p:nvPr/>
        </p:nvSpPr>
        <p:spPr>
          <a:xfrm>
            <a:off x="457200" y="228600"/>
            <a:ext cx="10972800" cy="64008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Las 16 preguntas — Repaso día 1 (Módulo 4)</a:t>
            </a:r>
            <a:endParaRPr lang="en-US" sz="2800" dirty="0"/>
          </a:p>
        </p:txBody>
      </p:sp>
      <p:sp>
        <p:nvSpPr>
          <p:cNvPr id="3" name="Shape 1"/>
          <p:cNvSpPr/>
          <p:nvPr/>
        </p:nvSpPr>
        <p:spPr>
          <a:xfrm>
            <a:off x="457200" y="868680"/>
            <a:ext cx="10972800" cy="27432"/>
          </a:xfrm>
          <a:prstGeom prst="rect">
            <a:avLst/>
          </a:prstGeom>
          <a:solidFill>
            <a:srgbClr val="FFFFFF"/>
          </a:solidFill>
          <a:ln w="12700">
            <a:solidFill>
              <a:srgbClr val="FFFFFF"/>
            </a:solidFill>
            <a:prstDash val="solid"/>
          </a:ln>
        </p:spPr>
      </p:sp>
      <p:sp>
        <p:nvSpPr>
          <p:cNvPr id="4" name="Text 2"/>
          <p:cNvSpPr/>
          <p:nvPr/>
        </p:nvSpPr>
        <p:spPr>
          <a:xfrm>
            <a:off x="457200" y="1051560"/>
            <a:ext cx="5760720" cy="5303520"/>
          </a:xfrm>
          <a:prstGeom prst="rect">
            <a:avLst/>
          </a:prstGeom>
          <a:noFill/>
          <a:ln/>
        </p:spPr>
        <p:txBody>
          <a:bodyPr wrap="square" rtlCol="0" anchor="t"/>
          <a:lstStyle/>
          <a:p>
            <a:pPr marL="228600" indent="-228600">
              <a:spcAft>
                <a:spcPts val="800"/>
              </a:spcAft>
              <a:buAutoNum type="arabicPeriod"/>
            </a:pPr>
            <a:r>
              <a:rPr lang="en-US" sz="1200" dirty="0">
                <a:solidFill>
                  <a:srgbClr val="FFFFFF"/>
                </a:solidFill>
                <a:latin typeface="Calibri" pitchFamily="34" charset="0"/>
                <a:ea typeface="Calibri" pitchFamily="34" charset="-122"/>
                <a:cs typeface="Calibri" pitchFamily="34" charset="-120"/>
              </a:rPr>
              <a:t>Define qué es la tokenización de activos y explica la diferencia entre un token que representa un activo real y un token </a:t>
            </a:r>
            <a:r>
              <a:rPr lang="en-US" sz="1200" dirty="0" err="1">
                <a:solidFill>
                  <a:srgbClr val="FFFFFF"/>
                </a:solidFill>
                <a:latin typeface="Calibri" pitchFamily="34" charset="0"/>
                <a:ea typeface="Calibri" pitchFamily="34" charset="-122"/>
                <a:cs typeface="Calibri" pitchFamily="34" charset="-120"/>
              </a:rPr>
              <a:t>nativo</a:t>
            </a:r>
            <a:endParaRPr lang="en-US" sz="1200" dirty="0">
              <a:solidFill>
                <a:srgbClr val="FFFFFF"/>
              </a:solidFill>
              <a:latin typeface="Calibri" pitchFamily="34" charset="0"/>
              <a:ea typeface="Calibri" pitchFamily="34" charset="-122"/>
              <a:cs typeface="Calibri" pitchFamily="34" charset="-120"/>
            </a:endParaRPr>
          </a:p>
          <a:p>
            <a:pPr marL="228600" indent="-228600">
              <a:spcAft>
                <a:spcPts val="800"/>
              </a:spcAft>
              <a:buAutoNum type="arabicPeriod"/>
            </a:pPr>
            <a:r>
              <a:rPr lang="en-US" sz="1200" dirty="0">
                <a:solidFill>
                  <a:srgbClr val="FFFFFF"/>
                </a:solidFill>
                <a:latin typeface="Calibri" pitchFamily="34" charset="0"/>
                <a:ea typeface="Calibri" pitchFamily="34" charset="-122"/>
                <a:cs typeface="Calibri" pitchFamily="34" charset="-120"/>
              </a:rPr>
              <a:t> El material agrupa lo tokenizable en cuatro grandes familias. Enuméralas con un ejemplo de cada </a:t>
            </a:r>
            <a:r>
              <a:rPr lang="en-US" sz="1200" dirty="0" err="1">
                <a:solidFill>
                  <a:srgbClr val="FFFFFF"/>
                </a:solidFill>
                <a:latin typeface="Calibri" pitchFamily="34" charset="0"/>
                <a:ea typeface="Calibri" pitchFamily="34" charset="-122"/>
                <a:cs typeface="Calibri" pitchFamily="34" charset="-120"/>
              </a:rPr>
              <a:t>una</a:t>
            </a:r>
            <a:r>
              <a:rPr lang="en-US" sz="1200" dirty="0">
                <a:solidFill>
                  <a:srgbClr val="FFFFFF"/>
                </a:solidFill>
                <a:latin typeface="Calibri" pitchFamily="34" charset="0"/>
                <a:ea typeface="Calibri" pitchFamily="34" charset="-122"/>
                <a:cs typeface="Calibri" pitchFamily="34" charset="-120"/>
              </a:rPr>
              <a:t>.</a:t>
            </a:r>
          </a:p>
          <a:p>
            <a:pPr marL="228600" indent="-228600">
              <a:spcAft>
                <a:spcPts val="800"/>
              </a:spcAft>
              <a:buAutoNum type="arabicPeriod"/>
            </a:pPr>
            <a:r>
              <a:rPr lang="en-US" sz="1200" dirty="0">
                <a:solidFill>
                  <a:srgbClr val="FFFFFF"/>
                </a:solidFill>
                <a:latin typeface="Calibri" pitchFamily="34" charset="0"/>
                <a:ea typeface="Calibri" pitchFamily="34" charset="-122"/>
                <a:cs typeface="Calibri" pitchFamily="34" charset="-120"/>
              </a:rPr>
              <a:t>¿Por qué la propiedad fraccionada se considera uno de los grandes beneficios de la tokenización y cómo se relaciona con la </a:t>
            </a:r>
            <a:r>
              <a:rPr lang="en-US" sz="1200" dirty="0" err="1">
                <a:solidFill>
                  <a:srgbClr val="FFFFFF"/>
                </a:solidFill>
                <a:latin typeface="Calibri" pitchFamily="34" charset="0"/>
                <a:ea typeface="Calibri" pitchFamily="34" charset="-122"/>
                <a:cs typeface="Calibri" pitchFamily="34" charset="-120"/>
              </a:rPr>
              <a:t>liquidez</a:t>
            </a:r>
            <a:r>
              <a:rPr lang="en-US" sz="1200" dirty="0">
                <a:solidFill>
                  <a:srgbClr val="FFFFFF"/>
                </a:solidFill>
                <a:latin typeface="Calibri" pitchFamily="34" charset="0"/>
                <a:ea typeface="Calibri" pitchFamily="34" charset="-122"/>
                <a:cs typeface="Calibri" pitchFamily="34" charset="-120"/>
              </a:rPr>
              <a:t>?</a:t>
            </a:r>
          </a:p>
          <a:p>
            <a:pPr marL="228600" indent="-228600">
              <a:spcAft>
                <a:spcPts val="800"/>
              </a:spcAft>
              <a:buAutoNum type="arabicPeriod"/>
            </a:pPr>
            <a:r>
              <a:rPr lang="en-US" sz="1200" dirty="0">
                <a:solidFill>
                  <a:srgbClr val="FFFFFF"/>
                </a:solidFill>
                <a:latin typeface="Calibri" pitchFamily="34" charset="0"/>
                <a:ea typeface="Calibri" pitchFamily="34" charset="-122"/>
                <a:cs typeface="Calibri" pitchFamily="34" charset="-120"/>
              </a:rPr>
              <a:t>¿Qué aportan respectivamente la programabilidad (smart contracts) y la inmutabilidad de la DLT al proceso de </a:t>
            </a:r>
            <a:r>
              <a:rPr lang="en-US" sz="1200" dirty="0" err="1">
                <a:solidFill>
                  <a:srgbClr val="FFFFFF"/>
                </a:solidFill>
                <a:latin typeface="Calibri" pitchFamily="34" charset="0"/>
                <a:ea typeface="Calibri" pitchFamily="34" charset="-122"/>
                <a:cs typeface="Calibri" pitchFamily="34" charset="-120"/>
              </a:rPr>
              <a:t>tokenización</a:t>
            </a:r>
            <a:r>
              <a:rPr lang="en-US" sz="1200" dirty="0">
                <a:solidFill>
                  <a:srgbClr val="FFFFFF"/>
                </a:solidFill>
                <a:latin typeface="Calibri" pitchFamily="34" charset="0"/>
                <a:ea typeface="Calibri" pitchFamily="34" charset="-122"/>
                <a:cs typeface="Calibri" pitchFamily="34" charset="-120"/>
              </a:rPr>
              <a:t>?</a:t>
            </a:r>
          </a:p>
          <a:p>
            <a:pPr marL="228600" indent="-228600">
              <a:spcAft>
                <a:spcPts val="800"/>
              </a:spcAft>
              <a:buAutoNum type="arabicPeriod"/>
            </a:pPr>
            <a:r>
              <a:rPr lang="en-US" sz="1200" dirty="0">
                <a:solidFill>
                  <a:srgbClr val="FFFFFF"/>
                </a:solidFill>
                <a:latin typeface="Calibri" pitchFamily="34" charset="0"/>
                <a:ea typeface="Calibri" pitchFamily="34" charset="-122"/>
                <a:cs typeface="Calibri" pitchFamily="34" charset="-120"/>
              </a:rPr>
              <a:t>El material divide el ciclo de un activo financiero en Emisión, Trading y Post-trading. ¿Qué cambia en cada fase al usar blockchain frente al proceso </a:t>
            </a:r>
            <a:r>
              <a:rPr lang="en-US" sz="1200" dirty="0" err="1">
                <a:solidFill>
                  <a:srgbClr val="FFFFFF"/>
                </a:solidFill>
                <a:latin typeface="Calibri" pitchFamily="34" charset="0"/>
                <a:ea typeface="Calibri" pitchFamily="34" charset="-122"/>
                <a:cs typeface="Calibri" pitchFamily="34" charset="-120"/>
              </a:rPr>
              <a:t>tradicional</a:t>
            </a:r>
            <a:r>
              <a:rPr lang="en-US" sz="1200" dirty="0">
                <a:solidFill>
                  <a:srgbClr val="FFFFFF"/>
                </a:solidFill>
                <a:latin typeface="Calibri" pitchFamily="34" charset="0"/>
                <a:ea typeface="Calibri" pitchFamily="34" charset="-122"/>
                <a:cs typeface="Calibri" pitchFamily="34" charset="-120"/>
              </a:rPr>
              <a:t>?</a:t>
            </a:r>
          </a:p>
          <a:p>
            <a:pPr marL="228600" indent="-228600">
              <a:spcAft>
                <a:spcPts val="800"/>
              </a:spcAft>
              <a:buAutoNum type="arabicPeriod"/>
            </a:pPr>
            <a:r>
              <a:rPr lang="en-US" sz="1200" dirty="0">
                <a:solidFill>
                  <a:srgbClr val="FFFFFF"/>
                </a:solidFill>
                <a:latin typeface="Calibri" pitchFamily="34" charset="0"/>
                <a:ea typeface="Calibri" pitchFamily="34" charset="-122"/>
                <a:cs typeface="Calibri" pitchFamily="34" charset="-120"/>
              </a:rPr>
              <a:t>¿Qué es el Delivery versus Payment (DvP) atómico y por qué reduce el riesgo de liquidación en una emisión de bonos </a:t>
            </a:r>
            <a:r>
              <a:rPr lang="en-US" sz="1200" dirty="0" err="1">
                <a:solidFill>
                  <a:srgbClr val="FFFFFF"/>
                </a:solidFill>
                <a:latin typeface="Calibri" pitchFamily="34" charset="0"/>
                <a:ea typeface="Calibri" pitchFamily="34" charset="-122"/>
                <a:cs typeface="Calibri" pitchFamily="34" charset="-120"/>
              </a:rPr>
              <a:t>tokenizada</a:t>
            </a:r>
            <a:r>
              <a:rPr lang="en-US" sz="1200" dirty="0">
                <a:solidFill>
                  <a:srgbClr val="FFFFFF"/>
                </a:solidFill>
                <a:latin typeface="Calibri" pitchFamily="34" charset="0"/>
                <a:ea typeface="Calibri" pitchFamily="34" charset="-122"/>
                <a:cs typeface="Calibri" pitchFamily="34" charset="-120"/>
              </a:rPr>
              <a:t>?</a:t>
            </a:r>
          </a:p>
          <a:p>
            <a:pPr marL="228600" indent="-228600">
              <a:spcAft>
                <a:spcPts val="800"/>
              </a:spcAft>
              <a:buAutoNum type="arabicPeriod"/>
            </a:pPr>
            <a:r>
              <a:rPr lang="en-US" sz="1200" dirty="0">
                <a:solidFill>
                  <a:srgbClr val="FFFFFF"/>
                </a:solidFill>
                <a:latin typeface="Calibri" pitchFamily="34" charset="0"/>
                <a:ea typeface="Calibri" pitchFamily="34" charset="-122"/>
                <a:cs typeface="Calibri" pitchFamily="34" charset="-120"/>
              </a:rPr>
              <a:t>¿Se ha </a:t>
            </a:r>
            <a:r>
              <a:rPr lang="en-US" sz="1200" dirty="0" err="1">
                <a:solidFill>
                  <a:srgbClr val="FFFFFF"/>
                </a:solidFill>
                <a:latin typeface="Calibri" pitchFamily="34" charset="0"/>
                <a:ea typeface="Calibri" pitchFamily="34" charset="-122"/>
                <a:cs typeface="Calibri" pitchFamily="34" charset="-120"/>
              </a:rPr>
              <a:t>emitido</a:t>
            </a:r>
            <a:r>
              <a:rPr lang="en-US" sz="1200" dirty="0">
                <a:solidFill>
                  <a:srgbClr val="FFFFFF"/>
                </a:solidFill>
                <a:latin typeface="Calibri" pitchFamily="34" charset="0"/>
                <a:ea typeface="Calibri" pitchFamily="34" charset="-122"/>
                <a:cs typeface="Calibri" pitchFamily="34" charset="-120"/>
              </a:rPr>
              <a:t> </a:t>
            </a:r>
            <a:r>
              <a:rPr lang="en-US" sz="1200" dirty="0" err="1">
                <a:solidFill>
                  <a:srgbClr val="FFFFFF"/>
                </a:solidFill>
                <a:latin typeface="Calibri" pitchFamily="34" charset="0"/>
                <a:ea typeface="Calibri" pitchFamily="34" charset="-122"/>
                <a:cs typeface="Calibri" pitchFamily="34" charset="-120"/>
              </a:rPr>
              <a:t>alguna</a:t>
            </a:r>
            <a:r>
              <a:rPr lang="en-US" sz="1200" dirty="0">
                <a:solidFill>
                  <a:srgbClr val="FFFFFF"/>
                </a:solidFill>
                <a:latin typeface="Calibri" pitchFamily="34" charset="0"/>
                <a:ea typeface="Calibri" pitchFamily="34" charset="-122"/>
                <a:cs typeface="Calibri" pitchFamily="34" charset="-120"/>
              </a:rPr>
              <a:t> </a:t>
            </a:r>
            <a:r>
              <a:rPr lang="en-US" sz="1200" dirty="0" err="1">
                <a:solidFill>
                  <a:srgbClr val="FFFFFF"/>
                </a:solidFill>
                <a:latin typeface="Calibri" pitchFamily="34" charset="0"/>
                <a:ea typeface="Calibri" pitchFamily="34" charset="-122"/>
                <a:cs typeface="Calibri" pitchFamily="34" charset="-120"/>
              </a:rPr>
              <a:t>vez</a:t>
            </a:r>
            <a:r>
              <a:rPr lang="en-US" sz="1200" dirty="0">
                <a:solidFill>
                  <a:srgbClr val="FFFFFF"/>
                </a:solidFill>
                <a:latin typeface="Calibri" pitchFamily="34" charset="0"/>
                <a:ea typeface="Calibri" pitchFamily="34" charset="-122"/>
                <a:cs typeface="Calibri" pitchFamily="34" charset="-120"/>
              </a:rPr>
              <a:t> un bono </a:t>
            </a:r>
            <a:r>
              <a:rPr lang="en-US" sz="1200" dirty="0" err="1">
                <a:solidFill>
                  <a:srgbClr val="FFFFFF"/>
                </a:solidFill>
                <a:latin typeface="Calibri" pitchFamily="34" charset="0"/>
                <a:ea typeface="Calibri" pitchFamily="34" charset="-122"/>
                <a:cs typeface="Calibri" pitchFamily="34" charset="-120"/>
              </a:rPr>
              <a:t>regulado</a:t>
            </a:r>
            <a:r>
              <a:rPr lang="en-US" sz="1200" dirty="0">
                <a:solidFill>
                  <a:srgbClr val="FFFFFF"/>
                </a:solidFill>
                <a:latin typeface="Calibri" pitchFamily="34" charset="0"/>
                <a:ea typeface="Calibri" pitchFamily="34" charset="-122"/>
                <a:cs typeface="Calibri" pitchFamily="34" charset="-120"/>
              </a:rPr>
              <a:t> </a:t>
            </a:r>
            <a:r>
              <a:rPr lang="en-US" sz="1200" dirty="0" err="1">
                <a:solidFill>
                  <a:srgbClr val="FFFFFF"/>
                </a:solidFill>
                <a:latin typeface="Calibri" pitchFamily="34" charset="0"/>
                <a:ea typeface="Calibri" pitchFamily="34" charset="-122"/>
                <a:cs typeface="Calibri" pitchFamily="34" charset="-120"/>
              </a:rPr>
              <a:t>en</a:t>
            </a:r>
            <a:r>
              <a:rPr lang="en-US" sz="1200" dirty="0">
                <a:solidFill>
                  <a:srgbClr val="FFFFFF"/>
                </a:solidFill>
                <a:latin typeface="Calibri" pitchFamily="34" charset="0"/>
                <a:ea typeface="Calibri" pitchFamily="34" charset="-122"/>
                <a:cs typeface="Calibri" pitchFamily="34" charset="-120"/>
              </a:rPr>
              <a:t> la red </a:t>
            </a:r>
            <a:r>
              <a:rPr lang="en-US" sz="1200" dirty="0" err="1">
                <a:solidFill>
                  <a:srgbClr val="FFFFFF"/>
                </a:solidFill>
                <a:latin typeface="Calibri" pitchFamily="34" charset="0"/>
                <a:ea typeface="Calibri" pitchFamily="34" charset="-122"/>
                <a:cs typeface="Calibri" pitchFamily="34" charset="-120"/>
              </a:rPr>
              <a:t>pública</a:t>
            </a:r>
            <a:r>
              <a:rPr lang="en-US" sz="1200" dirty="0">
                <a:solidFill>
                  <a:srgbClr val="FFFFFF"/>
                </a:solidFill>
                <a:latin typeface="Calibri" pitchFamily="34" charset="0"/>
                <a:ea typeface="Calibri" pitchFamily="34" charset="-122"/>
                <a:cs typeface="Calibri" pitchFamily="34" charset="-120"/>
              </a:rPr>
              <a:t> de Ethereum?</a:t>
            </a:r>
          </a:p>
          <a:p>
            <a:pPr marL="228600" indent="-228600">
              <a:spcAft>
                <a:spcPts val="800"/>
              </a:spcAft>
              <a:buAutoNum type="arabicPeriod"/>
            </a:pPr>
            <a:r>
              <a:rPr lang="en-US" sz="1200" dirty="0">
                <a:solidFill>
                  <a:srgbClr val="FFFFFF"/>
                </a:solidFill>
                <a:latin typeface="Calibri" pitchFamily="34" charset="0"/>
                <a:ea typeface="Calibri" pitchFamily="34" charset="-122"/>
                <a:cs typeface="Calibri" pitchFamily="34" charset="-120"/>
              </a:rPr>
              <a:t>¿Qué diferencia esencial hay entre el bono de la EIB de 2021 y el de Santander de 2019 en cuanto al efectivo usado para liquidar?</a:t>
            </a:r>
            <a:endParaRPr lang="en-US" sz="1200" dirty="0"/>
          </a:p>
        </p:txBody>
      </p:sp>
      <p:sp>
        <p:nvSpPr>
          <p:cNvPr id="5" name="Text 3"/>
          <p:cNvSpPr/>
          <p:nvPr/>
        </p:nvSpPr>
        <p:spPr>
          <a:xfrm>
            <a:off x="6355080" y="1051560"/>
            <a:ext cx="5760720" cy="5303520"/>
          </a:xfrm>
          <a:prstGeom prst="rect">
            <a:avLst/>
          </a:prstGeom>
          <a:noFill/>
          <a:ln/>
        </p:spPr>
        <p:txBody>
          <a:bodyPr wrap="square" rtlCol="0" anchor="t"/>
          <a:lstStyle/>
          <a:p>
            <a:pPr marL="0" indent="0">
              <a:spcAft>
                <a:spcPts val="800"/>
              </a:spcAft>
              <a:buNone/>
            </a:pPr>
            <a:r>
              <a:rPr lang="en-US" sz="1200" dirty="0">
                <a:solidFill>
                  <a:srgbClr val="FFFFFF"/>
                </a:solidFill>
                <a:latin typeface="Calibri" pitchFamily="34" charset="0"/>
                <a:ea typeface="Calibri" pitchFamily="34" charset="-122"/>
                <a:cs typeface="Calibri" pitchFamily="34" charset="-120"/>
              </a:rPr>
              <a:t>9. Cita al menos tres puntos del proceso de emisión de un bono que mejoran al pasar del modelo tradicional al de blockchain.</a:t>
            </a:r>
          </a:p>
          <a:p>
            <a:pPr marL="0" indent="0">
              <a:spcAft>
                <a:spcPts val="800"/>
              </a:spcAft>
              <a:buNone/>
            </a:pPr>
            <a:r>
              <a:rPr lang="en-US" sz="1200" dirty="0">
                <a:solidFill>
                  <a:srgbClr val="FFFFFF"/>
                </a:solidFill>
                <a:latin typeface="Calibri" pitchFamily="34" charset="0"/>
                <a:ea typeface="Calibri" pitchFamily="34" charset="-122"/>
                <a:cs typeface="Calibri" pitchFamily="34" charset="-120"/>
              </a:rPr>
              <a:t>10. El material lista cinco ventajas competitivas de emitir deuda en blockchain. Enuméralas y explica brevemente el impacto de negocio de cada </a:t>
            </a:r>
            <a:r>
              <a:rPr lang="en-US" sz="1200" dirty="0" err="1">
                <a:solidFill>
                  <a:srgbClr val="FFFFFF"/>
                </a:solidFill>
                <a:latin typeface="Calibri" pitchFamily="34" charset="0"/>
                <a:ea typeface="Calibri" pitchFamily="34" charset="-122"/>
                <a:cs typeface="Calibri" pitchFamily="34" charset="-120"/>
              </a:rPr>
              <a:t>una</a:t>
            </a:r>
            <a:r>
              <a:rPr lang="en-US" sz="1200" dirty="0">
                <a:solidFill>
                  <a:srgbClr val="FFFFFF"/>
                </a:solidFill>
                <a:latin typeface="Calibri" pitchFamily="34" charset="0"/>
                <a:ea typeface="Calibri" pitchFamily="34" charset="-122"/>
                <a:cs typeface="Calibri" pitchFamily="34" charset="-120"/>
              </a:rPr>
              <a:t>.</a:t>
            </a:r>
          </a:p>
          <a:p>
            <a:pPr marL="0" indent="0">
              <a:spcAft>
                <a:spcPts val="800"/>
              </a:spcAft>
              <a:buNone/>
            </a:pPr>
            <a:r>
              <a:rPr lang="en-US" sz="1200" dirty="0">
                <a:solidFill>
                  <a:srgbClr val="FFFFFF"/>
                </a:solidFill>
                <a:latin typeface="Calibri" pitchFamily="34" charset="0"/>
                <a:ea typeface="Calibri" pitchFamily="34" charset="-122"/>
                <a:cs typeface="Calibri" pitchFamily="34" charset="-120"/>
              </a:rPr>
              <a:t>11. ¿Qué es una stablecoin referenciada a fiat? Compara USDT, USDC y DAI según su modelo de </a:t>
            </a:r>
            <a:r>
              <a:rPr lang="en-US" sz="1200" dirty="0" err="1">
                <a:solidFill>
                  <a:srgbClr val="FFFFFF"/>
                </a:solidFill>
                <a:latin typeface="Calibri" pitchFamily="34" charset="0"/>
                <a:ea typeface="Calibri" pitchFamily="34" charset="-122"/>
                <a:cs typeface="Calibri" pitchFamily="34" charset="-120"/>
              </a:rPr>
              <a:t>respaldo</a:t>
            </a:r>
            <a:r>
              <a:rPr lang="en-US" sz="1200" dirty="0">
                <a:solidFill>
                  <a:srgbClr val="FFFFFF"/>
                </a:solidFill>
                <a:latin typeface="Calibri" pitchFamily="34" charset="0"/>
                <a:ea typeface="Calibri" pitchFamily="34" charset="-122"/>
                <a:cs typeface="Calibri" pitchFamily="34" charset="-120"/>
              </a:rPr>
              <a:t>.</a:t>
            </a:r>
          </a:p>
          <a:p>
            <a:pPr marL="0" indent="0">
              <a:spcAft>
                <a:spcPts val="800"/>
              </a:spcAft>
              <a:buNone/>
            </a:pPr>
            <a:r>
              <a:rPr lang="en-US" sz="1200" dirty="0">
                <a:solidFill>
                  <a:srgbClr val="FFFFFF"/>
                </a:solidFill>
                <a:latin typeface="Calibri" pitchFamily="34" charset="0"/>
                <a:ea typeface="Calibri" pitchFamily="34" charset="-122"/>
                <a:cs typeface="Calibri" pitchFamily="34" charset="-120"/>
              </a:rPr>
              <a:t>12. Las stablecoins se clasifican por su colateral en fiat, cripto y algorítmicas. ¿Cuál es el riesgo principal de cada </a:t>
            </a:r>
            <a:r>
              <a:rPr lang="en-US" sz="1200" dirty="0" err="1">
                <a:solidFill>
                  <a:srgbClr val="FFFFFF"/>
                </a:solidFill>
                <a:latin typeface="Calibri" pitchFamily="34" charset="0"/>
                <a:ea typeface="Calibri" pitchFamily="34" charset="-122"/>
                <a:cs typeface="Calibri" pitchFamily="34" charset="-120"/>
              </a:rPr>
              <a:t>tipo</a:t>
            </a:r>
            <a:r>
              <a:rPr lang="en-US" sz="1200" dirty="0">
                <a:solidFill>
                  <a:srgbClr val="FFFFFF"/>
                </a:solidFill>
                <a:latin typeface="Calibri" pitchFamily="34" charset="0"/>
                <a:ea typeface="Calibri" pitchFamily="34" charset="-122"/>
                <a:cs typeface="Calibri" pitchFamily="34" charset="-120"/>
              </a:rPr>
              <a:t>?</a:t>
            </a:r>
          </a:p>
          <a:p>
            <a:pPr marL="0" indent="0">
              <a:spcAft>
                <a:spcPts val="800"/>
              </a:spcAft>
              <a:buNone/>
            </a:pPr>
            <a:r>
              <a:rPr lang="en-US" sz="1200" dirty="0">
                <a:solidFill>
                  <a:srgbClr val="FFFFFF"/>
                </a:solidFill>
                <a:latin typeface="Calibri" pitchFamily="34" charset="0"/>
                <a:ea typeface="Calibri" pitchFamily="34" charset="-122"/>
                <a:cs typeface="Calibri" pitchFamily="34" charset="-120"/>
              </a:rPr>
              <a:t>13. Explica cómo se suponía que el sistema Terra (UST) / Luna mantenía la paridad de UST con el </a:t>
            </a:r>
            <a:r>
              <a:rPr lang="en-US" sz="1200" dirty="0" err="1">
                <a:solidFill>
                  <a:srgbClr val="FFFFFF"/>
                </a:solidFill>
                <a:latin typeface="Calibri" pitchFamily="34" charset="0"/>
                <a:ea typeface="Calibri" pitchFamily="34" charset="-122"/>
                <a:cs typeface="Calibri" pitchFamily="34" charset="-120"/>
              </a:rPr>
              <a:t>dólar</a:t>
            </a:r>
            <a:r>
              <a:rPr lang="en-US" sz="1200" dirty="0">
                <a:solidFill>
                  <a:srgbClr val="FFFFFF"/>
                </a:solidFill>
                <a:latin typeface="Calibri" pitchFamily="34" charset="0"/>
                <a:ea typeface="Calibri" pitchFamily="34" charset="-122"/>
                <a:cs typeface="Calibri" pitchFamily="34" charset="-120"/>
              </a:rPr>
              <a:t>.</a:t>
            </a:r>
          </a:p>
          <a:p>
            <a:pPr marL="0" indent="0">
              <a:spcAft>
                <a:spcPts val="800"/>
              </a:spcAft>
              <a:buNone/>
            </a:pPr>
            <a:r>
              <a:rPr lang="en-US" sz="1200" dirty="0">
                <a:solidFill>
                  <a:srgbClr val="FFFFFF"/>
                </a:solidFill>
                <a:latin typeface="Calibri" pitchFamily="34" charset="0"/>
                <a:ea typeface="Calibri" pitchFamily="34" charset="-122"/>
                <a:cs typeface="Calibri" pitchFamily="34" charset="-120"/>
              </a:rPr>
              <a:t>14. ¿Qué eran Anchor Protocol y la Luna Foundation, y qué papel jugaron en la (falsa) sensación de seguridad del </a:t>
            </a:r>
            <a:r>
              <a:rPr lang="en-US" sz="1200" dirty="0" err="1">
                <a:solidFill>
                  <a:srgbClr val="FFFFFF"/>
                </a:solidFill>
                <a:latin typeface="Calibri" pitchFamily="34" charset="0"/>
                <a:ea typeface="Calibri" pitchFamily="34" charset="-122"/>
                <a:cs typeface="Calibri" pitchFamily="34" charset="-120"/>
              </a:rPr>
              <a:t>sistema</a:t>
            </a:r>
            <a:r>
              <a:rPr lang="en-US" sz="1200" dirty="0">
                <a:solidFill>
                  <a:srgbClr val="FFFFFF"/>
                </a:solidFill>
                <a:latin typeface="Calibri" pitchFamily="34" charset="0"/>
                <a:ea typeface="Calibri" pitchFamily="34" charset="-122"/>
                <a:cs typeface="Calibri" pitchFamily="34" charset="-120"/>
              </a:rPr>
              <a:t>?</a:t>
            </a:r>
          </a:p>
          <a:p>
            <a:pPr marL="0" indent="0">
              <a:spcAft>
                <a:spcPts val="800"/>
              </a:spcAft>
              <a:buNone/>
            </a:pPr>
            <a:r>
              <a:rPr lang="en-US" sz="1200" dirty="0">
                <a:solidFill>
                  <a:srgbClr val="FFFFFF"/>
                </a:solidFill>
                <a:latin typeface="Calibri" pitchFamily="34" charset="0"/>
                <a:ea typeface="Calibri" pitchFamily="34" charset="-122"/>
                <a:cs typeface="Calibri" pitchFamily="34" charset="-120"/>
              </a:rPr>
              <a:t>15. Describe qué fue la "espiral de la muerte" de UST/Luna durante el colapso de mayo de 2022.</a:t>
            </a:r>
          </a:p>
          <a:p>
            <a:pPr marL="0" indent="0">
              <a:spcAft>
                <a:spcPts val="800"/>
              </a:spcAft>
              <a:buNone/>
            </a:pPr>
            <a:r>
              <a:rPr lang="en-US" sz="1200" dirty="0">
                <a:solidFill>
                  <a:srgbClr val="FFFFFF"/>
                </a:solidFill>
                <a:latin typeface="Calibri" pitchFamily="34" charset="0"/>
                <a:ea typeface="Calibri" pitchFamily="34" charset="-122"/>
                <a:cs typeface="Calibri" pitchFamily="34" charset="-120"/>
              </a:rPr>
              <a:t>16. ¿Qué lecciones regulatorias dejó el colapso de Terra/Luna y qué efecto contagio provocó en el sector cripto?</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1 / 16</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600" b="1" dirty="0">
                <a:solidFill>
                  <a:srgbClr val="333333"/>
                </a:solidFill>
                <a:latin typeface="Calibri" pitchFamily="34" charset="0"/>
                <a:ea typeface="Calibri" pitchFamily="34" charset="-122"/>
                <a:cs typeface="Calibri" pitchFamily="34" charset="-120"/>
              </a:rPr>
              <a:t>Qué es la tokenización</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Define qué es la tokenización de activos y explica la diferencia entre un token que representa un activo real y un token nativo.</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400" dirty="0">
                <a:solidFill>
                  <a:srgbClr val="333333"/>
                </a:solidFill>
                <a:latin typeface="Calibri" pitchFamily="34" charset="0"/>
                <a:ea typeface="Calibri" pitchFamily="34" charset="-122"/>
                <a:cs typeface="Calibri" pitchFamily="34" charset="-120"/>
              </a:rPr>
              <a:t>La tokenización es la representación digital de un activo (real o financiero) en un registro distribuido, o la emisión de un activo en formato tokenizado. Un token que REPRESENTA un activo real está respaldado por algo que existe FUERA del libro mayor (un inmueble, oro, un bono) y puede negociarse dentro y fuera de la cadena. Un token NATIVO no representa nada externo: se define por su propia existencia en el ledger (tokens de utilidad, de gobernanza, sociales) y es independiente de los mercados tradicionales. La clave es si hay o no un activo subyacente fuera de la cadena.</a:t>
            </a:r>
            <a:endParaRPr lang="en-US" sz="14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1 / 16</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2 / 16</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600" b="1" dirty="0">
                <a:solidFill>
                  <a:srgbClr val="333333"/>
                </a:solidFill>
                <a:latin typeface="Calibri" pitchFamily="34" charset="0"/>
                <a:ea typeface="Calibri" pitchFamily="34" charset="-122"/>
                <a:cs typeface="Calibri" pitchFamily="34" charset="-120"/>
              </a:rPr>
              <a:t>Qué se puede tokenizar</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El material agrupa lo tokenizable en cuatro grandes familias. Enuméralas con un ejemplo de cada una.</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400" dirty="0">
                <a:solidFill>
                  <a:srgbClr val="333333"/>
                </a:solidFill>
                <a:latin typeface="Calibri" pitchFamily="34" charset="0"/>
                <a:ea typeface="Calibri" pitchFamily="34" charset="-122"/>
                <a:cs typeface="Calibri" pitchFamily="34" charset="-120"/>
              </a:rPr>
              <a:t>(1) DINERO: stablecoins respaldadas por fiat, CBDCs, RBDCs. (2) ACTIVOS INTANGIBLES: licencias, derechos, royalties, propiedad intelectual, patentes, acceso a productos/servicios. (3) OBJETOS FÍSICOS: commodities, coleccionables, dispositivos, real estate. (4) INSTRUMENTOS FINANCIEROS: renta fija, equities, futuros, opciones, acciones. La idea de fondo es que, en teoría, casi cualquier activo puede incorporarse a la cadena de bloques.</a:t>
            </a:r>
            <a:endParaRPr lang="en-US" sz="14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2 / 16</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3 / 16</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600" b="1" dirty="0">
                <a:solidFill>
                  <a:srgbClr val="333333"/>
                </a:solidFill>
                <a:latin typeface="Calibri" pitchFamily="34" charset="0"/>
                <a:ea typeface="Calibri" pitchFamily="34" charset="-122"/>
                <a:cs typeface="Calibri" pitchFamily="34" charset="-120"/>
              </a:rPr>
              <a:t>Beneficios de tokenizar — propiedad fraccionada</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¿Por qué la propiedad fraccionada se considera uno de los grandes beneficios de la tokenización y cómo se relaciona con la liquidez?</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400" dirty="0">
                <a:solidFill>
                  <a:srgbClr val="333333"/>
                </a:solidFill>
                <a:latin typeface="Calibri" pitchFamily="34" charset="0"/>
                <a:ea typeface="Calibri" pitchFamily="34" charset="-122"/>
                <a:cs typeface="Calibri" pitchFamily="34" charset="-120"/>
              </a:rPr>
              <a:t>Activos como el real estate comercial o el arte tienen un precio unitario muy alto, lo que excluye al inversor minorista. Al tokenizar el activo se puede fraccionar su valor en muchas participaciones pequeñas, bajando el umbral mínimo de inversión. Eso conecta directamente con la liquidez: al permitir que una base mucho más amplia de inversores de menor capitalización participe, un activo que antes era casi ilíquido (no se podía vender rápido) gana un mercado de compradores potenciales mucho mayor.</a:t>
            </a:r>
            <a:endParaRPr lang="en-US" sz="14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3 / 16</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4 / 16</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600" b="1" dirty="0">
                <a:solidFill>
                  <a:srgbClr val="333333"/>
                </a:solidFill>
                <a:latin typeface="Calibri" pitchFamily="34" charset="0"/>
                <a:ea typeface="Calibri" pitchFamily="34" charset="-122"/>
                <a:cs typeface="Calibri" pitchFamily="34" charset="-120"/>
              </a:rPr>
              <a:t>Beneficios — programabilidad y confianza</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¿Qué aportan respectivamente la programabilidad (smart contracts) y la inmutabilidad de la DLT al proceso de tokenización?</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400" dirty="0">
                <a:solidFill>
                  <a:srgbClr val="333333"/>
                </a:solidFill>
                <a:latin typeface="Calibri" pitchFamily="34" charset="0"/>
                <a:ea typeface="Calibri" pitchFamily="34" charset="-122"/>
                <a:cs typeface="Calibri" pitchFamily="34" charset="-120"/>
              </a:rPr>
              <a:t>La PROGRAMABILIDAD permite que los smart contracts automaticen la ejecución de transacciones complejas, acorten los ciclos de liquidación y optimicen la supervisión del cumplimiento normativo (KYC/AML). La INMUTABILIDAD y transparencia de la DLT reducen la dependencia de una única autoridad central y mitigan el riesgo de contraparte en la liquidación: todos los participantes ven el mismo registro y nadie puede alterarlo unilateralmente, lo que sustituye buena parte de la confianza que antes recaía en intermediarios.</a:t>
            </a:r>
            <a:endParaRPr lang="en-US" sz="14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4 / 16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5 / 16</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600" b="1" dirty="0">
                <a:solidFill>
                  <a:srgbClr val="333333"/>
                </a:solidFill>
                <a:latin typeface="Calibri" pitchFamily="34" charset="0"/>
                <a:ea typeface="Calibri" pitchFamily="34" charset="-122"/>
                <a:cs typeface="Calibri" pitchFamily="34" charset="-120"/>
              </a:rPr>
              <a:t>Ciclo de vida de un activo financiero tokenizado</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El material divide el ciclo de un activo financiero en Emisión, Trading y Post-trading. ¿Qué cambia en cada fase al usar blockchain frente al proceso tradicional?</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400" dirty="0">
                <a:solidFill>
                  <a:srgbClr val="333333"/>
                </a:solidFill>
                <a:latin typeface="Calibri" pitchFamily="34" charset="0"/>
                <a:ea typeface="Calibri" pitchFamily="34" charset="-122"/>
                <a:cs typeface="Calibri" pitchFamily="34" charset="-120"/>
              </a:rPr>
              <a:t>EMISIÓN: se democratiza la creación de activos (menos barreras de entrada) y se eliminan intermediarios, potenciando canales directos de comercialización. TRADING: permite operar 24/7 y las operaciones pueden cerrarse fuera de la cámara de compensación (desaparece el concepto de operación extrabursátil). POST-TRADING: el clearing y settlement se simplifican gracias al Delivery vs Payment (DvP), que elimina la cámara de compensación; eso sí, hay que reforzar la custodia de las claves y aparecen nuevos servicios puente entre activos tokenizados y no tokenizados.</a:t>
            </a:r>
            <a:endParaRPr lang="en-US" sz="14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5 / 16</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6 / 16</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600" b="1" dirty="0">
                <a:solidFill>
                  <a:srgbClr val="333333"/>
                </a:solidFill>
                <a:latin typeface="Calibri" pitchFamily="34" charset="0"/>
                <a:ea typeface="Calibri" pitchFamily="34" charset="-122"/>
                <a:cs typeface="Calibri" pitchFamily="34" charset="-120"/>
              </a:rPr>
              <a:t>Delivery vs Payment (DvP)</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¿Qué es el Delivery versus Payment (DvP) atómico y por qué reduce el riesgo de liquidación en una emisión de bonos tokenizada?</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400" dirty="0">
                <a:solidFill>
                  <a:srgbClr val="333333"/>
                </a:solidFill>
                <a:latin typeface="Calibri" pitchFamily="34" charset="0"/>
                <a:ea typeface="Calibri" pitchFamily="34" charset="-122"/>
                <a:cs typeface="Calibri" pitchFamily="34" charset="-120"/>
              </a:rPr>
              <a:t>DvP atómico significa que la entrega del activo (el bono) y el pago (el cash) ocurren en una ÚNICA operación indivisible dentro de un smart contract: o se ejecutan las dos patas a la vez, o no se ejecuta ninguna. Esto elimina el riesgo de liquidación (settlement risk), que es el riesgo de que una parte entregue su lado de la operación y la otra no cumpla. En el proceso tradicional, entre la entrega y el pago hay un desfase (D+3) durante el cual una parte está expuesta; con DvP atómico ese desfase desaparece.</a:t>
            </a:r>
            <a:endParaRPr lang="en-US" sz="14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6 / 16</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7 / 16</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600" b="1" dirty="0">
                <a:solidFill>
                  <a:srgbClr val="333333"/>
                </a:solidFill>
                <a:latin typeface="Calibri" pitchFamily="34" charset="0"/>
                <a:ea typeface="Calibri" pitchFamily="34" charset="-122"/>
                <a:cs typeface="Calibri" pitchFamily="34" charset="-120"/>
              </a:rPr>
              <a:t>Bono Santander 2019</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s-ES" sz="1800" dirty="0">
                <a:solidFill>
                  <a:srgbClr val="333333"/>
                </a:solidFill>
                <a:latin typeface="Calibri" pitchFamily="34" charset="0"/>
                <a:ea typeface="Calibri" pitchFamily="34" charset="-122"/>
                <a:cs typeface="Calibri" pitchFamily="34" charset="-120"/>
              </a:rPr>
              <a:t>¿Se ha emitido alguna vez un bono regulado en la red pública de Ethereum?</a:t>
            </a:r>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400" dirty="0" err="1">
                <a:solidFill>
                  <a:srgbClr val="333333"/>
                </a:solidFill>
                <a:latin typeface="Calibri" pitchFamily="34" charset="0"/>
                <a:ea typeface="Calibri" pitchFamily="34" charset="-122"/>
                <a:cs typeface="Calibri" pitchFamily="34" charset="-120"/>
              </a:rPr>
              <a:t>Sí</a:t>
            </a:r>
            <a:r>
              <a:rPr lang="en-US" sz="1400" dirty="0">
                <a:solidFill>
                  <a:srgbClr val="333333"/>
                </a:solidFill>
                <a:latin typeface="Calibri" pitchFamily="34" charset="0"/>
                <a:ea typeface="Calibri" pitchFamily="34" charset="-122"/>
                <a:cs typeface="Calibri" pitchFamily="34" charset="-120"/>
              </a:rPr>
              <a:t>, </a:t>
            </a:r>
            <a:r>
              <a:rPr lang="en-US" sz="1400" dirty="0" err="1">
                <a:solidFill>
                  <a:srgbClr val="333333"/>
                </a:solidFill>
                <a:latin typeface="Calibri" pitchFamily="34" charset="0"/>
                <a:ea typeface="Calibri" pitchFamily="34" charset="-122"/>
                <a:cs typeface="Calibri" pitchFamily="34" charset="-120"/>
              </a:rPr>
              <a:t>por</a:t>
            </a:r>
            <a:r>
              <a:rPr lang="en-US" sz="1400" dirty="0">
                <a:solidFill>
                  <a:srgbClr val="333333"/>
                </a:solidFill>
                <a:latin typeface="Calibri" pitchFamily="34" charset="0"/>
                <a:ea typeface="Calibri" pitchFamily="34" charset="-122"/>
                <a:cs typeface="Calibri" pitchFamily="34" charset="-120"/>
              </a:rPr>
              <a:t> </a:t>
            </a:r>
            <a:r>
              <a:rPr lang="en-US" sz="1400" dirty="0" err="1">
                <a:solidFill>
                  <a:srgbClr val="333333"/>
                </a:solidFill>
                <a:latin typeface="Calibri" pitchFamily="34" charset="0"/>
                <a:ea typeface="Calibri" pitchFamily="34" charset="-122"/>
                <a:cs typeface="Calibri" pitchFamily="34" charset="-120"/>
              </a:rPr>
              <a:t>ejemplo</a:t>
            </a:r>
            <a:r>
              <a:rPr lang="en-US" sz="1400" dirty="0">
                <a:solidFill>
                  <a:srgbClr val="333333"/>
                </a:solidFill>
                <a:latin typeface="Calibri" pitchFamily="34" charset="0"/>
                <a:ea typeface="Calibri" pitchFamily="34" charset="-122"/>
                <a:cs typeface="Calibri" pitchFamily="34" charset="-120"/>
              </a:rPr>
              <a:t> Banco Santander </a:t>
            </a:r>
            <a:r>
              <a:rPr lang="en-US" sz="1400" dirty="0" err="1">
                <a:solidFill>
                  <a:srgbClr val="333333"/>
                </a:solidFill>
                <a:latin typeface="Calibri" pitchFamily="34" charset="0"/>
                <a:ea typeface="Calibri" pitchFamily="34" charset="-122"/>
                <a:cs typeface="Calibri" pitchFamily="34" charset="-120"/>
              </a:rPr>
              <a:t>emitió</a:t>
            </a:r>
            <a:r>
              <a:rPr lang="en-US" sz="1400" dirty="0">
                <a:solidFill>
                  <a:srgbClr val="333333"/>
                </a:solidFill>
                <a:latin typeface="Calibri" pitchFamily="34" charset="0"/>
                <a:ea typeface="Calibri" pitchFamily="34" charset="-122"/>
                <a:cs typeface="Calibri" pitchFamily="34" charset="-120"/>
              </a:rPr>
              <a:t> uno </a:t>
            </a:r>
            <a:r>
              <a:rPr lang="en-US" sz="1400" dirty="0" err="1">
                <a:solidFill>
                  <a:srgbClr val="333333"/>
                </a:solidFill>
                <a:latin typeface="Calibri" pitchFamily="34" charset="0"/>
                <a:ea typeface="Calibri" pitchFamily="34" charset="-122"/>
                <a:cs typeface="Calibri" pitchFamily="34" charset="-120"/>
              </a:rPr>
              <a:t>en</a:t>
            </a:r>
            <a:r>
              <a:rPr lang="en-US" sz="1400" dirty="0">
                <a:solidFill>
                  <a:srgbClr val="333333"/>
                </a:solidFill>
                <a:latin typeface="Calibri" pitchFamily="34" charset="0"/>
                <a:ea typeface="Calibri" pitchFamily="34" charset="-122"/>
                <a:cs typeface="Calibri" pitchFamily="34" charset="-120"/>
              </a:rPr>
              <a:t> 2019. Fue un bono de 20 millones de USD, a 1 año, con 4 cupones y un interés fijo del 1,98%. Se usó la plataforma NIVAURA, que automatiza la producción de documentos legales y el book building, ofreciendo compensación y liquidación instantánea en lugar de D+3. Se emitió en la red PÚBLICA de Ethereum, tokenizando el bono, el efectivo y los cupones, y logrando la entrega vs. pago en una operación atómica e instantánea dentro de un smart contract. Santander ocupó los roles de emisor, inversor, agente y custodio.</a:t>
            </a:r>
            <a:endParaRPr lang="en-US" sz="14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7 / 16</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8 / 16</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600" b="1" dirty="0">
                <a:solidFill>
                  <a:srgbClr val="333333"/>
                </a:solidFill>
                <a:latin typeface="Calibri" pitchFamily="34" charset="0"/>
                <a:ea typeface="Calibri" pitchFamily="34" charset="-122"/>
                <a:cs typeface="Calibri" pitchFamily="34" charset="-120"/>
              </a:rPr>
              <a:t>Bono EIB 2021</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¿Qué diferencia esencial hay entre el bono de la EIB de 2021 y el de Santander de 2019 en cuanto al efectivo usado para liquidar?</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400" dirty="0">
                <a:solidFill>
                  <a:srgbClr val="333333"/>
                </a:solidFill>
                <a:latin typeface="Calibri" pitchFamily="34" charset="0"/>
                <a:ea typeface="Calibri" pitchFamily="34" charset="-122"/>
                <a:cs typeface="Calibri" pitchFamily="34" charset="-120"/>
              </a:rPr>
              <a:t>El bono de la EIB (European Investment Bank) fue de 100 millones de EUR, a 2 años, cupón cero, emitido bajo legislación francesa en la red pública de Ethereum. La diferencia clave es que el cash se manejó como CBDC: el Banque de France actuó como CBDC y se logró un DvP SINTÉTICO a través de la figura del Settlement Agent (Société Générale como Cash Correspondent). Es decir, mientras Santander tokenizó efectivo "normal", la EIB introdujo dinero de banco central (CBDC experimental) en la liquidación, con bancos como Goldman Sachs, SocGen y Santander de broker/dealers.</a:t>
            </a:r>
            <a:endParaRPr lang="en-US" sz="14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8 / 16</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9 / 16</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600" b="1" dirty="0">
                <a:solidFill>
                  <a:srgbClr val="333333"/>
                </a:solidFill>
                <a:latin typeface="Calibri" pitchFamily="34" charset="0"/>
                <a:ea typeface="Calibri" pitchFamily="34" charset="-122"/>
                <a:cs typeface="Calibri" pitchFamily="34" charset="-120"/>
              </a:rPr>
              <a:t>Proceso tradicional vs blockchain</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Cita al menos tres puntos del proceso de emisión de un bono que mejoran al pasar del modelo tradicional al de blockchain.</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400" dirty="0">
                <a:solidFill>
                  <a:srgbClr val="333333"/>
                </a:solidFill>
                <a:latin typeface="Calibri" pitchFamily="34" charset="0"/>
                <a:ea typeface="Calibri" pitchFamily="34" charset="-122"/>
                <a:cs typeface="Calibri" pitchFamily="34" charset="-120"/>
              </a:rPr>
              <a:t>(1) DOCUMENTACIÓN: en el tradicional el asesor legal prepara todo desde cero (costoso y repetitivo); en blockchain se usan plantillas estándar rellenadas automáticamente y el asesor solo revisa. (2) COMISIONES: el tradicional implica comisiones por listar el bono y márgenes en cada operación; en blockchain el bono se registra directamente reduciendo comisiones. (3) PAGO DE CUPONES Y LIQUIDACIÓN: en el tradicional los cupones se pagan vía agente de pagos y la inversión implica riesgo de liquidación; en blockchain los cupones se pagan con efectivo tokenizado, sin cámaras de compensación, y el DvP atómico reduce el riesgo de liquidación.</a:t>
            </a:r>
            <a:endParaRPr lang="en-US" sz="14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9 / 16</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10 / 16</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600" b="1" dirty="0">
                <a:solidFill>
                  <a:srgbClr val="333333"/>
                </a:solidFill>
                <a:latin typeface="Calibri" pitchFamily="34" charset="0"/>
                <a:ea typeface="Calibri" pitchFamily="34" charset="-122"/>
                <a:cs typeface="Calibri" pitchFamily="34" charset="-120"/>
              </a:rPr>
              <a:t>Ventajas competitivas de emitir en blockchain</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El material lista cinco ventajas competitivas de emitir deuda en blockchain. Enuméralas y explica brevemente el impacto de negocio de cada una.</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400" dirty="0">
                <a:solidFill>
                  <a:srgbClr val="333333"/>
                </a:solidFill>
                <a:latin typeface="Calibri" pitchFamily="34" charset="0"/>
                <a:ea typeface="Calibri" pitchFamily="34" charset="-122"/>
                <a:cs typeface="Calibri" pitchFamily="34" charset="-120"/>
              </a:rPr>
              <a:t>(1) EMISIÓN RÁPIDA: las plantillas bajan los tiempos de meses a días → permite incrementar el número de emisiones. (2) PLANTILLAS LEGALES (LML): aceleran creación y validación de contratos → reducen el coste legal. (3) SIN TASAS DE MERCADO: control total sobre los costes de emisión y venta → mejores precios para los clientes. (4) SIN RIESGO DE SETTLEMENT: el DvP elimina el riesgo de liquidación → libera capital. (5) MERCADO SECUNDARIO: emisiones atractivas para PYMES y al alcance del usuario final → nuevas oportunidades de negocio.</a:t>
            </a:r>
            <a:endParaRPr lang="en-US" sz="14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10 / 16</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11 / 16</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600" b="1" dirty="0">
                <a:solidFill>
                  <a:srgbClr val="333333"/>
                </a:solidFill>
                <a:latin typeface="Calibri" pitchFamily="34" charset="0"/>
                <a:ea typeface="Calibri" pitchFamily="34" charset="-122"/>
                <a:cs typeface="Calibri" pitchFamily="34" charset="-120"/>
              </a:rPr>
              <a:t>Stablecoins referenciadas a fiat</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¿Qué es una stablecoin referenciada a fiat? Compara USDT, USDC y DAI según su modelo de respaldo.</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400" dirty="0">
                <a:solidFill>
                  <a:srgbClr val="333333"/>
                </a:solidFill>
                <a:latin typeface="Calibri" pitchFamily="34" charset="0"/>
                <a:ea typeface="Calibri" pitchFamily="34" charset="-122"/>
                <a:cs typeface="Calibri" pitchFamily="34" charset="-120"/>
              </a:rPr>
              <a:t>Una stablecoin referenciada a fiat es un token (normalmente ERC-20) diseñado para mantener la paridad con una moneda fiat, casi siempre el USD. USDT (Tether): centralizado, respaldado por las reservas de la empresa (históricamente opacas). USDC (Circle/Coinbase): centralizado pero AUDITADO, con reservas en bancos. DAI (MakerDAO): descentralizado, respaldado con cripto colateral (ETH, USDC) en sobrecolateralización. Las dos primeras son fiat-backed centralizadas; DAI es cripto-colateralizada y descentralizada.</a:t>
            </a:r>
            <a:endParaRPr lang="en-US" sz="14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11 / 16</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12 / 16</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600" b="1" dirty="0">
                <a:solidFill>
                  <a:srgbClr val="333333"/>
                </a:solidFill>
                <a:latin typeface="Calibri" pitchFamily="34" charset="0"/>
                <a:ea typeface="Calibri" pitchFamily="34" charset="-122"/>
                <a:cs typeface="Calibri" pitchFamily="34" charset="-120"/>
              </a:rPr>
              <a:t>Tipos de colateral y sus riesgos</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Las stablecoins se clasifican por su colateral en fiat, cripto y algorítmicas. ¿Cuál es el riesgo principal de cada tipo?</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400" dirty="0">
                <a:solidFill>
                  <a:srgbClr val="333333"/>
                </a:solidFill>
                <a:latin typeface="Calibri" pitchFamily="34" charset="0"/>
                <a:ea typeface="Calibri" pitchFamily="34" charset="-122"/>
                <a:cs typeface="Calibri" pitchFamily="34" charset="-120"/>
              </a:rPr>
              <a:t>FIAT (USDT, USDC): el riesgo es la centralización y la opacidad de las reservas; un regulador puede congelar fondos y el usuario depende de que el emisor tenga realmente el dinero. CRIPTO (DAI): el riesgo es que una caída fuerte del colateral (ETH) dispare liquidaciones masivas; por eso se sobrecolateraliza. ALGORÍTMICAS (Terra/Luna): no tienen reservas directas, mantienen la paridad con algoritmos y tokens gemelos; el riesgo es el colapso total si se rompe la confianza, como ocurrió con Terra/Luna (60.000 M$ borrados en días).</a:t>
            </a:r>
            <a:endParaRPr lang="en-US" sz="14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12 / 16</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13 / 16</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600" b="1" dirty="0">
                <a:solidFill>
                  <a:srgbClr val="333333"/>
                </a:solidFill>
                <a:latin typeface="Calibri" pitchFamily="34" charset="0"/>
                <a:ea typeface="Calibri" pitchFamily="34" charset="-122"/>
                <a:cs typeface="Calibri" pitchFamily="34" charset="-120"/>
              </a:rPr>
              <a:t>Terra/Luna — el mecanismo</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Explica cómo se suponía que el sistema Terra (UST) / Luna mantenía la paridad de UST con el dólar.</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400" dirty="0">
                <a:solidFill>
                  <a:srgbClr val="333333"/>
                </a:solidFill>
                <a:latin typeface="Calibri" pitchFamily="34" charset="0"/>
                <a:ea typeface="Calibri" pitchFamily="34" charset="-122"/>
                <a:cs typeface="Calibri" pitchFamily="34" charset="-120"/>
              </a:rPr>
              <a:t>La dApp de Luna SIEMPRE compraba o vendía Terra (UST) a 1 $, independientemente de su precio de mercado: comprar UST a través de Luna los quemaba, venderlos los minteaba. Si UST bajaba de 1 $, salía a cuenta comprar UST barato en el mercado y venderlo a 1 $ vía Luna; eso quemaba UST, reducía la oferta y subía su precio de vuelta a 1 $. Si UST subía de 1 $, salía a cuenta comprar Luna para convertirla en UST y venderlo caro; eso aumentaba la oferta de UST y bajaba su precio. Era un sistema de arbitraje que dependía por completo de que la gente confiara en que Luna tendría valor para absorber UST.</a:t>
            </a:r>
            <a:endParaRPr lang="en-US" sz="14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13 / 16</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14 / 16</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600" b="1" dirty="0">
                <a:solidFill>
                  <a:srgbClr val="333333"/>
                </a:solidFill>
                <a:latin typeface="Calibri" pitchFamily="34" charset="0"/>
                <a:ea typeface="Calibri" pitchFamily="34" charset="-122"/>
                <a:cs typeface="Calibri" pitchFamily="34" charset="-120"/>
              </a:rPr>
              <a:t>Terra/Luna — Anchor y la Luna Foundation</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¿Qué eran Anchor Protocol y la Luna Foundation, y qué papel jugaron en la (falsa) sensación de seguridad del sistema?</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400" dirty="0">
                <a:solidFill>
                  <a:srgbClr val="333333"/>
                </a:solidFill>
                <a:latin typeface="Calibri" pitchFamily="34" charset="0"/>
                <a:ea typeface="Calibri" pitchFamily="34" charset="-122"/>
                <a:cs typeface="Calibri" pitchFamily="34" charset="-120"/>
              </a:rPr>
              <a:t>Anchor Protocol era un staking de Terra que ofrecía un 20% de rentabilidad anual, una cifra insostenible. Atrajo tanto capital que el 70% del UST en circulación estaba bloqueado en Anchor, lo que reducía artificialmente la volatilidad (la gente no movía sus UST). La Luna Foundation Guard se creó con reservas de 1.500 M$ en bitcoin para respaldar a UST en casos extremos. Ambos mecanismos daban la sensación de que el sistema estaba "atado y bien atado", pero el yield del 20% era una bomba de relojería y las reservas resultaron insuficientes cuando llegó el ataque.</a:t>
            </a:r>
            <a:endParaRPr lang="en-US" sz="14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14 / 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15 / 16</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600" b="1" dirty="0">
                <a:solidFill>
                  <a:srgbClr val="333333"/>
                </a:solidFill>
                <a:latin typeface="Calibri" pitchFamily="34" charset="0"/>
                <a:ea typeface="Calibri" pitchFamily="34" charset="-122"/>
                <a:cs typeface="Calibri" pitchFamily="34" charset="-120"/>
              </a:rPr>
              <a:t>Terra/Luna — la espiral de la muerte</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Describe qué fue la "espiral de la muerte" de UST/Luna durante el colapso de mayo de 2022.</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400" dirty="0">
                <a:solidFill>
                  <a:srgbClr val="333333"/>
                </a:solidFill>
                <a:latin typeface="Calibri" pitchFamily="34" charset="0"/>
                <a:ea typeface="Calibri" pitchFamily="34" charset="-122"/>
                <a:cs typeface="Calibri" pitchFamily="34" charset="-120"/>
              </a:rPr>
              <a:t>Tras retiradas masivas coordinadas de UST (350 M$ primero, luego 650 M$ más) UST perdió la paridad y cayó a 0,7 $. Luna empezó a comprar UST a 1 $ para defender la paridad, minteando enormes cantidades de Luna para absorber el UST. Eso hundió el precio de Luna. Al ver caer Luna, los stakers de Anchor entraron en pánico y retiraron su UST en masa para venderlo antes de perderlo todo, lo que metía aún más UST al sistema y obligaba a mintear más Luna: oferta de Luna disparada → precio de Luna a casi cero → UST sin respaldo → más pánico. Ese bucle que se retroalimenta es la espiral de la muerte. UST acabó valiendo 0,0006 $.</a:t>
            </a:r>
            <a:endParaRPr lang="en-US" sz="14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15 / 16</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22627E"/>
          </a:solidFill>
          <a:ln w="12700">
            <a:solidFill>
              <a:srgbClr val="22627E"/>
            </a:solidFill>
            <a:prstDash val="solid"/>
          </a:ln>
        </p:spPr>
      </p:sp>
      <p:sp>
        <p:nvSpPr>
          <p:cNvPr id="3" name="Shape 1"/>
          <p:cNvSpPr/>
          <p:nvPr/>
        </p:nvSpPr>
        <p:spPr>
          <a:xfrm>
            <a:off x="457200" y="274320"/>
            <a:ext cx="2377440" cy="457200"/>
          </a:xfrm>
          <a:prstGeom prst="rect">
            <a:avLst/>
          </a:prstGeom>
          <a:solidFill>
            <a:srgbClr val="22627E"/>
          </a:solidFill>
          <a:ln w="12700">
            <a:solidFill>
              <a:srgbClr val="22627E"/>
            </a:solidFill>
            <a:prstDash val="solid"/>
          </a:ln>
        </p:spPr>
      </p:sp>
      <p:sp>
        <p:nvSpPr>
          <p:cNvPr id="4" name="Text 2"/>
          <p:cNvSpPr/>
          <p:nvPr/>
        </p:nvSpPr>
        <p:spPr>
          <a:xfrm>
            <a:off x="457200" y="274320"/>
            <a:ext cx="23774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 16 / 16</a:t>
            </a:r>
            <a:endParaRPr lang="en-US" sz="1600" dirty="0"/>
          </a:p>
        </p:txBody>
      </p:sp>
      <p:sp>
        <p:nvSpPr>
          <p:cNvPr id="5" name="Text 3"/>
          <p:cNvSpPr/>
          <p:nvPr/>
        </p:nvSpPr>
        <p:spPr>
          <a:xfrm>
            <a:off x="3017520" y="256032"/>
            <a:ext cx="8686800" cy="640080"/>
          </a:xfrm>
          <a:prstGeom prst="rect">
            <a:avLst/>
          </a:prstGeom>
          <a:noFill/>
          <a:ln/>
        </p:spPr>
        <p:txBody>
          <a:bodyPr wrap="square" rtlCol="0" anchor="ctr"/>
          <a:lstStyle/>
          <a:p>
            <a:pPr marL="0" indent="0">
              <a:buNone/>
            </a:pPr>
            <a:r>
              <a:rPr lang="en-US" sz="2600" b="1" dirty="0">
                <a:solidFill>
                  <a:srgbClr val="333333"/>
                </a:solidFill>
                <a:latin typeface="Calibri" pitchFamily="34" charset="0"/>
                <a:ea typeface="Calibri" pitchFamily="34" charset="-122"/>
                <a:cs typeface="Calibri" pitchFamily="34" charset="-120"/>
              </a:rPr>
              <a:t>Terra/Luna — lecciones y consecuencias</a:t>
            </a:r>
            <a:endParaRPr lang="en-US" sz="2600" dirty="0"/>
          </a:p>
        </p:txBody>
      </p:sp>
      <p:sp>
        <p:nvSpPr>
          <p:cNvPr id="6" name="Shape 4"/>
          <p:cNvSpPr/>
          <p:nvPr/>
        </p:nvSpPr>
        <p:spPr>
          <a:xfrm>
            <a:off x="457200" y="960120"/>
            <a:ext cx="10972800" cy="27432"/>
          </a:xfrm>
          <a:prstGeom prst="rect">
            <a:avLst/>
          </a:prstGeom>
          <a:solidFill>
            <a:srgbClr val="22627E"/>
          </a:solidFill>
          <a:ln w="12700">
            <a:solidFill>
              <a:srgbClr val="22627E"/>
            </a:solidFill>
            <a:prstDash val="solid"/>
          </a:ln>
        </p:spPr>
      </p:sp>
      <p:sp>
        <p:nvSpPr>
          <p:cNvPr id="7" name="Text 5"/>
          <p:cNvSpPr/>
          <p:nvPr/>
        </p:nvSpPr>
        <p:spPr>
          <a:xfrm>
            <a:off x="457200" y="1188720"/>
            <a:ext cx="1828800" cy="365760"/>
          </a:xfrm>
          <a:prstGeom prst="rect">
            <a:avLst/>
          </a:prstGeom>
          <a:noFill/>
          <a:ln/>
        </p:spPr>
        <p:txBody>
          <a:bodyPr wrap="square" rtlCol="0" anchor="ctr"/>
          <a:lstStyle/>
          <a:p>
            <a:pPr marL="0" indent="0">
              <a:buNone/>
            </a:pPr>
            <a:r>
              <a:rPr lang="en-US" sz="1400" b="1" dirty="0">
                <a:solidFill>
                  <a:srgbClr val="B45D09"/>
                </a:solidFill>
                <a:latin typeface="Calibri" pitchFamily="34" charset="0"/>
                <a:ea typeface="Calibri" pitchFamily="34" charset="-122"/>
                <a:cs typeface="Calibri" pitchFamily="34" charset="-120"/>
              </a:rPr>
              <a:t>Pregunta</a:t>
            </a:r>
            <a:endParaRPr lang="en-US" sz="1400" dirty="0"/>
          </a:p>
        </p:txBody>
      </p:sp>
      <p:sp>
        <p:nvSpPr>
          <p:cNvPr id="8" name="Text 6"/>
          <p:cNvSpPr/>
          <p:nvPr/>
        </p:nvSpPr>
        <p:spPr>
          <a:xfrm>
            <a:off x="457200" y="1554480"/>
            <a:ext cx="11247120" cy="1371600"/>
          </a:xfrm>
          <a:prstGeom prst="rect">
            <a:avLst/>
          </a:prstGeom>
          <a:noFill/>
          <a:ln/>
        </p:spPr>
        <p:txBody>
          <a:bodyPr wrap="square" rtlCol="0" anchor="t"/>
          <a:lstStyle/>
          <a:p>
            <a:pPr marL="0" indent="0">
              <a:buNone/>
            </a:pPr>
            <a:r>
              <a:rPr lang="en-US" sz="1800" dirty="0">
                <a:solidFill>
                  <a:srgbClr val="333333"/>
                </a:solidFill>
                <a:latin typeface="Calibri" pitchFamily="34" charset="0"/>
                <a:ea typeface="Calibri" pitchFamily="34" charset="-122"/>
                <a:cs typeface="Calibri" pitchFamily="34" charset="-120"/>
              </a:rPr>
              <a:t>¿Qué lecciones regulatorias dejó el colapso de Terra/Luna y qué efecto contagio provocó en el sector cripto?</a:t>
            </a:r>
            <a:endParaRPr lang="en-US" sz="1800" dirty="0"/>
          </a:p>
        </p:txBody>
      </p:sp>
      <p:sp>
        <p:nvSpPr>
          <p:cNvPr id="9" name="Shape 7"/>
          <p:cNvSpPr/>
          <p:nvPr/>
        </p:nvSpPr>
        <p:spPr>
          <a:xfrm>
            <a:off x="457200" y="2971800"/>
            <a:ext cx="10972800" cy="18288"/>
          </a:xfrm>
          <a:prstGeom prst="rect">
            <a:avLst/>
          </a:prstGeom>
          <a:solidFill>
            <a:srgbClr val="CCCCCC"/>
          </a:solidFill>
          <a:ln w="12700">
            <a:solidFill>
              <a:srgbClr val="CCCCCC"/>
            </a:solidFill>
            <a:prstDash val="solid"/>
          </a:ln>
        </p:spPr>
      </p:sp>
      <p:sp>
        <p:nvSpPr>
          <p:cNvPr id="10" name="Text 8"/>
          <p:cNvSpPr/>
          <p:nvPr/>
        </p:nvSpPr>
        <p:spPr>
          <a:xfrm>
            <a:off x="457200" y="3108960"/>
            <a:ext cx="2743200" cy="365760"/>
          </a:xfrm>
          <a:prstGeom prst="rect">
            <a:avLst/>
          </a:prstGeom>
          <a:noFill/>
          <a:ln/>
        </p:spPr>
        <p:txBody>
          <a:bodyPr wrap="square" rtlCol="0" anchor="ctr"/>
          <a:lstStyle/>
          <a:p>
            <a:pPr marL="0" indent="0">
              <a:buNone/>
            </a:pPr>
            <a:r>
              <a:rPr lang="en-US" sz="1400" b="1" dirty="0">
                <a:solidFill>
                  <a:srgbClr val="22627E"/>
                </a:solidFill>
                <a:latin typeface="Calibri" pitchFamily="34" charset="0"/>
                <a:ea typeface="Calibri" pitchFamily="34" charset="-122"/>
                <a:cs typeface="Calibri" pitchFamily="34" charset="-120"/>
              </a:rPr>
              <a:t>Respuesta razonada</a:t>
            </a:r>
            <a:endParaRPr lang="en-US" sz="1400" dirty="0"/>
          </a:p>
        </p:txBody>
      </p:sp>
      <p:sp>
        <p:nvSpPr>
          <p:cNvPr id="11" name="Text 9"/>
          <p:cNvSpPr/>
          <p:nvPr/>
        </p:nvSpPr>
        <p:spPr>
          <a:xfrm>
            <a:off x="457200" y="3474720"/>
            <a:ext cx="11247120" cy="3200400"/>
          </a:xfrm>
          <a:prstGeom prst="rect">
            <a:avLst/>
          </a:prstGeom>
          <a:noFill/>
          <a:ln/>
        </p:spPr>
        <p:txBody>
          <a:bodyPr wrap="square" rtlCol="0" anchor="t"/>
          <a:lstStyle/>
          <a:p>
            <a:pPr marL="0" indent="0">
              <a:buNone/>
            </a:pPr>
            <a:r>
              <a:rPr lang="en-US" sz="1400" dirty="0">
                <a:solidFill>
                  <a:srgbClr val="333333"/>
                </a:solidFill>
                <a:latin typeface="Calibri" pitchFamily="34" charset="0"/>
                <a:ea typeface="Calibri" pitchFamily="34" charset="-122"/>
                <a:cs typeface="Calibri" pitchFamily="34" charset="-120"/>
              </a:rPr>
              <a:t>Lecciones regulatorias: (1) las stablecoins sin respaldo real son un riesgo SISTÉMICO; (2) hacen falta reservas auditables (proof-of-reserves); (3) hay que supervisar las plataformas que prometen rendimientos fijos altos (el 20% de Anchor). Efecto contagio: provocó una caída general del mercado cripto y arrastró a Celsius Network (congeló retiradas y quebró), a Three Arrows Capital (3AC, en liquidación judicial) y a Voyager Digital (quiebra tras el impago de 3AC). Do Kwon, fundador, fue buscado por Interpol y arrestado en 2023. La conclusión del mercado: ninguna stablecoin algorítmica ha demostrado resiliencia a largo plazo; dominan las fiat-backed (USDC, USDT) y las sobrecolateralizadas (DAI).</a:t>
            </a:r>
            <a:endParaRPr lang="en-US" sz="1400" dirty="0"/>
          </a:p>
        </p:txBody>
      </p:sp>
      <p:sp>
        <p:nvSpPr>
          <p:cNvPr id="12" name="Text 10"/>
          <p:cNvSpPr/>
          <p:nvPr/>
        </p:nvSpPr>
        <p:spPr>
          <a:xfrm>
            <a:off x="10515600" y="6446520"/>
            <a:ext cx="1371600" cy="274320"/>
          </a:xfrm>
          <a:prstGeom prst="rect">
            <a:avLst/>
          </a:prstGeom>
          <a:noFill/>
          <a:ln/>
        </p:spPr>
        <p:txBody>
          <a:bodyPr wrap="square" rtlCol="0" anchor="ctr"/>
          <a:lstStyle/>
          <a:p>
            <a:pPr marL="0" indent="0" algn="r">
              <a:buNone/>
            </a:pPr>
            <a:r>
              <a:rPr lang="en-US" sz="1200" dirty="0">
                <a:solidFill>
                  <a:srgbClr val="333333"/>
                </a:solidFill>
                <a:latin typeface="Calibri" pitchFamily="34" charset="0"/>
                <a:ea typeface="Calibri" pitchFamily="34" charset="-122"/>
                <a:cs typeface="Calibri" pitchFamily="34" charset="-120"/>
              </a:rPr>
              <a:t>16 / 16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2799</Words>
  <Application>Microsoft Office PowerPoint</Application>
  <PresentationFormat>Panorámica</PresentationFormat>
  <Paragraphs>150</Paragraphs>
  <Slides>18</Slides>
  <Notes>18</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18</vt:i4>
      </vt:variant>
    </vt:vector>
  </HeadingPairs>
  <TitlesOfParts>
    <vt:vector size="21"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Repaso del día 1 (Módulo 4)</dc:title>
  <dc:subject>PptxGenJS Presentation</dc:subject>
  <dc:creator>PptxGenJS</dc:creator>
  <cp:lastModifiedBy>Javier Nieto</cp:lastModifiedBy>
  <cp:revision>3</cp:revision>
  <dcterms:created xsi:type="dcterms:W3CDTF">2026-06-07T12:35:54Z</dcterms:created>
  <dcterms:modified xsi:type="dcterms:W3CDTF">2026-06-07T12:53:46Z</dcterms:modified>
</cp:coreProperties>
</file>