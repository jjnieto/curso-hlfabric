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138" y="5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6171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22627E"/>
          </a:solidFill>
          <a:ln w="12700">
            <a:solidFill>
              <a:srgbClr val="22627E"/>
            </a:solidFill>
            <a:prstDash val="solid"/>
          </a:ln>
        </p:spPr>
      </p:sp>
      <p:sp>
        <p:nvSpPr>
          <p:cNvPr id="3" name="Shape 1"/>
          <p:cNvSpPr/>
          <p:nvPr/>
        </p:nvSpPr>
        <p:spPr>
          <a:xfrm>
            <a:off x="0" y="6720840"/>
            <a:ext cx="12191695" cy="137160"/>
          </a:xfrm>
          <a:prstGeom prst="rect">
            <a:avLst/>
          </a:prstGeom>
          <a:solidFill>
            <a:srgbClr val="22627E"/>
          </a:solidFill>
          <a:ln w="12700">
            <a:solidFill>
              <a:srgbClr val="22627E"/>
            </a:solidFill>
            <a:prstDash val="solid"/>
          </a:ln>
        </p:spPr>
      </p:sp>
      <p:sp>
        <p:nvSpPr>
          <p:cNvPr id="4" name="Text 2"/>
          <p:cNvSpPr/>
          <p:nvPr/>
        </p:nvSpPr>
        <p:spPr>
          <a:xfrm>
            <a:off x="457200" y="365760"/>
            <a:ext cx="10972800" cy="457200"/>
          </a:xfrm>
          <a:prstGeom prst="rect">
            <a:avLst/>
          </a:prstGeom>
          <a:noFill/>
          <a:ln/>
        </p:spPr>
        <p:txBody>
          <a:bodyPr wrap="square" rtlCol="0" anchor="ctr"/>
          <a:lstStyle/>
          <a:p>
            <a:pPr marL="0" indent="0">
              <a:buNone/>
            </a:pPr>
            <a:r>
              <a:rPr lang="en-US" sz="1600" b="1" dirty="0">
                <a:solidFill>
                  <a:srgbClr val="22627E"/>
                </a:solidFill>
                <a:latin typeface="Calibri" pitchFamily="34" charset="0"/>
                <a:ea typeface="Calibri" pitchFamily="34" charset="-122"/>
                <a:cs typeface="Calibri" pitchFamily="34" charset="-120"/>
              </a:rPr>
              <a:t>Modulo 4: Tokenizacion y dinero digital</a:t>
            </a:r>
            <a:endParaRPr lang="en-US" sz="1600" dirty="0"/>
          </a:p>
        </p:txBody>
      </p:sp>
      <p:sp>
        <p:nvSpPr>
          <p:cNvPr id="5" name="Text 3"/>
          <p:cNvSpPr/>
          <p:nvPr/>
        </p:nvSpPr>
        <p:spPr>
          <a:xfrm>
            <a:off x="457200" y="1828800"/>
            <a:ext cx="10972800" cy="2286000"/>
          </a:xfrm>
          <a:prstGeom prst="rect">
            <a:avLst/>
          </a:prstGeom>
          <a:noFill/>
          <a:ln/>
        </p:spPr>
        <p:txBody>
          <a:bodyPr wrap="square" rtlCol="0" anchor="ctr"/>
          <a:lstStyle/>
          <a:p>
            <a:pPr marL="0" indent="0">
              <a:buNone/>
            </a:pPr>
            <a:r>
              <a:rPr lang="en-US" sz="5400" b="1" dirty="0">
                <a:solidFill>
                  <a:srgbClr val="22627E"/>
                </a:solidFill>
                <a:latin typeface="Calibri" pitchFamily="34" charset="0"/>
                <a:ea typeface="Calibri" pitchFamily="34" charset="-122"/>
                <a:cs typeface="Calibri" pitchFamily="34" charset="-120"/>
              </a:rPr>
              <a:t>Repaso del día 2</a:t>
            </a:r>
            <a:endParaRPr lang="en-US" sz="5400" dirty="0"/>
          </a:p>
        </p:txBody>
      </p:sp>
      <p:sp>
        <p:nvSpPr>
          <p:cNvPr id="6" name="Text 4"/>
          <p:cNvSpPr/>
          <p:nvPr/>
        </p:nvSpPr>
        <p:spPr>
          <a:xfrm>
            <a:off x="457200" y="4114800"/>
            <a:ext cx="10972800" cy="1645920"/>
          </a:xfrm>
          <a:prstGeom prst="rect">
            <a:avLst/>
          </a:prstGeom>
          <a:noFill/>
          <a:ln/>
        </p:spPr>
        <p:txBody>
          <a:bodyPr wrap="square" rtlCol="0" anchor="ctr"/>
          <a:lstStyle/>
          <a:p>
            <a:pPr marL="0" indent="0">
              <a:buNone/>
            </a:pPr>
            <a:r>
              <a:rPr lang="en-US" sz="2200" dirty="0">
                <a:solidFill>
                  <a:srgbClr val="333333"/>
                </a:solidFill>
                <a:latin typeface="Calibri" pitchFamily="34" charset="0"/>
                <a:ea typeface="Calibri" pitchFamily="34" charset="-122"/>
                <a:cs typeface="Calibri" pitchFamily="34" charset="-120"/>
              </a:rPr>
              <a:t>16 preguntas sobre CBDCs, el Euro Digital y sus modelos, el Yuan Digital, Fnality y la clasificación del dinero digital</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2627E"/>
        </a:solidFill>
        <a:effectLst/>
      </p:bgPr>
    </p:bg>
    <p:spTree>
      <p:nvGrpSpPr>
        <p:cNvPr id="1" name=""/>
        <p:cNvGrpSpPr/>
        <p:nvPr/>
      </p:nvGrpSpPr>
      <p:grpSpPr>
        <a:xfrm>
          <a:off x="0" y="0"/>
          <a:ext cx="0" cy="0"/>
          <a:chOff x="0" y="0"/>
          <a:chExt cx="0" cy="0"/>
        </a:xfrm>
      </p:grpSpPr>
      <p:sp>
        <p:nvSpPr>
          <p:cNvPr id="2" name="Text 0"/>
          <p:cNvSpPr/>
          <p:nvPr/>
        </p:nvSpPr>
        <p:spPr>
          <a:xfrm>
            <a:off x="457200" y="228600"/>
            <a:ext cx="10972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Las 16 preguntas — Repaso día 2 (Módulo 4)</a:t>
            </a:r>
            <a:endParaRPr lang="en-US" sz="2800" dirty="0"/>
          </a:p>
        </p:txBody>
      </p:sp>
      <p:sp>
        <p:nvSpPr>
          <p:cNvPr id="3" name="Shape 1"/>
          <p:cNvSpPr/>
          <p:nvPr/>
        </p:nvSpPr>
        <p:spPr>
          <a:xfrm>
            <a:off x="457200" y="868680"/>
            <a:ext cx="10972800" cy="27432"/>
          </a:xfrm>
          <a:prstGeom prst="rect">
            <a:avLst/>
          </a:prstGeom>
          <a:solidFill>
            <a:srgbClr val="FFFFFF"/>
          </a:solidFill>
          <a:ln w="12700">
            <a:solidFill>
              <a:srgbClr val="FFFFFF"/>
            </a:solidFill>
            <a:prstDash val="solid"/>
          </a:ln>
        </p:spPr>
      </p:sp>
      <p:sp>
        <p:nvSpPr>
          <p:cNvPr id="4" name="Text 2"/>
          <p:cNvSpPr/>
          <p:nvPr/>
        </p:nvSpPr>
        <p:spPr>
          <a:xfrm>
            <a:off x="457200" y="1051560"/>
            <a:ext cx="5760720" cy="5303520"/>
          </a:xfrm>
          <a:prstGeom prst="rect">
            <a:avLst/>
          </a:prstGeom>
          <a:noFill/>
          <a:ln/>
        </p:spPr>
        <p:txBody>
          <a:bodyPr wrap="square" rtlCol="0" anchor="t"/>
          <a:lstStyle/>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El material describe la actitud de los bancos centrales hacia las cripto en cuatro fases (negación → sorpresa → reacción → regulación). ¿Qué hecho concreto disparó la fase de "</a:t>
            </a:r>
            <a:r>
              <a:rPr lang="en-US" sz="1200" dirty="0" err="1">
                <a:solidFill>
                  <a:srgbClr val="FFFFFF"/>
                </a:solidFill>
                <a:latin typeface="Calibri" pitchFamily="34" charset="0"/>
                <a:ea typeface="Calibri" pitchFamily="34" charset="-122"/>
                <a:cs typeface="Calibri" pitchFamily="34" charset="-120"/>
              </a:rPr>
              <a:t>sorpresa</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err="1">
                <a:solidFill>
                  <a:srgbClr val="FFFFFF"/>
                </a:solidFill>
                <a:latin typeface="Calibri" pitchFamily="34" charset="0"/>
                <a:ea typeface="Calibri" pitchFamily="34" charset="-122"/>
                <a:cs typeface="Calibri" pitchFamily="34" charset="-120"/>
              </a:rPr>
              <a:t>Enumera</a:t>
            </a:r>
            <a:r>
              <a:rPr lang="en-US" sz="1200" dirty="0">
                <a:solidFill>
                  <a:srgbClr val="FFFFFF"/>
                </a:solidFill>
                <a:latin typeface="Calibri" pitchFamily="34" charset="0"/>
                <a:ea typeface="Calibri" pitchFamily="34" charset="-122"/>
                <a:cs typeface="Calibri" pitchFamily="34" charset="-120"/>
              </a:rPr>
              <a:t> al menos cuatro beneficios que los bancos centrales esperan obtener con una CBDC y explica brevemente cada uno.</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Resume las fases del proyecto del Euro Digital del BCE y di cuándo sería su lanzamiento operativo más </a:t>
            </a:r>
            <a:r>
              <a:rPr lang="en-US" sz="1200" dirty="0" err="1">
                <a:solidFill>
                  <a:srgbClr val="FFFFFF"/>
                </a:solidFill>
                <a:latin typeface="Calibri" pitchFamily="34" charset="0"/>
                <a:ea typeface="Calibri" pitchFamily="34" charset="-122"/>
                <a:cs typeface="Calibri" pitchFamily="34" charset="-120"/>
              </a:rPr>
              <a:t>temprano</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El extracto de requerimientos incluye el R8: "control de la moneda, fomentar su uso como medio de pago y desalentar su uso como depósito". ¿Por qué el BCE querría DESALENTAR su uso como </a:t>
            </a:r>
            <a:r>
              <a:rPr lang="en-US" sz="1200" dirty="0" err="1">
                <a:solidFill>
                  <a:srgbClr val="FFFFFF"/>
                </a:solidFill>
                <a:latin typeface="Calibri" pitchFamily="34" charset="0"/>
                <a:ea typeface="Calibri" pitchFamily="34" charset="-122"/>
                <a:cs typeface="Calibri" pitchFamily="34" charset="-120"/>
              </a:rPr>
              <a:t>depósito</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Describe el "modelo directo basado en cuentas" del Euro Digital y su principal problema de </a:t>
            </a:r>
            <a:r>
              <a:rPr lang="en-US" sz="1200" dirty="0" err="1">
                <a:solidFill>
                  <a:srgbClr val="FFFFFF"/>
                </a:solidFill>
                <a:latin typeface="Calibri" pitchFamily="34" charset="0"/>
                <a:ea typeface="Calibri" pitchFamily="34" charset="-122"/>
                <a:cs typeface="Calibri" pitchFamily="34" charset="-120"/>
              </a:rPr>
              <a:t>privacidad</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¿Cuál es la diferencia clave entre el modelo "directo" y el "intermediado" del Euro Digital, y qué implica para la </a:t>
            </a:r>
            <a:r>
              <a:rPr lang="en-US" sz="1200" dirty="0" err="1">
                <a:solidFill>
                  <a:srgbClr val="FFFFFF"/>
                </a:solidFill>
                <a:latin typeface="Calibri" pitchFamily="34" charset="0"/>
                <a:ea typeface="Calibri" pitchFamily="34" charset="-122"/>
                <a:cs typeface="Calibri" pitchFamily="34" charset="-120"/>
              </a:rPr>
              <a:t>privacidad</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¿Qué diferencia hay entre los modelos del Euro Digital "basados en cuentas" y los "basados en tokens"? Menciona el impacto en la </a:t>
            </a:r>
            <a:r>
              <a:rPr lang="en-US" sz="1200" dirty="0" err="1">
                <a:solidFill>
                  <a:srgbClr val="FFFFFF"/>
                </a:solidFill>
                <a:latin typeface="Calibri" pitchFamily="34" charset="0"/>
                <a:ea typeface="Calibri" pitchFamily="34" charset="-122"/>
                <a:cs typeface="Calibri" pitchFamily="34" charset="-120"/>
              </a:rPr>
              <a:t>programabilidad</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¿Cuáles son las características principales del Yuan Digital (e-CNY) y qué dato llamativo hay sobre su tecnología?</a:t>
            </a:r>
            <a:endParaRPr lang="en-US" sz="1200" dirty="0"/>
          </a:p>
        </p:txBody>
      </p:sp>
      <p:sp>
        <p:nvSpPr>
          <p:cNvPr id="5" name="Text 3"/>
          <p:cNvSpPr/>
          <p:nvPr/>
        </p:nvSpPr>
        <p:spPr>
          <a:xfrm>
            <a:off x="6355080" y="1051560"/>
            <a:ext cx="5760720" cy="5303520"/>
          </a:xfrm>
          <a:prstGeom prst="rect">
            <a:avLst/>
          </a:prstGeom>
          <a:noFill/>
          <a:ln/>
        </p:spPr>
        <p:txBody>
          <a:bodyPr wrap="square" rtlCol="0" anchor="t"/>
          <a:lstStyle/>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9. El e-CNY ofrece 4 tipos de wallet según el nivel de KYC. Explica la lógica que relaciona el KYC con los límites de la wallet.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10. ¿Cómo se hace el onboarding y el funding/defunding en el Yuan Digital, y qué papel tienen los </a:t>
            </a:r>
            <a:r>
              <a:rPr lang="en-US" sz="1200" dirty="0" err="1">
                <a:solidFill>
                  <a:srgbClr val="FFFFFF"/>
                </a:solidFill>
                <a:latin typeface="Calibri" pitchFamily="34" charset="0"/>
                <a:ea typeface="Calibri" pitchFamily="34" charset="-122"/>
                <a:cs typeface="Calibri" pitchFamily="34" charset="-120"/>
              </a:rPr>
              <a:t>bancos</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11. ¿Qué formas de pago soporta el Yuan Digital y qué ventaja aportan las tarjetas LCD </a:t>
            </a:r>
            <a:r>
              <a:rPr lang="en-US" sz="1200" dirty="0" err="1">
                <a:solidFill>
                  <a:srgbClr val="FFFFFF"/>
                </a:solidFill>
                <a:latin typeface="Calibri" pitchFamily="34" charset="0"/>
                <a:ea typeface="Calibri" pitchFamily="34" charset="-122"/>
                <a:cs typeface="Calibri" pitchFamily="34" charset="-120"/>
              </a:rPr>
              <a:t>precargadas</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12. ¿Qué problema del sistema financiero actual pretende resolver Fnality y cuánto cuesta ese </a:t>
            </a:r>
            <a:r>
              <a:rPr lang="en-US" sz="1200" dirty="0" err="1">
                <a:solidFill>
                  <a:srgbClr val="FFFFFF"/>
                </a:solidFill>
                <a:latin typeface="Calibri" pitchFamily="34" charset="0"/>
                <a:ea typeface="Calibri" pitchFamily="34" charset="-122"/>
                <a:cs typeface="Calibri" pitchFamily="34" charset="-120"/>
              </a:rPr>
              <a:t>problema</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13. ¿Qué es la Utility Settlement Coin, </a:t>
            </a:r>
            <a:r>
              <a:rPr lang="en-US" sz="1200" dirty="0" err="1">
                <a:solidFill>
                  <a:srgbClr val="FFFFFF"/>
                </a:solidFill>
                <a:latin typeface="Calibri" pitchFamily="34" charset="0"/>
                <a:ea typeface="Calibri" pitchFamily="34" charset="-122"/>
                <a:cs typeface="Calibri" pitchFamily="34" charset="-120"/>
              </a:rPr>
              <a:t>el</a:t>
            </a:r>
            <a:r>
              <a:rPr lang="en-US" sz="1200" dirty="0">
                <a:solidFill>
                  <a:srgbClr val="FFFFFF"/>
                </a:solidFill>
                <a:latin typeface="Calibri" pitchFamily="34" charset="0"/>
                <a:ea typeface="Calibri" pitchFamily="34" charset="-122"/>
                <a:cs typeface="Calibri" pitchFamily="34" charset="-120"/>
              </a:rPr>
              <a:t> Token </a:t>
            </a:r>
            <a:r>
              <a:rPr lang="en-US" sz="1200" dirty="0" err="1">
                <a:solidFill>
                  <a:srgbClr val="FFFFFF"/>
                </a:solidFill>
                <a:latin typeface="Calibri" pitchFamily="34" charset="0"/>
                <a:ea typeface="Calibri" pitchFamily="34" charset="-122"/>
                <a:cs typeface="Calibri" pitchFamily="34" charset="-120"/>
              </a:rPr>
              <a:t>que</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usa</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Fnality</a:t>
            </a:r>
            <a:r>
              <a:rPr lang="en-US" sz="1200" dirty="0">
                <a:solidFill>
                  <a:srgbClr val="FFFFFF"/>
                </a:solidFill>
                <a:latin typeface="Calibri" pitchFamily="34" charset="0"/>
                <a:ea typeface="Calibri" pitchFamily="34" charset="-122"/>
                <a:cs typeface="Calibri" pitchFamily="34" charset="-120"/>
              </a:rPr>
              <a:t>, y por qué la fungibilidad es el problema central que </a:t>
            </a:r>
            <a:r>
              <a:rPr lang="en-US" sz="1200" dirty="0" err="1">
                <a:solidFill>
                  <a:srgbClr val="FFFFFF"/>
                </a:solidFill>
                <a:latin typeface="Calibri" pitchFamily="34" charset="0"/>
                <a:ea typeface="Calibri" pitchFamily="34" charset="-122"/>
                <a:cs typeface="Calibri" pitchFamily="34" charset="-120"/>
              </a:rPr>
              <a:t>ataca</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14. Explica el ciclo funding → transferencia → defunding en la red de </a:t>
            </a:r>
            <a:r>
              <a:rPr lang="en-US" sz="1200" dirty="0" err="1">
                <a:solidFill>
                  <a:srgbClr val="FFFFFF"/>
                </a:solidFill>
                <a:latin typeface="Calibri" pitchFamily="34" charset="0"/>
                <a:ea typeface="Calibri" pitchFamily="34" charset="-122"/>
                <a:cs typeface="Calibri" pitchFamily="34" charset="-120"/>
              </a:rPr>
              <a:t>Fnality</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15. El material clasifica el dinero digital tokenizado en 4 tipos según el emisor. Enuméralos con su emisor y un ejemplo de cada uno.</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16. Según la tabla de criterios, ¿en qué tipo de red opera cada forma de dinero digital y cuál es su grado de regulación?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El ciclo de adopción de las CBDCs</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material describe la actitud de los bancos centrales hacia las cripto en cuatro fases (negación → sorpresa → reacción → regulación). ¿Qué hecho concreto disparó la fase de "sorpresa"?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La fase de NEGACIÓN era el discurso clásico: "Bitcoin y las cripto no funcionarán, son un scam". La SORPRESA llegó cuando Facebook anunció Libra (su stablecoin global) y el PBOC (banco central chino) anunció el Yuan Digital. Eso disparó la REACCIÓN: miedo a perder la soberanía monetaria (la capacidad de emitir dinero) y el anuncio de las CBDCs propias. Finalmente llega la REGULACIÓN, pasando del "Wild West" a un marco normativo. La idea clave: los bancos centrales no se movieron hasta que un actor privado (Facebook) amenazó su monopolio sobre el dinero.</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2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Beneficios que persiguen las CBDCs</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Enumera al menos cuatro beneficios que los bancos centrales esperan obtener con una CBDC y explica brevemente cada uno.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(1) DINERO PROGRAMABLE: permite automatizar relaciones comerciales (pagos condicionados). (2) PAGOS RÁPIDOS: instantáneos entre países, aunque exige interoperabilidad entre las distintas CBDCs. (3) SISTEMA DE CONTINGENCIA: respaldo frente a los sistemas de pago digital privados actuales si fallan. (4) EFICIENCIA EN POLÍTICA MONETARIA: por ejemplo el "dinero helicóptero" (estímulos directos al ciudadano). (5) REDUCCIÓN DEL FRAUDE: trazabilidad total del dinero. (6) MAYOR SEGURIDAD frente al robo respecto al efectivo físico.</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2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3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Cronología del Euro Digital</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Resume las fases del proyecto del Euro Digital del BCE y di cuándo sería su lanzamiento operativo más temprano.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Octubre 2020: el BCE abre una consulta pública (hasta enero 2021), recibe más de 8.000 respuestas. Abril 2021: se publican resultados, la prioridad nº1 es la PRIVACIDAD (~43%), seguida de seguridad (~18%) y pagos en toda la zona euro (~11%). Julio 2021: arranca formalmente la fase de investigación. Octubre 2023: concluye la investigación y desde el 1 de noviembre de 2023 está en fase de PREPARACIÓN (hasta al menos octubre 2025). El lanzamiento operativo NO está garantizado antes de 2028-2029. Lección: es un proyecto lento y prudente, con la privacidad como principal preocupación ciudadana.</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3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4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Requerimientos del Euro Digital</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extracto de requerimientos incluye el R8: "control de la moneda, fomentar su uso como medio de pago y desalentar su uso como depósito". ¿Por qué el BCE querría DESALENTAR su uso como depósito?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Porque si los ciudadanos pudieran acumular grandes cantidades de euro digital (dinero de banco central, sin riesgo), retirarían sus depósitos de los bancos comerciales para guardarlos en euro digital. Eso vaciaría los balances de los bancos comerciales (desintermediación bancaria), que dejarían de tener depósitos con los que dar crédito, desestabilizando el sistema financiero. Por eso el euro digital se diseña como MEDIO DE PAGO (para gastar) y no como depósito de valor (para ahorrar), normalmente con límites de tenencia por persona. Otros requerimientos: R1 programabilidad, R2 pagos offline, R5 respaldar los sistemas actuales por canales diferentes, R9 cooperación con el mercado.</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4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5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Modelo directo basado en cuentas</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Describe el "modelo directo basado en cuentas" del Euro Digital y su principal problema de privacidad.</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En este modelo el Banco Central (BCE) proporciona la infraestructura donde se almacenan las cuentas de los usuarios, y las operaciones se liquidan directamente en esa infraestructura. Los bancos comerciales solo actúan como puntos de acceso (hacen el KYC/onboarding) pero NO mantienen los fondos de los clientes. El gran problema de privacidad: el BCE VE TODAS LAS TRANSACCIONES de todos los ciudadanos, porque todo pasa por su infraestructura. El KYC lo hacen los bancos y el AML el propio BCE. La programabilidad es limitada y los pagos offline están por desarrollar.</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5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6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Modelo intermediado vs directo</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¿Cuál es la diferencia clave entre el modelo "directo" y el "intermediado" del Euro Digital, y qué implica para la privacidad?</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En el modelo DIRECTO el Banco Central mantiene la infraestructura y las cuentas, y ve todas las transacciones. En el modelo INTERMEDIADO cada banco comercial proporciona su propia infraestructura y actúa como custodio de los fondos de sus clientes; el Banco Central solo ve los agregados por banco. Para la privacidad esto es mejor: cada banco solo ve las transacciones de SUS clientes (igual que ahora), no hay un único ojo que lo vea todo. En el intermediado, además, si el dinero se considera fondos de clientes, la diferencia con el modelo actual es que no habría coeficiente de reservas según Basilea.</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6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7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Modelos basados en cuentas vs tokens</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diferencia hay entre los modelos del Euro Digital "basados en cuentas" y los "basados en tokens"? Menciona el impacto en la programabilidad.</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Los modelos basados en CUENTAS funcionan como la banca tradicional: hay saldos en cuentas y se actualizan con cada operación; no usan DLT necesariamente. Los modelos basados en TOKENS usan una red DLT donde el dinero existe como tokens que se transfieren entre wallets. La diferencia práctica clave está en la PROGRAMABILIDAD: en los modelos de cuentas es "limitada" o "parcial", mientras que en los modelos de tokens (directo o intermediado) la programabilidad es "Sí" plena y los pagos offline son más viables, porque el token es un objeto digital con lógica propia. La privacidad en los modelos de token es "definible" (se puede ajustar).</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7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8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Yuan Digital (e-CNY) — características</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¿Cuáles son las características principales del Yuan Digital (e-CNY) y qué dato llamativo hay sobre su tecnología?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El e-CNY se lanzó coincidiendo con los Juegos Olímpicos de Beijing, alcanzó cientos de millones de usuarios y está disponible en un número limitado de ciudades chinas. Permite pagos online y offline, es responsabilidad del banco central (similar al efectivo) y su valor es dinero de banco central. El dato más llamativo: "aparentemente" NO usa blockchain ni DLT. Es decir, una de las CBDCs más avanzadas del mundo probablemente funciona sobre una arquitectura centralizada tradicional, no sobre una cadena de bloques. Eso refuerza la idea de que "CBDC" no implica necesariamente "blockchain".</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8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9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Yuan Digital — wallets por nivel de KYC</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e-CNY ofrece 4 tipos de wallet según el nivel de KYC. Explica la lógica que relaciona el KYC con los límites de la wallet.</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Hay 4 categorías de wallet, de menos a más identificación: (1) solo móvil → anónima, con límites muy bajos; (2) móvil + tarjeta de identidad; (3) móvil + ID + cuenta bancaria; (4) lo anterior + visita física al banco → máxima identificación, límites altos o ilimitados. La lógica es proporcional: cuanto MÁS KYC aportas, MÁS altos son tus límites de saldo, transacción única, diario y anual. Una wallet anónima (categoría 4 en la tabla del material) tiene topes pequeños (p. ej. saldo de 10.000 ¥); las categorías totalmente identificadas pueden ser ilimitadas. Es un equilibrio entre privacidad/inclusión (puedes usarlo casi sin identificarte) y control del fraude/AML (los importes grandes exigen identificación completa).</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9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10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Yuan Digital — funding y onboarding</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¿Cómo se hace el onboarding y el funding/defunding en el Yuan Digital, y qué papel tienen los bancos?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El onboarding se hace a través de siete bancos propiedad del gobierno y dos bancos por internet, que abren las wallets y fijan los límites según el KYC. El funding (cargar la wallet) y defunding (sacar dinero) se hacen contra una cuenta bancaria o tarjeta de crédito, con una API abierta a todos los bancos y comunicación entre apps vía deep link. La liquidez está DELEGADA a los bancos: aunque el e-CNY sea dinero de banco central, son los bancos comerciales quienes gestionan la carga/descarga y deciden sus propios límites. Es un modelo de dos niveles: el banco central emite, los bancos distribuyen.</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10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11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Yuan Digital — formas de pago</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formas de pago soporta el Yuan Digital y qué ventaja aportan las tarjetas LCD precargadas?</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Soporta pagos instantáneos con QR (el receptor genera un código QR con el importe y el pagador lo escanea y confirma) y tap-to-pay vía QR o NFC, incluyendo pagos de móvil a móvil y en modo offline. Las TARJETAS LCD precargadas son una tarjeta física con dinero precargado, tap-to-pay, que funciona online y offline y muestra el saldo disponible en una pantalla LCD. Su gran ventaja es la INCLUSIÓN: permiten usar el e-CNY a personas sin smartphone o sin conexión (mayores, zonas rurales), acercando el dinero digital a la universalidad del efectivo.</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11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12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Fnality — el problema que resuelve</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problema del sistema financiero actual pretende resolver Fnality y cuánto cuesta ese problema?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El sistema financiero está excesivamente intermediado. Los bancos necesitan una provisión de liquidez de unos 100.000 millones de USD de media, y entre el 10% y el 30% de esa provisión es para cubrir la operativa INTRADÍA, debido a la fragmentación de la liquidez y la dependencia de intermediarios (cámaras de compensación, bancos corresponsales). Gestionar esa liquidez intradía cuesta al menos 100 millones de USD anuales. Fnality quiere reducir esa liquidez inmovilizada y esos costes permitiendo liquidación instantánea (T0) entre bancos con un token respaldado por dinero de banco central.</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12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13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Fnality — la USC y la fungibilidad</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es la Utility Settlement Coin (USC) de Fnality y por qué la fungibilidad es el problema central que ataca?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La USC es un token respaldado 1:1 por dinero depositado en cuentas de BANCO CENTRAL. El problema de la fungibilidad: dos stablecoins distintas, aunque digan estar respaldadas por el mismo activo (p. ej. una de JP Morgan y otra de Citi), NO son fungibles entre sí — 1 token de JPM no equivale automáticamente a 1 token de Citi, porque conllevan riesgo de emisor distinto. Eso fragmenta la liquidez. Como la USC está respaldada por dinero de banco central (el activo más seguro y neutral), todas las USC SÍ son fungibles entre sí: $.USC de un banco = $.USC de otro. Eso elimina el riesgo de contraparte y unifica la liquidez.</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13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14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Fnality — funding, transferencia y defunding</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Explica el ciclo funding → transferencia → defunding en la red de Fnality.</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FUNDING (convertir fiat en tokens): el banco A hace una transferencia (wire) desde su cuenta de banco central a la cuenta de Fnality; Fnality verifica la recepción y mintea tokens por esa cantidad. Está restringido al horario del banco central. TRANSFERENCIA: el banco A firma una transacción para enviar X tokens al wallet del banco B; se mina en la red con settlement instantáneo y el banco B verifica la recepción. Esto ocurre 24/7/365. DEFUNDING (convertir tokens en fiat): el banco B envía los tokens al wallet de Fnality, Fnality los quema (burning) y transfiere la misma cantidad de fiat a la cuenta del banco B; también sujeto al horario del banco central. Clave: la transferencia entre bancos es instantánea y 24/7, pero la entrada/salida de fiat depende del horario del banco central.</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14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15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Clasificación de los 4 tipos de dinero digital</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material clasifica el dinero digital tokenizado en 4 tipos según el emisor. Enuméralos con su emisor y un ejemplo de cada uno.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(1) STABLECOIN: emisor NO financiero (empresa privada, no fuertemente regulada), respaldada 1:1 con depósitos bancarios u otros activos; ejemplos Tether, USDC. (2) TOKENISED COMMERCIAL BANK MONEY: emitida por un BANCO comercial (fuertemente regulado), respaldada 1:1 con depósitos de banco comercial; ejemplos JP Coin, SAN Coin. (3) TOKENIZED FMI MONEY: emitida por una Infraestructura del Mercado Financiero (FMI), respaldada con depósitos de banco central; ejemplo Fnality, USDF. (4) CBDC: emitida por un BANCO CENTRAL, nueva forma de dinero digital; ejemplos Sand Dollar, Digital Yuan. La diferencia esencial es QUIÉN emite y, por tanto, quién asume el riesgo de contraparte.</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15 / 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16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400" b="1" dirty="0">
                <a:solidFill>
                  <a:srgbClr val="333333"/>
                </a:solidFill>
                <a:latin typeface="Calibri" pitchFamily="34" charset="0"/>
                <a:ea typeface="Calibri" pitchFamily="34" charset="-122"/>
                <a:cs typeface="Calibri" pitchFamily="34" charset="-120"/>
              </a:rPr>
              <a:t>Criterios de clasificación — redes y regulación</a:t>
            </a:r>
            <a:endParaRPr lang="en-US" sz="24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Según la tabla de criterios, ¿en qué tipo de red opera cada forma de dinero digital y cuál es su grado de regulación?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STABLECOIN: blockchain PÚBLICA, regulación parcial (en EE.UU. depende de depósitos bancarios), casos de uso retail y DeFi. TOKENISED BANK MONEY: blockchain privada o pública con KYC, regulación parcial, uso intragrupo/circuito cerrado. TOKENIZED FMI MONEY (Fnality): blockchain PRIVADA, totalmente regulada, uso wholesale (mayorista entre bancos). CBDC: blockchain privada (o sin DLT como el Yuan), totalmente regulada, uso retail. Patrón general: cuanto más cerca está el emisor del banco central, más privada es la red y más fuerte la regulación; las stablecoins privadas son las que viven en redes públicas con menor regulación.</a:t>
            </a:r>
            <a:endParaRPr lang="en-US" sz="13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16 / 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3015</Words>
  <Application>Microsoft Office PowerPoint</Application>
  <PresentationFormat>Panorámica</PresentationFormat>
  <Paragraphs>150</Paragraphs>
  <Slides>18</Slides>
  <Notes>18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Repaso del día 2 (Módulo 4)</dc:title>
  <dc:subject>PptxGenJS Presentation</dc:subject>
  <dc:creator>PptxGenJS</dc:creator>
  <cp:lastModifiedBy>Javier Nieto</cp:lastModifiedBy>
  <cp:revision>2</cp:revision>
  <dcterms:created xsi:type="dcterms:W3CDTF">2026-06-07T12:57:51Z</dcterms:created>
  <dcterms:modified xsi:type="dcterms:W3CDTF">2026-06-09T06:26:18Z</dcterms:modified>
</cp:coreProperties>
</file>