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4" r:id="rId13"/>
    <p:sldId id="267" r:id="rId14"/>
    <p:sldId id="268" r:id="rId15"/>
    <p:sldId id="269" r:id="rId16"/>
    <p:sldId id="270" r:id="rId17"/>
    <p:sldId id="271" r:id="rId18"/>
    <p:sldId id="272" r:id="rId19"/>
    <p:sldId id="273" r:id="rId2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68"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12188952" cy="13716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65760"/>
            <a:ext cx="10972800" cy="457200"/>
          </a:xfrm>
          <a:prstGeom prst="rect">
            <a:avLst/>
          </a:prstGeom>
          <a:noFill/>
        </p:spPr>
        <p:txBody>
          <a:bodyPr wrap="square"/>
          <a:lstStyle/>
          <a:p>
            <a:pPr algn="l">
              <a:defRPr sz="1600" b="1">
                <a:solidFill>
                  <a:srgbClr val="22627E"/>
                </a:solidFill>
                <a:latin typeface="Calibri"/>
              </a:defRPr>
            </a:pPr>
            <a:r>
              <a:t>Modulo 1: Blockchain y Dinero</a:t>
            </a:r>
          </a:p>
        </p:txBody>
      </p:sp>
      <p:sp>
        <p:nvSpPr>
          <p:cNvPr id="5" name="TextBox 4"/>
          <p:cNvSpPr txBox="1"/>
          <p:nvPr/>
        </p:nvSpPr>
        <p:spPr>
          <a:xfrm>
            <a:off x="457200" y="1828800"/>
            <a:ext cx="10972800" cy="2286000"/>
          </a:xfrm>
          <a:prstGeom prst="rect">
            <a:avLst/>
          </a:prstGeom>
          <a:noFill/>
        </p:spPr>
        <p:txBody>
          <a:bodyPr wrap="square"/>
          <a:lstStyle/>
          <a:p>
            <a:pPr algn="l">
              <a:defRPr sz="5400" b="1">
                <a:solidFill>
                  <a:srgbClr val="22627E"/>
                </a:solidFill>
                <a:latin typeface="Calibri"/>
              </a:defRPr>
            </a:pPr>
            <a:r>
              <a:t>Repaso del día 1</a:t>
            </a:r>
          </a:p>
        </p:txBody>
      </p:sp>
      <p:sp>
        <p:nvSpPr>
          <p:cNvPr id="6" name="TextBox 5"/>
          <p:cNvSpPr txBox="1"/>
          <p:nvPr/>
        </p:nvSpPr>
        <p:spPr>
          <a:xfrm>
            <a:off x="457200" y="4114800"/>
            <a:ext cx="10972800" cy="1371600"/>
          </a:xfrm>
          <a:prstGeom prst="rect">
            <a:avLst/>
          </a:prstGeom>
          <a:noFill/>
        </p:spPr>
        <p:txBody>
          <a:bodyPr wrap="square"/>
          <a:lstStyle/>
          <a:p>
            <a:pPr algn="l">
              <a:defRPr sz="2400" b="0">
                <a:solidFill>
                  <a:srgbClr val="333333"/>
                </a:solidFill>
                <a:latin typeface="Calibri"/>
              </a:defRPr>
            </a:pPr>
            <a:r>
              <a:t>16 preguntas sobre el origen del dinero, la banca, la crisis de 2008 y el nacimiento de Bitcoin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10972800" cy="640080"/>
          </a:xfrm>
          <a:prstGeom prst="rect">
            <a:avLst/>
          </a:prstGeom>
          <a:noFill/>
        </p:spPr>
        <p:txBody>
          <a:bodyPr wrap="square"/>
          <a:lstStyle/>
          <a:p>
            <a:pPr algn="l">
              <a:defRPr sz="2800" b="1">
                <a:solidFill>
                  <a:srgbClr val="FFFFFF"/>
                </a:solidFill>
                <a:latin typeface="Calibri"/>
              </a:defRPr>
            </a:pPr>
            <a:r>
              <a:t>Las 16 preguntas — Repaso día 1</a:t>
            </a:r>
          </a:p>
        </p:txBody>
      </p:sp>
      <p:sp>
        <p:nvSpPr>
          <p:cNvPr id="4" name="Rectangle 3"/>
          <p:cNvSpPr/>
          <p:nvPr/>
        </p:nvSpPr>
        <p:spPr>
          <a:xfrm>
            <a:off x="457200" y="868680"/>
            <a:ext cx="10972800" cy="27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51560"/>
            <a:ext cx="5760720" cy="5669280"/>
          </a:xfrm>
          <a:prstGeom prst="rect">
            <a:avLst/>
          </a:prstGeom>
          <a:noFill/>
        </p:spPr>
        <p:txBody>
          <a:bodyPr wrap="square">
            <a:spAutoFit/>
          </a:bodyPr>
          <a:lstStyle/>
          <a:p>
            <a:pPr>
              <a:spcAft>
                <a:spcPts val="800"/>
              </a:spcAft>
              <a:defRPr sz="1400">
                <a:solidFill>
                  <a:srgbClr val="FFFFFF"/>
                </a:solidFill>
                <a:latin typeface="Calibri"/>
              </a:defRPr>
            </a:pPr>
            <a:r>
              <a:t>1. ¿Cuál fue la principal limitación del trueque que llevó a la aparición del dinero?</a:t>
            </a:r>
          </a:p>
          <a:p>
            <a:pPr>
              <a:spcAft>
                <a:spcPts val="800"/>
              </a:spcAft>
              <a:defRPr sz="1400">
                <a:solidFill>
                  <a:srgbClr val="FFFFFF"/>
                </a:solidFill>
                <a:latin typeface="Calibri"/>
              </a:defRPr>
            </a:pPr>
            <a:r>
              <a:t>2. ¿En qué se diferencia el dinero commodity del dinero convertible?</a:t>
            </a:r>
          </a:p>
          <a:p>
            <a:pPr>
              <a:spcAft>
                <a:spcPts val="800"/>
              </a:spcAft>
              <a:defRPr sz="1400">
                <a:solidFill>
                  <a:srgbClr val="FFFFFF"/>
                </a:solidFill>
                <a:latin typeface="Calibri"/>
              </a:defRPr>
            </a:pPr>
            <a:r>
              <a:t>3. ¿Qué es el dinero fiduciario y cuándo se estableció globalmente?</a:t>
            </a:r>
          </a:p>
          <a:p>
            <a:pPr>
              <a:spcAft>
                <a:spcPts val="800"/>
              </a:spcAft>
              <a:defRPr sz="1400">
                <a:solidFill>
                  <a:srgbClr val="FFFFFF"/>
                </a:solidFill>
                <a:latin typeface="Calibri"/>
              </a:defRPr>
            </a:pPr>
            <a:r>
              <a:t>4. ¿Por qué el dinero fiduciario tiene valor si no está respaldado por un bien físico?</a:t>
            </a:r>
          </a:p>
          <a:p>
            <a:pPr>
              <a:spcAft>
                <a:spcPts val="800"/>
              </a:spcAft>
              <a:defRPr sz="1400">
                <a:solidFill>
                  <a:srgbClr val="FFFFFF"/>
                </a:solidFill>
                <a:latin typeface="Calibri"/>
              </a:defRPr>
            </a:pPr>
            <a:r>
              <a:t>5. ¿Qué es la reserva fraccionaria y cómo nació?</a:t>
            </a:r>
          </a:p>
          <a:p>
            <a:pPr>
              <a:spcAft>
                <a:spcPts val="800"/>
              </a:spcAft>
              <a:defRPr sz="1400">
                <a:solidFill>
                  <a:srgbClr val="FFFFFF"/>
                </a:solidFill>
                <a:latin typeface="Calibri"/>
              </a:defRPr>
            </a:pPr>
            <a:r>
              <a:t>6. Define riesgo de contrapartida y pon dos ejemplos cotidianos.</a:t>
            </a:r>
          </a:p>
          <a:p>
            <a:pPr>
              <a:spcAft>
                <a:spcPts val="800"/>
              </a:spcAft>
              <a:defRPr sz="1400">
                <a:solidFill>
                  <a:srgbClr val="FFFFFF"/>
                </a:solidFill>
                <a:latin typeface="Calibri"/>
              </a:defRPr>
            </a:pPr>
            <a:r>
              <a:t>7. ¿En qué consiste el settlement y por qué es el momento clave de una transacción?</a:t>
            </a:r>
          </a:p>
          <a:p>
            <a:pPr>
              <a:spcAft>
                <a:spcPts val="800"/>
              </a:spcAft>
              <a:defRPr sz="1400">
                <a:solidFill>
                  <a:srgbClr val="FFFFFF"/>
                </a:solidFill>
                <a:latin typeface="Calibri"/>
              </a:defRPr>
            </a:pPr>
            <a:r>
              <a:t>8. ¿Por qué el settlement es complejo y costoso en las transacciones interbancarias actuales?</a:t>
            </a:r>
          </a:p>
        </p:txBody>
      </p:sp>
      <p:sp>
        <p:nvSpPr>
          <p:cNvPr id="6" name="TextBox 5"/>
          <p:cNvSpPr txBox="1"/>
          <p:nvPr/>
        </p:nvSpPr>
        <p:spPr>
          <a:xfrm>
            <a:off x="6309360" y="1051560"/>
            <a:ext cx="5486400" cy="5669280"/>
          </a:xfrm>
          <a:prstGeom prst="rect">
            <a:avLst/>
          </a:prstGeom>
          <a:noFill/>
        </p:spPr>
        <p:txBody>
          <a:bodyPr wrap="square">
            <a:spAutoFit/>
          </a:bodyPr>
          <a:lstStyle/>
          <a:p>
            <a:pPr>
              <a:spcAft>
                <a:spcPts val="800"/>
              </a:spcAft>
              <a:defRPr sz="1400">
                <a:solidFill>
                  <a:srgbClr val="FFFFFF"/>
                </a:solidFill>
                <a:latin typeface="Calibri"/>
              </a:defRPr>
            </a:pPr>
            <a:r>
              <a:t>9. ¿Cuál es la diferencia clave entre cómo liquida Bizum y cómo liquida PayPal?</a:t>
            </a:r>
          </a:p>
          <a:p>
            <a:pPr>
              <a:spcAft>
                <a:spcPts val="800"/>
              </a:spcAft>
              <a:defRPr sz="1400">
                <a:solidFill>
                  <a:srgbClr val="FFFFFF"/>
                </a:solidFill>
                <a:latin typeface="Calibri"/>
              </a:defRPr>
            </a:pPr>
            <a:r>
              <a:t>10. ¿Qué ratio aproximado puede aplicar un banco con la reserva fraccionaria y para qué debe usarlo?</a:t>
            </a:r>
          </a:p>
          <a:p>
            <a:pPr>
              <a:spcAft>
                <a:spcPts val="800"/>
              </a:spcAft>
              <a:defRPr sz="1400">
                <a:solidFill>
                  <a:srgbClr val="FFFFFF"/>
                </a:solidFill>
                <a:latin typeface="Calibri"/>
              </a:defRPr>
            </a:pPr>
            <a:r>
              <a:t>11. ¿Qué falló en la crisis de 2008 desde la perspectiva del riesgo de contrapartida?</a:t>
            </a:r>
          </a:p>
          <a:p>
            <a:pPr>
              <a:spcAft>
                <a:spcPts val="800"/>
              </a:spcAft>
              <a:defRPr sz="1400">
                <a:solidFill>
                  <a:srgbClr val="FFFFFF"/>
                </a:solidFill>
                <a:latin typeface="Calibri"/>
              </a:defRPr>
            </a:pPr>
            <a:r>
              <a:t>12. ¿Qué papel jugaron los bancos centrales antes, durante y después de la crisis de 2008?</a:t>
            </a:r>
          </a:p>
          <a:p>
            <a:pPr>
              <a:spcAft>
                <a:spcPts val="800"/>
              </a:spcAft>
              <a:defRPr sz="1400">
                <a:solidFill>
                  <a:srgbClr val="FFFFFF"/>
                </a:solidFill>
                <a:latin typeface="Calibri"/>
              </a:defRPr>
            </a:pPr>
            <a:r>
              <a:t>13. ¿Qué propuso Satoshi Nakamoto en octubre de 2008 y por qué fue una respuesta directa a la crisis?</a:t>
            </a:r>
          </a:p>
          <a:p>
            <a:pPr>
              <a:spcAft>
                <a:spcPts val="800"/>
              </a:spcAft>
              <a:defRPr sz="1400">
                <a:solidFill>
                  <a:srgbClr val="FFFFFF"/>
                </a:solidFill>
                <a:latin typeface="Calibri"/>
              </a:defRPr>
            </a:pPr>
            <a:r>
              <a:t>14. ¿Qué simboliza la frase 'The Times 03/Jan/2009 Chancellor on brink of second bailout for banks' del genesis block?</a:t>
            </a:r>
          </a:p>
          <a:p>
            <a:pPr>
              <a:spcAft>
                <a:spcPts val="800"/>
              </a:spcAft>
              <a:defRPr sz="1400">
                <a:solidFill>
                  <a:srgbClr val="FFFFFF"/>
                </a:solidFill>
                <a:latin typeface="Calibri"/>
              </a:defRPr>
            </a:pPr>
            <a:r>
              <a:t>15. Enumera los cuatro problemas técnicos que blockchain resuelve para hacer posible el dinero digital sin intermediarios.</a:t>
            </a:r>
          </a:p>
          <a:p>
            <a:pPr>
              <a:spcAft>
                <a:spcPts val="800"/>
              </a:spcAft>
              <a:defRPr sz="1400">
                <a:solidFill>
                  <a:srgbClr val="FFFFFF"/>
                </a:solidFill>
                <a:latin typeface="Calibri"/>
              </a:defRPr>
            </a:pPr>
            <a:r>
              <a:t>16. ¿Qué es el problema del doble gasto y por qué hace que el dinero digital sea fundamentalmente distinto de los archivos?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2377440" cy="4572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2377440" cy="457200"/>
          </a:xfrm>
          <a:prstGeom prst="rect">
            <a:avLst/>
          </a:prstGeom>
          <a:noFill/>
        </p:spPr>
        <p:txBody>
          <a:bodyPr wrap="square"/>
          <a:lstStyle/>
          <a:p>
            <a:pPr algn="ctr">
              <a:defRPr sz="1600" b="1">
                <a:solidFill>
                  <a:srgbClr val="FFFFFF"/>
                </a:solidFill>
                <a:latin typeface="Calibri"/>
              </a:defRPr>
            </a:pPr>
            <a:r>
              <a:t>PREGUNTA 1 / 16</a:t>
            </a:r>
          </a:p>
        </p:txBody>
      </p:sp>
      <p:sp>
        <p:nvSpPr>
          <p:cNvPr id="5" name="TextBox 4"/>
          <p:cNvSpPr txBox="1"/>
          <p:nvPr/>
        </p:nvSpPr>
        <p:spPr>
          <a:xfrm>
            <a:off x="3017520" y="256032"/>
            <a:ext cx="8686800" cy="640080"/>
          </a:xfrm>
          <a:prstGeom prst="rect">
            <a:avLst/>
          </a:prstGeom>
          <a:noFill/>
        </p:spPr>
        <p:txBody>
          <a:bodyPr wrap="square"/>
          <a:lstStyle/>
          <a:p>
            <a:pPr algn="l">
              <a:defRPr sz="2600" b="1">
                <a:solidFill>
                  <a:srgbClr val="333333"/>
                </a:solidFill>
                <a:latin typeface="Calibri"/>
              </a:defRPr>
            </a:pPr>
            <a:r>
              <a:t>Trueque</a:t>
            </a:r>
          </a:p>
        </p:txBody>
      </p:sp>
      <p:sp>
        <p:nvSpPr>
          <p:cNvPr id="6" name="Rectangle 5"/>
          <p:cNvSpPr/>
          <p:nvPr/>
        </p:nvSpPr>
        <p:spPr>
          <a:xfrm>
            <a:off x="457200" y="96012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828800" cy="365760"/>
          </a:xfrm>
          <a:prstGeom prst="rect">
            <a:avLst/>
          </a:prstGeom>
          <a:noFill/>
        </p:spPr>
        <p:txBody>
          <a:bodyPr wrap="square"/>
          <a:lstStyle/>
          <a:p>
            <a:pPr algn="l">
              <a:defRPr sz="1400" b="1">
                <a:solidFill>
                  <a:srgbClr val="B45D09"/>
                </a:solidFill>
                <a:latin typeface="Calibri"/>
              </a:defRPr>
            </a:pPr>
            <a:r>
              <a:t>Pregunta</a:t>
            </a:r>
          </a:p>
        </p:txBody>
      </p:sp>
      <p:sp>
        <p:nvSpPr>
          <p:cNvPr id="8" name="TextBox 7"/>
          <p:cNvSpPr txBox="1"/>
          <p:nvPr/>
        </p:nvSpPr>
        <p:spPr>
          <a:xfrm>
            <a:off x="457200" y="1554480"/>
            <a:ext cx="11247120" cy="1280160"/>
          </a:xfrm>
          <a:prstGeom prst="rect">
            <a:avLst/>
          </a:prstGeom>
          <a:noFill/>
        </p:spPr>
        <p:txBody>
          <a:bodyPr wrap="square"/>
          <a:lstStyle/>
          <a:p>
            <a:pPr algn="l">
              <a:defRPr sz="2000" b="0">
                <a:solidFill>
                  <a:srgbClr val="333333"/>
                </a:solidFill>
                <a:latin typeface="Calibri"/>
              </a:defRPr>
            </a:pPr>
            <a:r>
              <a:t>¿Cuál fue la principal limitación del trueque que llevó a la aparición del dinero?</a:t>
            </a:r>
          </a:p>
        </p:txBody>
      </p:sp>
      <p:sp>
        <p:nvSpPr>
          <p:cNvPr id="9" name="Rectangle 8"/>
          <p:cNvSpPr/>
          <p:nvPr/>
        </p:nvSpPr>
        <p:spPr>
          <a:xfrm>
            <a:off x="457200" y="2971800"/>
            <a:ext cx="1097280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108960"/>
            <a:ext cx="1828800" cy="365760"/>
          </a:xfrm>
          <a:prstGeom prst="rect">
            <a:avLst/>
          </a:prstGeom>
          <a:noFill/>
        </p:spPr>
        <p:txBody>
          <a:bodyPr wrap="square"/>
          <a:lstStyle/>
          <a:p>
            <a:pPr algn="l">
              <a:defRPr sz="1400" b="1">
                <a:solidFill>
                  <a:srgbClr val="22627E"/>
                </a:solidFill>
                <a:latin typeface="Calibri"/>
              </a:defRPr>
            </a:pPr>
            <a:r>
              <a:t>Respuesta razonada</a:t>
            </a:r>
          </a:p>
        </p:txBody>
      </p:sp>
      <p:sp>
        <p:nvSpPr>
          <p:cNvPr id="11" name="TextBox 10"/>
          <p:cNvSpPr txBox="1"/>
          <p:nvPr/>
        </p:nvSpPr>
        <p:spPr>
          <a:xfrm>
            <a:off x="457200" y="3474720"/>
            <a:ext cx="11247120" cy="3200400"/>
          </a:xfrm>
          <a:prstGeom prst="rect">
            <a:avLst/>
          </a:prstGeom>
          <a:noFill/>
        </p:spPr>
        <p:txBody>
          <a:bodyPr wrap="square"/>
          <a:lstStyle/>
          <a:p>
            <a:pPr algn="l">
              <a:defRPr sz="1700" b="0">
                <a:solidFill>
                  <a:srgbClr val="333333"/>
                </a:solidFill>
                <a:latin typeface="Calibri"/>
              </a:defRPr>
            </a:pPr>
            <a:r>
              <a:t>El trueque exigía coincidencia de necesidades: yo debía querer lo que tú tenías y, simultáneamente, tú lo que yo tenía. Eso lo hacía inviable a escala y, además, no permitía acumular valor en el tiempo. Para resolverlo aparecieron los primeros dineros commodity (sal, conchas, metales): bienes universalmente aceptados que servían a la vez como medio de intercambio y como reserva de valor.</a:t>
            </a:r>
          </a:p>
        </p:txBody>
      </p:sp>
      <p:sp>
        <p:nvSpPr>
          <p:cNvPr id="12" name="TextBox 11"/>
          <p:cNvSpPr txBox="1"/>
          <p:nvPr/>
        </p:nvSpPr>
        <p:spPr>
          <a:xfrm>
            <a:off x="10515600" y="6446520"/>
            <a:ext cx="1371600" cy="274320"/>
          </a:xfrm>
          <a:prstGeom prst="rect">
            <a:avLst/>
          </a:prstGeom>
          <a:noFill/>
        </p:spPr>
        <p:txBody>
          <a:bodyPr wrap="square"/>
          <a:lstStyle/>
          <a:p>
            <a:pPr algn="r">
              <a:defRPr sz="1200" b="0">
                <a:solidFill>
                  <a:srgbClr val="333333"/>
                </a:solidFill>
                <a:latin typeface="Calibri"/>
              </a:defRPr>
            </a:pPr>
            <a:r>
              <a:t>1 / 16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2377440" cy="4572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2377440" cy="457200"/>
          </a:xfrm>
          <a:prstGeom prst="rect">
            <a:avLst/>
          </a:prstGeom>
          <a:noFill/>
        </p:spPr>
        <p:txBody>
          <a:bodyPr wrap="square"/>
          <a:lstStyle/>
          <a:p>
            <a:pPr algn="ctr">
              <a:defRPr sz="1600" b="1">
                <a:solidFill>
                  <a:srgbClr val="FFFFFF"/>
                </a:solidFill>
                <a:latin typeface="Calibri"/>
              </a:defRPr>
            </a:pPr>
            <a:r>
              <a:t>PREGUNTA 2 / 16</a:t>
            </a:r>
          </a:p>
        </p:txBody>
      </p:sp>
      <p:sp>
        <p:nvSpPr>
          <p:cNvPr id="5" name="TextBox 4"/>
          <p:cNvSpPr txBox="1"/>
          <p:nvPr/>
        </p:nvSpPr>
        <p:spPr>
          <a:xfrm>
            <a:off x="3017520" y="256032"/>
            <a:ext cx="8686800" cy="640080"/>
          </a:xfrm>
          <a:prstGeom prst="rect">
            <a:avLst/>
          </a:prstGeom>
          <a:noFill/>
        </p:spPr>
        <p:txBody>
          <a:bodyPr wrap="square"/>
          <a:lstStyle/>
          <a:p>
            <a:pPr algn="l">
              <a:defRPr sz="2600" b="1">
                <a:solidFill>
                  <a:srgbClr val="333333"/>
                </a:solidFill>
                <a:latin typeface="Calibri"/>
              </a:defRPr>
            </a:pPr>
            <a:r>
              <a:t>Commodity vs Convertible</a:t>
            </a:r>
          </a:p>
        </p:txBody>
      </p:sp>
      <p:sp>
        <p:nvSpPr>
          <p:cNvPr id="6" name="Rectangle 5"/>
          <p:cNvSpPr/>
          <p:nvPr/>
        </p:nvSpPr>
        <p:spPr>
          <a:xfrm>
            <a:off x="457200" y="96012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828800" cy="365760"/>
          </a:xfrm>
          <a:prstGeom prst="rect">
            <a:avLst/>
          </a:prstGeom>
          <a:noFill/>
        </p:spPr>
        <p:txBody>
          <a:bodyPr wrap="square"/>
          <a:lstStyle/>
          <a:p>
            <a:pPr algn="l">
              <a:defRPr sz="1400" b="1">
                <a:solidFill>
                  <a:srgbClr val="B45D09"/>
                </a:solidFill>
                <a:latin typeface="Calibri"/>
              </a:defRPr>
            </a:pPr>
            <a:r>
              <a:t>Pregunta</a:t>
            </a:r>
          </a:p>
        </p:txBody>
      </p:sp>
      <p:sp>
        <p:nvSpPr>
          <p:cNvPr id="8" name="TextBox 7"/>
          <p:cNvSpPr txBox="1"/>
          <p:nvPr/>
        </p:nvSpPr>
        <p:spPr>
          <a:xfrm>
            <a:off x="457200" y="1554480"/>
            <a:ext cx="11247120" cy="1280160"/>
          </a:xfrm>
          <a:prstGeom prst="rect">
            <a:avLst/>
          </a:prstGeom>
          <a:noFill/>
        </p:spPr>
        <p:txBody>
          <a:bodyPr wrap="square"/>
          <a:lstStyle/>
          <a:p>
            <a:pPr algn="l">
              <a:defRPr sz="2000" b="0">
                <a:solidFill>
                  <a:srgbClr val="333333"/>
                </a:solidFill>
                <a:latin typeface="Calibri"/>
              </a:defRPr>
            </a:pPr>
            <a:r>
              <a:t>¿En qué se diferencia el dinero commodity del dinero convertible?</a:t>
            </a:r>
          </a:p>
        </p:txBody>
      </p:sp>
      <p:sp>
        <p:nvSpPr>
          <p:cNvPr id="9" name="Rectangle 8"/>
          <p:cNvSpPr/>
          <p:nvPr/>
        </p:nvSpPr>
        <p:spPr>
          <a:xfrm>
            <a:off x="457200" y="2971800"/>
            <a:ext cx="1097280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108960"/>
            <a:ext cx="1828800" cy="365760"/>
          </a:xfrm>
          <a:prstGeom prst="rect">
            <a:avLst/>
          </a:prstGeom>
          <a:noFill/>
        </p:spPr>
        <p:txBody>
          <a:bodyPr wrap="square"/>
          <a:lstStyle/>
          <a:p>
            <a:pPr algn="l">
              <a:defRPr sz="1400" b="1">
                <a:solidFill>
                  <a:srgbClr val="22627E"/>
                </a:solidFill>
                <a:latin typeface="Calibri"/>
              </a:defRPr>
            </a:pPr>
            <a:r>
              <a:t>Respuesta razonada</a:t>
            </a:r>
          </a:p>
        </p:txBody>
      </p:sp>
      <p:sp>
        <p:nvSpPr>
          <p:cNvPr id="11" name="TextBox 10"/>
          <p:cNvSpPr txBox="1"/>
          <p:nvPr/>
        </p:nvSpPr>
        <p:spPr>
          <a:xfrm>
            <a:off x="457200" y="3474720"/>
            <a:ext cx="11247120" cy="3200400"/>
          </a:xfrm>
          <a:prstGeom prst="rect">
            <a:avLst/>
          </a:prstGeom>
          <a:noFill/>
        </p:spPr>
        <p:txBody>
          <a:bodyPr wrap="square"/>
          <a:lstStyle/>
          <a:p>
            <a:pPr algn="l">
              <a:defRPr sz="1700" b="0">
                <a:solidFill>
                  <a:srgbClr val="333333"/>
                </a:solidFill>
                <a:latin typeface="Calibri"/>
              </a:defRPr>
            </a:pPr>
            <a:r>
              <a:rPr dirty="0"/>
              <a:t>El dinero commodity es </a:t>
            </a:r>
            <a:r>
              <a:rPr dirty="0" err="1"/>
              <a:t>el</a:t>
            </a:r>
            <a:r>
              <a:rPr dirty="0"/>
              <a:t> </a:t>
            </a:r>
            <a:r>
              <a:rPr dirty="0" err="1"/>
              <a:t>propio</a:t>
            </a:r>
            <a:r>
              <a:rPr dirty="0"/>
              <a:t> bien con valor </a:t>
            </a:r>
            <a:r>
              <a:rPr dirty="0" err="1"/>
              <a:t>intrínseco</a:t>
            </a:r>
            <a:r>
              <a:rPr dirty="0"/>
              <a:t> (</a:t>
            </a:r>
            <a:r>
              <a:rPr dirty="0" err="1"/>
              <a:t>sal</a:t>
            </a:r>
            <a:r>
              <a:rPr dirty="0"/>
              <a:t> </a:t>
            </a:r>
            <a:r>
              <a:rPr dirty="0" err="1"/>
              <a:t>en</a:t>
            </a:r>
            <a:r>
              <a:rPr dirty="0"/>
              <a:t> la Roma </a:t>
            </a:r>
            <a:r>
              <a:rPr dirty="0" err="1"/>
              <a:t>temprana</a:t>
            </a:r>
            <a:r>
              <a:rPr dirty="0"/>
              <a:t>, </a:t>
            </a:r>
            <a:r>
              <a:rPr dirty="0" err="1"/>
              <a:t>conchas</a:t>
            </a:r>
            <a:r>
              <a:rPr dirty="0"/>
              <a:t> de </a:t>
            </a:r>
            <a:r>
              <a:rPr dirty="0" err="1"/>
              <a:t>caurí</a:t>
            </a:r>
            <a:r>
              <a:rPr dirty="0"/>
              <a:t>, </a:t>
            </a:r>
            <a:r>
              <a:rPr dirty="0" err="1"/>
              <a:t>oro</a:t>
            </a:r>
            <a:r>
              <a:rPr dirty="0"/>
              <a:t>): vale </a:t>
            </a:r>
            <a:r>
              <a:rPr dirty="0" err="1"/>
              <a:t>por</a:t>
            </a:r>
            <a:r>
              <a:rPr dirty="0"/>
              <a:t> </a:t>
            </a:r>
            <a:r>
              <a:rPr dirty="0" err="1"/>
              <a:t>sí</a:t>
            </a:r>
            <a:r>
              <a:rPr dirty="0"/>
              <a:t> </a:t>
            </a:r>
            <a:r>
              <a:rPr dirty="0" err="1"/>
              <a:t>mismo</a:t>
            </a:r>
            <a:r>
              <a:rPr dirty="0"/>
              <a:t>. El dinero convertible es un </a:t>
            </a:r>
            <a:r>
              <a:rPr dirty="0" err="1"/>
              <a:t>papel</a:t>
            </a:r>
            <a:r>
              <a:rPr dirty="0"/>
              <a:t> o </a:t>
            </a:r>
            <a:r>
              <a:rPr dirty="0" err="1"/>
              <a:t>moneda</a:t>
            </a:r>
            <a:r>
              <a:rPr dirty="0"/>
              <a:t> </a:t>
            </a:r>
            <a:r>
              <a:rPr dirty="0" err="1"/>
              <a:t>respaldada</a:t>
            </a:r>
            <a:r>
              <a:rPr dirty="0"/>
              <a:t> </a:t>
            </a:r>
            <a:r>
              <a:rPr dirty="0" err="1"/>
              <a:t>por</a:t>
            </a:r>
            <a:r>
              <a:rPr dirty="0"/>
              <a:t> </a:t>
            </a:r>
            <a:r>
              <a:rPr dirty="0" err="1"/>
              <a:t>una</a:t>
            </a:r>
            <a:r>
              <a:rPr dirty="0"/>
              <a:t> </a:t>
            </a:r>
            <a:r>
              <a:rPr dirty="0" err="1"/>
              <a:t>reserva</a:t>
            </a:r>
            <a:r>
              <a:rPr dirty="0"/>
              <a:t> tangible, </a:t>
            </a:r>
            <a:r>
              <a:rPr dirty="0" err="1"/>
              <a:t>típicamente</a:t>
            </a:r>
            <a:r>
              <a:rPr dirty="0"/>
              <a:t> </a:t>
            </a:r>
            <a:r>
              <a:rPr dirty="0" err="1"/>
              <a:t>oro</a:t>
            </a:r>
            <a:r>
              <a:rPr dirty="0"/>
              <a:t>: </a:t>
            </a:r>
            <a:r>
              <a:rPr dirty="0" err="1"/>
              <a:t>tú</a:t>
            </a:r>
            <a:r>
              <a:rPr dirty="0"/>
              <a:t> </a:t>
            </a:r>
            <a:r>
              <a:rPr dirty="0" err="1"/>
              <a:t>llevas</a:t>
            </a:r>
            <a:r>
              <a:rPr dirty="0"/>
              <a:t> </a:t>
            </a:r>
            <a:r>
              <a:rPr dirty="0" err="1"/>
              <a:t>el</a:t>
            </a:r>
            <a:r>
              <a:rPr dirty="0"/>
              <a:t> </a:t>
            </a:r>
            <a:r>
              <a:rPr dirty="0" err="1"/>
              <a:t>billete</a:t>
            </a:r>
            <a:r>
              <a:rPr dirty="0"/>
              <a:t> </a:t>
            </a:r>
            <a:r>
              <a:rPr dirty="0" err="1"/>
              <a:t>pero</a:t>
            </a:r>
            <a:r>
              <a:rPr dirty="0"/>
              <a:t> </a:t>
            </a:r>
            <a:r>
              <a:rPr dirty="0" err="1"/>
              <a:t>el</a:t>
            </a:r>
            <a:r>
              <a:rPr dirty="0"/>
              <a:t> </a:t>
            </a:r>
            <a:r>
              <a:rPr dirty="0" err="1"/>
              <a:t>emisor</a:t>
            </a:r>
            <a:r>
              <a:rPr dirty="0"/>
              <a:t> </a:t>
            </a:r>
            <a:r>
              <a:rPr dirty="0" err="1"/>
              <a:t>garantiza</a:t>
            </a:r>
            <a:r>
              <a:rPr dirty="0"/>
              <a:t> </a:t>
            </a:r>
            <a:r>
              <a:rPr dirty="0" err="1"/>
              <a:t>canjearlo</a:t>
            </a:r>
            <a:r>
              <a:rPr dirty="0"/>
              <a:t> </a:t>
            </a:r>
            <a:r>
              <a:rPr dirty="0" err="1"/>
              <a:t>por</a:t>
            </a:r>
            <a:r>
              <a:rPr dirty="0"/>
              <a:t> </a:t>
            </a:r>
            <a:r>
              <a:rPr dirty="0" err="1"/>
              <a:t>oro</a:t>
            </a:r>
            <a:r>
              <a:rPr dirty="0"/>
              <a:t> a </a:t>
            </a:r>
            <a:r>
              <a:rPr dirty="0" err="1"/>
              <a:t>una</a:t>
            </a:r>
            <a:r>
              <a:rPr dirty="0"/>
              <a:t> </a:t>
            </a:r>
            <a:r>
              <a:rPr dirty="0" err="1"/>
              <a:t>tasa</a:t>
            </a:r>
            <a:r>
              <a:rPr dirty="0"/>
              <a:t> </a:t>
            </a:r>
            <a:r>
              <a:rPr dirty="0" err="1"/>
              <a:t>fija</a:t>
            </a:r>
            <a:r>
              <a:rPr dirty="0"/>
              <a:t>. </a:t>
            </a:r>
            <a:r>
              <a:rPr dirty="0" err="1"/>
              <a:t>Apareció</a:t>
            </a:r>
            <a:r>
              <a:rPr dirty="0"/>
              <a:t> con </a:t>
            </a:r>
            <a:r>
              <a:rPr dirty="0" err="1"/>
              <a:t>los</a:t>
            </a:r>
            <a:r>
              <a:rPr dirty="0"/>
              <a:t> </a:t>
            </a:r>
            <a:r>
              <a:rPr dirty="0" err="1"/>
              <a:t>recibos</a:t>
            </a:r>
            <a:r>
              <a:rPr dirty="0"/>
              <a:t> de </a:t>
            </a:r>
            <a:r>
              <a:rPr dirty="0" err="1"/>
              <a:t>orfebres</a:t>
            </a:r>
            <a:r>
              <a:rPr dirty="0"/>
              <a:t> </a:t>
            </a:r>
            <a:r>
              <a:rPr dirty="0" err="1"/>
              <a:t>en</a:t>
            </a:r>
            <a:r>
              <a:rPr dirty="0"/>
              <a:t> Europa (S. XVII) y se </a:t>
            </a:r>
            <a:r>
              <a:rPr dirty="0" err="1"/>
              <a:t>formalizó</a:t>
            </a:r>
            <a:r>
              <a:rPr dirty="0"/>
              <a:t> con </a:t>
            </a:r>
            <a:r>
              <a:rPr dirty="0" err="1"/>
              <a:t>el</a:t>
            </a:r>
            <a:r>
              <a:rPr dirty="0"/>
              <a:t> </a:t>
            </a:r>
            <a:r>
              <a:rPr dirty="0" err="1"/>
              <a:t>patrón</a:t>
            </a:r>
            <a:r>
              <a:rPr dirty="0"/>
              <a:t> </a:t>
            </a:r>
            <a:r>
              <a:rPr dirty="0" err="1"/>
              <a:t>oro</a:t>
            </a:r>
            <a:r>
              <a:rPr dirty="0"/>
              <a:t> del S. XIX.</a:t>
            </a:r>
          </a:p>
        </p:txBody>
      </p:sp>
      <p:sp>
        <p:nvSpPr>
          <p:cNvPr id="12" name="TextBox 11"/>
          <p:cNvSpPr txBox="1"/>
          <p:nvPr/>
        </p:nvSpPr>
        <p:spPr>
          <a:xfrm>
            <a:off x="10515600" y="6446520"/>
            <a:ext cx="1371600" cy="274320"/>
          </a:xfrm>
          <a:prstGeom prst="rect">
            <a:avLst/>
          </a:prstGeom>
          <a:noFill/>
        </p:spPr>
        <p:txBody>
          <a:bodyPr wrap="square"/>
          <a:lstStyle/>
          <a:p>
            <a:pPr algn="r">
              <a:defRPr sz="1200" b="0">
                <a:solidFill>
                  <a:srgbClr val="333333"/>
                </a:solidFill>
                <a:latin typeface="Calibri"/>
              </a:defRPr>
            </a:pPr>
            <a:r>
              <a:t>2 / 16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2377440" cy="4572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2377440" cy="457200"/>
          </a:xfrm>
          <a:prstGeom prst="rect">
            <a:avLst/>
          </a:prstGeom>
          <a:noFill/>
        </p:spPr>
        <p:txBody>
          <a:bodyPr wrap="square"/>
          <a:lstStyle/>
          <a:p>
            <a:pPr algn="ctr">
              <a:defRPr sz="1600" b="1">
                <a:solidFill>
                  <a:srgbClr val="FFFFFF"/>
                </a:solidFill>
                <a:latin typeface="Calibri"/>
              </a:defRPr>
            </a:pPr>
            <a:r>
              <a:t>PREGUNTA 3 / 16</a:t>
            </a:r>
          </a:p>
        </p:txBody>
      </p:sp>
      <p:sp>
        <p:nvSpPr>
          <p:cNvPr id="5" name="TextBox 4"/>
          <p:cNvSpPr txBox="1"/>
          <p:nvPr/>
        </p:nvSpPr>
        <p:spPr>
          <a:xfrm>
            <a:off x="3017520" y="256032"/>
            <a:ext cx="8686800" cy="640080"/>
          </a:xfrm>
          <a:prstGeom prst="rect">
            <a:avLst/>
          </a:prstGeom>
          <a:noFill/>
        </p:spPr>
        <p:txBody>
          <a:bodyPr wrap="square"/>
          <a:lstStyle/>
          <a:p>
            <a:pPr algn="l">
              <a:defRPr sz="2600" b="1">
                <a:solidFill>
                  <a:srgbClr val="333333"/>
                </a:solidFill>
                <a:latin typeface="Calibri"/>
              </a:defRPr>
            </a:pPr>
            <a:r>
              <a:t>Dinero fiduciario</a:t>
            </a:r>
          </a:p>
        </p:txBody>
      </p:sp>
      <p:sp>
        <p:nvSpPr>
          <p:cNvPr id="6" name="Rectangle 5"/>
          <p:cNvSpPr/>
          <p:nvPr/>
        </p:nvSpPr>
        <p:spPr>
          <a:xfrm>
            <a:off x="457200" y="96012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828800" cy="365760"/>
          </a:xfrm>
          <a:prstGeom prst="rect">
            <a:avLst/>
          </a:prstGeom>
          <a:noFill/>
        </p:spPr>
        <p:txBody>
          <a:bodyPr wrap="square"/>
          <a:lstStyle/>
          <a:p>
            <a:pPr algn="l">
              <a:defRPr sz="1400" b="1">
                <a:solidFill>
                  <a:srgbClr val="B45D09"/>
                </a:solidFill>
                <a:latin typeface="Calibri"/>
              </a:defRPr>
            </a:pPr>
            <a:r>
              <a:t>Pregunta</a:t>
            </a:r>
          </a:p>
        </p:txBody>
      </p:sp>
      <p:sp>
        <p:nvSpPr>
          <p:cNvPr id="8" name="TextBox 7"/>
          <p:cNvSpPr txBox="1"/>
          <p:nvPr/>
        </p:nvSpPr>
        <p:spPr>
          <a:xfrm>
            <a:off x="457200" y="1554480"/>
            <a:ext cx="11247120" cy="1280160"/>
          </a:xfrm>
          <a:prstGeom prst="rect">
            <a:avLst/>
          </a:prstGeom>
          <a:noFill/>
        </p:spPr>
        <p:txBody>
          <a:bodyPr wrap="square"/>
          <a:lstStyle/>
          <a:p>
            <a:pPr algn="l">
              <a:defRPr sz="2000" b="0">
                <a:solidFill>
                  <a:srgbClr val="333333"/>
                </a:solidFill>
                <a:latin typeface="Calibri"/>
              </a:defRPr>
            </a:pPr>
            <a:r>
              <a:t>¿Qué es el dinero fiduciario y cuándo se estableció globalmente?</a:t>
            </a:r>
          </a:p>
        </p:txBody>
      </p:sp>
      <p:sp>
        <p:nvSpPr>
          <p:cNvPr id="9" name="Rectangle 8"/>
          <p:cNvSpPr/>
          <p:nvPr/>
        </p:nvSpPr>
        <p:spPr>
          <a:xfrm>
            <a:off x="457200" y="2971800"/>
            <a:ext cx="1097280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108960"/>
            <a:ext cx="1828800" cy="365760"/>
          </a:xfrm>
          <a:prstGeom prst="rect">
            <a:avLst/>
          </a:prstGeom>
          <a:noFill/>
        </p:spPr>
        <p:txBody>
          <a:bodyPr wrap="square"/>
          <a:lstStyle/>
          <a:p>
            <a:pPr algn="l">
              <a:defRPr sz="1400" b="1">
                <a:solidFill>
                  <a:srgbClr val="22627E"/>
                </a:solidFill>
                <a:latin typeface="Calibri"/>
              </a:defRPr>
            </a:pPr>
            <a:r>
              <a:t>Respuesta razonada</a:t>
            </a:r>
          </a:p>
        </p:txBody>
      </p:sp>
      <p:sp>
        <p:nvSpPr>
          <p:cNvPr id="11" name="TextBox 10"/>
          <p:cNvSpPr txBox="1"/>
          <p:nvPr/>
        </p:nvSpPr>
        <p:spPr>
          <a:xfrm>
            <a:off x="457200" y="3474720"/>
            <a:ext cx="11247120" cy="3200400"/>
          </a:xfrm>
          <a:prstGeom prst="rect">
            <a:avLst/>
          </a:prstGeom>
          <a:noFill/>
        </p:spPr>
        <p:txBody>
          <a:bodyPr wrap="square"/>
          <a:lstStyle/>
          <a:p>
            <a:pPr algn="l">
              <a:defRPr sz="1700" b="0">
                <a:solidFill>
                  <a:srgbClr val="333333"/>
                </a:solidFill>
                <a:latin typeface="Calibri"/>
              </a:defRPr>
            </a:pPr>
            <a:r>
              <a:t>Es dinero sin respaldo físico cuyo valor depende exclusivamente de la confianza en el emisor (típicamente un Estado). Lo inició China en el S. XIII, pero se estableció globalmente en 1971, cuando Nixon suspendió la convertibilidad del dólar en oro y rompió el último anclaje del sistema monetario internacional al patrón oro. Desde entonces todas las monedas del mundo son fiduciarias.</a:t>
            </a:r>
          </a:p>
        </p:txBody>
      </p:sp>
      <p:sp>
        <p:nvSpPr>
          <p:cNvPr id="12" name="TextBox 11"/>
          <p:cNvSpPr txBox="1"/>
          <p:nvPr/>
        </p:nvSpPr>
        <p:spPr>
          <a:xfrm>
            <a:off x="10515600" y="6446520"/>
            <a:ext cx="1371600" cy="274320"/>
          </a:xfrm>
          <a:prstGeom prst="rect">
            <a:avLst/>
          </a:prstGeom>
          <a:noFill/>
        </p:spPr>
        <p:txBody>
          <a:bodyPr wrap="square"/>
          <a:lstStyle/>
          <a:p>
            <a:pPr algn="r">
              <a:defRPr sz="1200" b="0">
                <a:solidFill>
                  <a:srgbClr val="333333"/>
                </a:solidFill>
                <a:latin typeface="Calibri"/>
              </a:defRPr>
            </a:pPr>
            <a:r>
              <a:t>3 / 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2377440" cy="4572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2377440" cy="457200"/>
          </a:xfrm>
          <a:prstGeom prst="rect">
            <a:avLst/>
          </a:prstGeom>
          <a:noFill/>
        </p:spPr>
        <p:txBody>
          <a:bodyPr wrap="square"/>
          <a:lstStyle/>
          <a:p>
            <a:pPr algn="ctr">
              <a:defRPr sz="1600" b="1">
                <a:solidFill>
                  <a:srgbClr val="FFFFFF"/>
                </a:solidFill>
                <a:latin typeface="Calibri"/>
              </a:defRPr>
            </a:pPr>
            <a:r>
              <a:t>PREGUNTA 4 / 16</a:t>
            </a:r>
          </a:p>
        </p:txBody>
      </p:sp>
      <p:sp>
        <p:nvSpPr>
          <p:cNvPr id="5" name="TextBox 4"/>
          <p:cNvSpPr txBox="1"/>
          <p:nvPr/>
        </p:nvSpPr>
        <p:spPr>
          <a:xfrm>
            <a:off x="3017520" y="256032"/>
            <a:ext cx="8686800" cy="640080"/>
          </a:xfrm>
          <a:prstGeom prst="rect">
            <a:avLst/>
          </a:prstGeom>
          <a:noFill/>
        </p:spPr>
        <p:txBody>
          <a:bodyPr wrap="square"/>
          <a:lstStyle/>
          <a:p>
            <a:pPr algn="l">
              <a:defRPr sz="2600" b="1">
                <a:solidFill>
                  <a:srgbClr val="333333"/>
                </a:solidFill>
                <a:latin typeface="Calibri"/>
              </a:defRPr>
            </a:pPr>
            <a:r>
              <a:t>Por qué el dinero tiene valor</a:t>
            </a:r>
          </a:p>
        </p:txBody>
      </p:sp>
      <p:sp>
        <p:nvSpPr>
          <p:cNvPr id="6" name="Rectangle 5"/>
          <p:cNvSpPr/>
          <p:nvPr/>
        </p:nvSpPr>
        <p:spPr>
          <a:xfrm>
            <a:off x="457200" y="96012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828800" cy="365760"/>
          </a:xfrm>
          <a:prstGeom prst="rect">
            <a:avLst/>
          </a:prstGeom>
          <a:noFill/>
        </p:spPr>
        <p:txBody>
          <a:bodyPr wrap="square"/>
          <a:lstStyle/>
          <a:p>
            <a:pPr algn="l">
              <a:defRPr sz="1400" b="1">
                <a:solidFill>
                  <a:srgbClr val="B45D09"/>
                </a:solidFill>
                <a:latin typeface="Calibri"/>
              </a:defRPr>
            </a:pPr>
            <a:r>
              <a:t>Pregunta</a:t>
            </a:r>
          </a:p>
        </p:txBody>
      </p:sp>
      <p:sp>
        <p:nvSpPr>
          <p:cNvPr id="8" name="TextBox 7"/>
          <p:cNvSpPr txBox="1"/>
          <p:nvPr/>
        </p:nvSpPr>
        <p:spPr>
          <a:xfrm>
            <a:off x="457200" y="1554480"/>
            <a:ext cx="11247120" cy="1280160"/>
          </a:xfrm>
          <a:prstGeom prst="rect">
            <a:avLst/>
          </a:prstGeom>
          <a:noFill/>
        </p:spPr>
        <p:txBody>
          <a:bodyPr wrap="square"/>
          <a:lstStyle/>
          <a:p>
            <a:pPr algn="l">
              <a:defRPr sz="2000" b="0">
                <a:solidFill>
                  <a:srgbClr val="333333"/>
                </a:solidFill>
                <a:latin typeface="Calibri"/>
              </a:defRPr>
            </a:pPr>
            <a:r>
              <a:t>¿Por qué el dinero fiduciario tiene valor si no está respaldado por un bien físico?</a:t>
            </a:r>
          </a:p>
        </p:txBody>
      </p:sp>
      <p:sp>
        <p:nvSpPr>
          <p:cNvPr id="9" name="Rectangle 8"/>
          <p:cNvSpPr/>
          <p:nvPr/>
        </p:nvSpPr>
        <p:spPr>
          <a:xfrm>
            <a:off x="457200" y="2971800"/>
            <a:ext cx="1097280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108960"/>
            <a:ext cx="1828800" cy="365760"/>
          </a:xfrm>
          <a:prstGeom prst="rect">
            <a:avLst/>
          </a:prstGeom>
          <a:noFill/>
        </p:spPr>
        <p:txBody>
          <a:bodyPr wrap="square"/>
          <a:lstStyle/>
          <a:p>
            <a:pPr algn="l">
              <a:defRPr sz="1400" b="1">
                <a:solidFill>
                  <a:srgbClr val="22627E"/>
                </a:solidFill>
                <a:latin typeface="Calibri"/>
              </a:defRPr>
            </a:pPr>
            <a:r>
              <a:t>Respuesta razonada</a:t>
            </a:r>
          </a:p>
        </p:txBody>
      </p:sp>
      <p:sp>
        <p:nvSpPr>
          <p:cNvPr id="11" name="TextBox 10"/>
          <p:cNvSpPr txBox="1"/>
          <p:nvPr/>
        </p:nvSpPr>
        <p:spPr>
          <a:xfrm>
            <a:off x="457200" y="3474720"/>
            <a:ext cx="11247120" cy="3200400"/>
          </a:xfrm>
          <a:prstGeom prst="rect">
            <a:avLst/>
          </a:prstGeom>
          <a:noFill/>
        </p:spPr>
        <p:txBody>
          <a:bodyPr wrap="square"/>
          <a:lstStyle/>
          <a:p>
            <a:pPr algn="l">
              <a:defRPr sz="1700" b="0">
                <a:solidFill>
                  <a:srgbClr val="333333"/>
                </a:solidFill>
                <a:latin typeface="Calibri"/>
              </a:defRPr>
            </a:pPr>
            <a:r>
              <a:t>Por la combinación de cinco factores. Confianza colectiva: todos lo aceptamos porque sabemos que mañana otro lo aceptará. Imposición legal: los Estados lo declaran de curso forzoso para impuestos y transacciones. Escasez controlada: los bancos centrales limitan su emisión. Utilidad práctica: resuelve los problemas del trueque. Y expectativa de estabilidad: la gente lo usa porque espera que mantenga valor en el tiempo.</a:t>
            </a:r>
          </a:p>
        </p:txBody>
      </p:sp>
      <p:sp>
        <p:nvSpPr>
          <p:cNvPr id="12" name="TextBox 11"/>
          <p:cNvSpPr txBox="1"/>
          <p:nvPr/>
        </p:nvSpPr>
        <p:spPr>
          <a:xfrm>
            <a:off x="10515600" y="6446520"/>
            <a:ext cx="1371600" cy="274320"/>
          </a:xfrm>
          <a:prstGeom prst="rect">
            <a:avLst/>
          </a:prstGeom>
          <a:noFill/>
        </p:spPr>
        <p:txBody>
          <a:bodyPr wrap="square"/>
          <a:lstStyle/>
          <a:p>
            <a:pPr algn="r">
              <a:defRPr sz="1200" b="0">
                <a:solidFill>
                  <a:srgbClr val="333333"/>
                </a:solidFill>
                <a:latin typeface="Calibri"/>
              </a:defRPr>
            </a:pPr>
            <a:r>
              <a:t>4 / 16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2377440" cy="4572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2377440" cy="457200"/>
          </a:xfrm>
          <a:prstGeom prst="rect">
            <a:avLst/>
          </a:prstGeom>
          <a:noFill/>
        </p:spPr>
        <p:txBody>
          <a:bodyPr wrap="square"/>
          <a:lstStyle/>
          <a:p>
            <a:pPr algn="ctr">
              <a:defRPr sz="1600" b="1">
                <a:solidFill>
                  <a:srgbClr val="FFFFFF"/>
                </a:solidFill>
                <a:latin typeface="Calibri"/>
              </a:defRPr>
            </a:pPr>
            <a:r>
              <a:t>PREGUNTA 5 / 16</a:t>
            </a:r>
          </a:p>
        </p:txBody>
      </p:sp>
      <p:sp>
        <p:nvSpPr>
          <p:cNvPr id="5" name="TextBox 4"/>
          <p:cNvSpPr txBox="1"/>
          <p:nvPr/>
        </p:nvSpPr>
        <p:spPr>
          <a:xfrm>
            <a:off x="3017520" y="256032"/>
            <a:ext cx="8686800" cy="640080"/>
          </a:xfrm>
          <a:prstGeom prst="rect">
            <a:avLst/>
          </a:prstGeom>
          <a:noFill/>
        </p:spPr>
        <p:txBody>
          <a:bodyPr wrap="square"/>
          <a:lstStyle/>
          <a:p>
            <a:pPr algn="l">
              <a:defRPr sz="2600" b="1">
                <a:solidFill>
                  <a:srgbClr val="333333"/>
                </a:solidFill>
                <a:latin typeface="Calibri"/>
              </a:defRPr>
            </a:pPr>
            <a:r>
              <a:t>Reserva fraccionaria</a:t>
            </a:r>
          </a:p>
        </p:txBody>
      </p:sp>
      <p:sp>
        <p:nvSpPr>
          <p:cNvPr id="6" name="Rectangle 5"/>
          <p:cNvSpPr/>
          <p:nvPr/>
        </p:nvSpPr>
        <p:spPr>
          <a:xfrm>
            <a:off x="457200" y="96012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828800" cy="365760"/>
          </a:xfrm>
          <a:prstGeom prst="rect">
            <a:avLst/>
          </a:prstGeom>
          <a:noFill/>
        </p:spPr>
        <p:txBody>
          <a:bodyPr wrap="square"/>
          <a:lstStyle/>
          <a:p>
            <a:pPr algn="l">
              <a:defRPr sz="1400" b="1">
                <a:solidFill>
                  <a:srgbClr val="B45D09"/>
                </a:solidFill>
                <a:latin typeface="Calibri"/>
              </a:defRPr>
            </a:pPr>
            <a:r>
              <a:t>Pregunta</a:t>
            </a:r>
          </a:p>
        </p:txBody>
      </p:sp>
      <p:sp>
        <p:nvSpPr>
          <p:cNvPr id="8" name="TextBox 7"/>
          <p:cNvSpPr txBox="1"/>
          <p:nvPr/>
        </p:nvSpPr>
        <p:spPr>
          <a:xfrm>
            <a:off x="457200" y="1554480"/>
            <a:ext cx="11247120" cy="1280160"/>
          </a:xfrm>
          <a:prstGeom prst="rect">
            <a:avLst/>
          </a:prstGeom>
          <a:noFill/>
        </p:spPr>
        <p:txBody>
          <a:bodyPr wrap="square"/>
          <a:lstStyle/>
          <a:p>
            <a:pPr algn="l">
              <a:defRPr sz="2000" b="0">
                <a:solidFill>
                  <a:srgbClr val="333333"/>
                </a:solidFill>
                <a:latin typeface="Calibri"/>
              </a:defRPr>
            </a:pPr>
            <a:r>
              <a:t>¿Qué es la reserva fraccionaria y cómo nació?</a:t>
            </a:r>
          </a:p>
        </p:txBody>
      </p:sp>
      <p:sp>
        <p:nvSpPr>
          <p:cNvPr id="9" name="Rectangle 8"/>
          <p:cNvSpPr/>
          <p:nvPr/>
        </p:nvSpPr>
        <p:spPr>
          <a:xfrm>
            <a:off x="457200" y="2971800"/>
            <a:ext cx="1097280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108960"/>
            <a:ext cx="1828800" cy="365760"/>
          </a:xfrm>
          <a:prstGeom prst="rect">
            <a:avLst/>
          </a:prstGeom>
          <a:noFill/>
        </p:spPr>
        <p:txBody>
          <a:bodyPr wrap="square"/>
          <a:lstStyle/>
          <a:p>
            <a:pPr algn="l">
              <a:defRPr sz="1400" b="1">
                <a:solidFill>
                  <a:srgbClr val="22627E"/>
                </a:solidFill>
                <a:latin typeface="Calibri"/>
              </a:defRPr>
            </a:pPr>
            <a:r>
              <a:t>Respuesta razonada</a:t>
            </a:r>
          </a:p>
        </p:txBody>
      </p:sp>
      <p:sp>
        <p:nvSpPr>
          <p:cNvPr id="11" name="TextBox 10"/>
          <p:cNvSpPr txBox="1"/>
          <p:nvPr/>
        </p:nvSpPr>
        <p:spPr>
          <a:xfrm>
            <a:off x="457200" y="3474720"/>
            <a:ext cx="11247120" cy="3200400"/>
          </a:xfrm>
          <a:prstGeom prst="rect">
            <a:avLst/>
          </a:prstGeom>
          <a:noFill/>
        </p:spPr>
        <p:txBody>
          <a:bodyPr wrap="square"/>
          <a:lstStyle/>
          <a:p>
            <a:pPr algn="l">
              <a:defRPr sz="1700" b="0">
                <a:solidFill>
                  <a:srgbClr val="333333"/>
                </a:solidFill>
                <a:latin typeface="Calibri"/>
              </a:defRPr>
            </a:pPr>
            <a:r>
              <a:t>En el S. XVII los orfebres europeos observaron que los depositantes raramente retiraban todo su oro a la vez. Empezaron a emitir más recibos que oro tenían en custodia y a prestar el sobrante con interés, creando dinero que no estaba realmente en sus arcas. Multiplica el dinero en circulación pero introduce el riesgo de corridas bancarias. Se institucionalizó con el Banco de Ámsterdam (1609) y el Banco de Inglaterra (1694).</a:t>
            </a:r>
          </a:p>
        </p:txBody>
      </p:sp>
      <p:sp>
        <p:nvSpPr>
          <p:cNvPr id="12" name="TextBox 11"/>
          <p:cNvSpPr txBox="1"/>
          <p:nvPr/>
        </p:nvSpPr>
        <p:spPr>
          <a:xfrm>
            <a:off x="10515600" y="6446520"/>
            <a:ext cx="1371600" cy="274320"/>
          </a:xfrm>
          <a:prstGeom prst="rect">
            <a:avLst/>
          </a:prstGeom>
          <a:noFill/>
        </p:spPr>
        <p:txBody>
          <a:bodyPr wrap="square"/>
          <a:lstStyle/>
          <a:p>
            <a:pPr algn="r">
              <a:defRPr sz="1200" b="0">
                <a:solidFill>
                  <a:srgbClr val="333333"/>
                </a:solidFill>
                <a:latin typeface="Calibri"/>
              </a:defRPr>
            </a:pPr>
            <a:r>
              <a:t>5 / 16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2377440" cy="4572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2377440" cy="457200"/>
          </a:xfrm>
          <a:prstGeom prst="rect">
            <a:avLst/>
          </a:prstGeom>
          <a:noFill/>
        </p:spPr>
        <p:txBody>
          <a:bodyPr wrap="square"/>
          <a:lstStyle/>
          <a:p>
            <a:pPr algn="ctr">
              <a:defRPr sz="1600" b="1">
                <a:solidFill>
                  <a:srgbClr val="FFFFFF"/>
                </a:solidFill>
                <a:latin typeface="Calibri"/>
              </a:defRPr>
            </a:pPr>
            <a:r>
              <a:t>PREGUNTA 6 / 16</a:t>
            </a:r>
          </a:p>
        </p:txBody>
      </p:sp>
      <p:sp>
        <p:nvSpPr>
          <p:cNvPr id="5" name="TextBox 4"/>
          <p:cNvSpPr txBox="1"/>
          <p:nvPr/>
        </p:nvSpPr>
        <p:spPr>
          <a:xfrm>
            <a:off x="3017520" y="256032"/>
            <a:ext cx="8686800" cy="640080"/>
          </a:xfrm>
          <a:prstGeom prst="rect">
            <a:avLst/>
          </a:prstGeom>
          <a:noFill/>
        </p:spPr>
        <p:txBody>
          <a:bodyPr wrap="square"/>
          <a:lstStyle/>
          <a:p>
            <a:pPr algn="l">
              <a:defRPr sz="2600" b="1">
                <a:solidFill>
                  <a:srgbClr val="333333"/>
                </a:solidFill>
                <a:latin typeface="Calibri"/>
              </a:defRPr>
            </a:pPr>
            <a:r>
              <a:t>Riesgo de contrapartida</a:t>
            </a:r>
          </a:p>
        </p:txBody>
      </p:sp>
      <p:sp>
        <p:nvSpPr>
          <p:cNvPr id="6" name="Rectangle 5"/>
          <p:cNvSpPr/>
          <p:nvPr/>
        </p:nvSpPr>
        <p:spPr>
          <a:xfrm>
            <a:off x="457200" y="96012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828800" cy="365760"/>
          </a:xfrm>
          <a:prstGeom prst="rect">
            <a:avLst/>
          </a:prstGeom>
          <a:noFill/>
        </p:spPr>
        <p:txBody>
          <a:bodyPr wrap="square"/>
          <a:lstStyle/>
          <a:p>
            <a:pPr algn="l">
              <a:defRPr sz="1400" b="1">
                <a:solidFill>
                  <a:srgbClr val="B45D09"/>
                </a:solidFill>
                <a:latin typeface="Calibri"/>
              </a:defRPr>
            </a:pPr>
            <a:r>
              <a:t>Pregunta</a:t>
            </a:r>
          </a:p>
        </p:txBody>
      </p:sp>
      <p:sp>
        <p:nvSpPr>
          <p:cNvPr id="8" name="TextBox 7"/>
          <p:cNvSpPr txBox="1"/>
          <p:nvPr/>
        </p:nvSpPr>
        <p:spPr>
          <a:xfrm>
            <a:off x="457200" y="1554480"/>
            <a:ext cx="11247120" cy="1280160"/>
          </a:xfrm>
          <a:prstGeom prst="rect">
            <a:avLst/>
          </a:prstGeom>
          <a:noFill/>
        </p:spPr>
        <p:txBody>
          <a:bodyPr wrap="square"/>
          <a:lstStyle/>
          <a:p>
            <a:pPr algn="l">
              <a:defRPr sz="2000" b="0">
                <a:solidFill>
                  <a:srgbClr val="333333"/>
                </a:solidFill>
                <a:latin typeface="Calibri"/>
              </a:defRPr>
            </a:pPr>
            <a:r>
              <a:t>Define riesgo de contrapartida y pon dos ejemplos cotidianos.</a:t>
            </a:r>
          </a:p>
        </p:txBody>
      </p:sp>
      <p:sp>
        <p:nvSpPr>
          <p:cNvPr id="9" name="Rectangle 8"/>
          <p:cNvSpPr/>
          <p:nvPr/>
        </p:nvSpPr>
        <p:spPr>
          <a:xfrm>
            <a:off x="457200" y="2971800"/>
            <a:ext cx="1097280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108960"/>
            <a:ext cx="1828800" cy="365760"/>
          </a:xfrm>
          <a:prstGeom prst="rect">
            <a:avLst/>
          </a:prstGeom>
          <a:noFill/>
        </p:spPr>
        <p:txBody>
          <a:bodyPr wrap="square"/>
          <a:lstStyle/>
          <a:p>
            <a:pPr algn="l">
              <a:defRPr sz="1400" b="1">
                <a:solidFill>
                  <a:srgbClr val="22627E"/>
                </a:solidFill>
                <a:latin typeface="Calibri"/>
              </a:defRPr>
            </a:pPr>
            <a:r>
              <a:t>Respuesta razonada</a:t>
            </a:r>
          </a:p>
        </p:txBody>
      </p:sp>
      <p:sp>
        <p:nvSpPr>
          <p:cNvPr id="11" name="TextBox 10"/>
          <p:cNvSpPr txBox="1"/>
          <p:nvPr/>
        </p:nvSpPr>
        <p:spPr>
          <a:xfrm>
            <a:off x="457200" y="3474720"/>
            <a:ext cx="11247120" cy="3200400"/>
          </a:xfrm>
          <a:prstGeom prst="rect">
            <a:avLst/>
          </a:prstGeom>
          <a:noFill/>
        </p:spPr>
        <p:txBody>
          <a:bodyPr wrap="square"/>
          <a:lstStyle/>
          <a:p>
            <a:pPr algn="l">
              <a:defRPr sz="1700" b="0">
                <a:solidFill>
                  <a:srgbClr val="333333"/>
                </a:solidFill>
                <a:latin typeface="Calibri"/>
              </a:defRPr>
            </a:pPr>
            <a:r>
              <a:t>Es el riesgo de que la otra parte de una transacción no cumpla con su obligación. Lo asumimos a diario sin pensarlo: una hipoteca (¿pagará el cliente al banco?), una compra online con pago por adelantado (¿enviará el vendedor el producto?), un depósito bancario (¿devolverá el banco mi dinero si quiebra?). De esta idea sale la incómoda revelación de que un euro en el bolsillo, en el banco y en una stablecoin no son el mismo euro.</a:t>
            </a:r>
          </a:p>
        </p:txBody>
      </p:sp>
      <p:sp>
        <p:nvSpPr>
          <p:cNvPr id="12" name="TextBox 11"/>
          <p:cNvSpPr txBox="1"/>
          <p:nvPr/>
        </p:nvSpPr>
        <p:spPr>
          <a:xfrm>
            <a:off x="10515600" y="6446520"/>
            <a:ext cx="1371600" cy="274320"/>
          </a:xfrm>
          <a:prstGeom prst="rect">
            <a:avLst/>
          </a:prstGeom>
          <a:noFill/>
        </p:spPr>
        <p:txBody>
          <a:bodyPr wrap="square"/>
          <a:lstStyle/>
          <a:p>
            <a:pPr algn="r">
              <a:defRPr sz="1200" b="0">
                <a:solidFill>
                  <a:srgbClr val="333333"/>
                </a:solidFill>
                <a:latin typeface="Calibri"/>
              </a:defRPr>
            </a:pPr>
            <a:r>
              <a:t>6 / 16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2377440" cy="4572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2377440" cy="457200"/>
          </a:xfrm>
          <a:prstGeom prst="rect">
            <a:avLst/>
          </a:prstGeom>
          <a:noFill/>
        </p:spPr>
        <p:txBody>
          <a:bodyPr wrap="square"/>
          <a:lstStyle/>
          <a:p>
            <a:pPr algn="ctr">
              <a:defRPr sz="1600" b="1">
                <a:solidFill>
                  <a:srgbClr val="FFFFFF"/>
                </a:solidFill>
                <a:latin typeface="Calibri"/>
              </a:defRPr>
            </a:pPr>
            <a:r>
              <a:t>PREGUNTA 7 / 16</a:t>
            </a:r>
          </a:p>
        </p:txBody>
      </p:sp>
      <p:sp>
        <p:nvSpPr>
          <p:cNvPr id="5" name="TextBox 4"/>
          <p:cNvSpPr txBox="1"/>
          <p:nvPr/>
        </p:nvSpPr>
        <p:spPr>
          <a:xfrm>
            <a:off x="3017520" y="256032"/>
            <a:ext cx="8686800" cy="640080"/>
          </a:xfrm>
          <a:prstGeom prst="rect">
            <a:avLst/>
          </a:prstGeom>
          <a:noFill/>
        </p:spPr>
        <p:txBody>
          <a:bodyPr wrap="square"/>
          <a:lstStyle/>
          <a:p>
            <a:pPr algn="l">
              <a:defRPr sz="2600" b="1">
                <a:solidFill>
                  <a:srgbClr val="333333"/>
                </a:solidFill>
                <a:latin typeface="Calibri"/>
              </a:defRPr>
            </a:pPr>
            <a:r>
              <a:t>Settlement</a:t>
            </a:r>
          </a:p>
        </p:txBody>
      </p:sp>
      <p:sp>
        <p:nvSpPr>
          <p:cNvPr id="6" name="Rectangle 5"/>
          <p:cNvSpPr/>
          <p:nvPr/>
        </p:nvSpPr>
        <p:spPr>
          <a:xfrm>
            <a:off x="457200" y="96012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828800" cy="365760"/>
          </a:xfrm>
          <a:prstGeom prst="rect">
            <a:avLst/>
          </a:prstGeom>
          <a:noFill/>
        </p:spPr>
        <p:txBody>
          <a:bodyPr wrap="square"/>
          <a:lstStyle/>
          <a:p>
            <a:pPr algn="l">
              <a:defRPr sz="1400" b="1">
                <a:solidFill>
                  <a:srgbClr val="B45D09"/>
                </a:solidFill>
                <a:latin typeface="Calibri"/>
              </a:defRPr>
            </a:pPr>
            <a:r>
              <a:t>Pregunta</a:t>
            </a:r>
          </a:p>
        </p:txBody>
      </p:sp>
      <p:sp>
        <p:nvSpPr>
          <p:cNvPr id="8" name="TextBox 7"/>
          <p:cNvSpPr txBox="1"/>
          <p:nvPr/>
        </p:nvSpPr>
        <p:spPr>
          <a:xfrm>
            <a:off x="457200" y="1554480"/>
            <a:ext cx="11247120" cy="1280160"/>
          </a:xfrm>
          <a:prstGeom prst="rect">
            <a:avLst/>
          </a:prstGeom>
          <a:noFill/>
        </p:spPr>
        <p:txBody>
          <a:bodyPr wrap="square"/>
          <a:lstStyle/>
          <a:p>
            <a:pPr algn="l">
              <a:defRPr sz="2000" b="0">
                <a:solidFill>
                  <a:srgbClr val="333333"/>
                </a:solidFill>
                <a:latin typeface="Calibri"/>
              </a:defRPr>
            </a:pPr>
            <a:r>
              <a:t>¿En qué consiste el settlement y por qué es el momento clave de una transacción?</a:t>
            </a:r>
          </a:p>
        </p:txBody>
      </p:sp>
      <p:sp>
        <p:nvSpPr>
          <p:cNvPr id="9" name="Rectangle 8"/>
          <p:cNvSpPr/>
          <p:nvPr/>
        </p:nvSpPr>
        <p:spPr>
          <a:xfrm>
            <a:off x="457200" y="2971800"/>
            <a:ext cx="1097280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108960"/>
            <a:ext cx="1828800" cy="365760"/>
          </a:xfrm>
          <a:prstGeom prst="rect">
            <a:avLst/>
          </a:prstGeom>
          <a:noFill/>
        </p:spPr>
        <p:txBody>
          <a:bodyPr wrap="square"/>
          <a:lstStyle/>
          <a:p>
            <a:pPr algn="l">
              <a:defRPr sz="1400" b="1">
                <a:solidFill>
                  <a:srgbClr val="22627E"/>
                </a:solidFill>
                <a:latin typeface="Calibri"/>
              </a:defRPr>
            </a:pPr>
            <a:r>
              <a:t>Respuesta razonada</a:t>
            </a:r>
          </a:p>
        </p:txBody>
      </p:sp>
      <p:sp>
        <p:nvSpPr>
          <p:cNvPr id="11" name="TextBox 10"/>
          <p:cNvSpPr txBox="1"/>
          <p:nvPr/>
        </p:nvSpPr>
        <p:spPr>
          <a:xfrm>
            <a:off x="457200" y="3474720"/>
            <a:ext cx="11247120" cy="3200400"/>
          </a:xfrm>
          <a:prstGeom prst="rect">
            <a:avLst/>
          </a:prstGeom>
          <a:noFill/>
        </p:spPr>
        <p:txBody>
          <a:bodyPr wrap="square"/>
          <a:lstStyle/>
          <a:p>
            <a:pPr algn="l">
              <a:defRPr sz="1700" b="0">
                <a:solidFill>
                  <a:srgbClr val="333333"/>
                </a:solidFill>
                <a:latin typeface="Calibri"/>
              </a:defRPr>
            </a:pPr>
            <a:r>
              <a:t>El settlement o liquidación es la entrega final y confirmada de un activo. Marca el punto donde la transacción se cierra de verdad y desaparece el riesgo pendiente. En el pasado implicaba intercambio físico de oro o efectivo; hoy se hace con dinero del banco central (reservas o efectivo). Hasta que no hay settlement, el pago no es definitivo: existe la promesa, pero no la entrega.</a:t>
            </a:r>
          </a:p>
        </p:txBody>
      </p:sp>
      <p:sp>
        <p:nvSpPr>
          <p:cNvPr id="12" name="TextBox 11"/>
          <p:cNvSpPr txBox="1"/>
          <p:nvPr/>
        </p:nvSpPr>
        <p:spPr>
          <a:xfrm>
            <a:off x="10515600" y="6446520"/>
            <a:ext cx="1371600" cy="274320"/>
          </a:xfrm>
          <a:prstGeom prst="rect">
            <a:avLst/>
          </a:prstGeom>
          <a:noFill/>
        </p:spPr>
        <p:txBody>
          <a:bodyPr wrap="square"/>
          <a:lstStyle/>
          <a:p>
            <a:pPr algn="r">
              <a:defRPr sz="1200" b="0">
                <a:solidFill>
                  <a:srgbClr val="333333"/>
                </a:solidFill>
                <a:latin typeface="Calibri"/>
              </a:defRPr>
            </a:pPr>
            <a:r>
              <a:t>7 / 16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2377440" cy="4572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2377440" cy="457200"/>
          </a:xfrm>
          <a:prstGeom prst="rect">
            <a:avLst/>
          </a:prstGeom>
          <a:noFill/>
        </p:spPr>
        <p:txBody>
          <a:bodyPr wrap="square"/>
          <a:lstStyle/>
          <a:p>
            <a:pPr algn="ctr">
              <a:defRPr sz="1600" b="1">
                <a:solidFill>
                  <a:srgbClr val="FFFFFF"/>
                </a:solidFill>
                <a:latin typeface="Calibri"/>
              </a:defRPr>
            </a:pPr>
            <a:r>
              <a:t>PREGUNTA 8 / 16</a:t>
            </a:r>
          </a:p>
        </p:txBody>
      </p:sp>
      <p:sp>
        <p:nvSpPr>
          <p:cNvPr id="5" name="TextBox 4"/>
          <p:cNvSpPr txBox="1"/>
          <p:nvPr/>
        </p:nvSpPr>
        <p:spPr>
          <a:xfrm>
            <a:off x="3017520" y="256032"/>
            <a:ext cx="8686800" cy="640080"/>
          </a:xfrm>
          <a:prstGeom prst="rect">
            <a:avLst/>
          </a:prstGeom>
          <a:noFill/>
        </p:spPr>
        <p:txBody>
          <a:bodyPr wrap="square"/>
          <a:lstStyle/>
          <a:p>
            <a:pPr algn="l">
              <a:defRPr sz="2600" b="1">
                <a:solidFill>
                  <a:srgbClr val="333333"/>
                </a:solidFill>
                <a:latin typeface="Calibri"/>
              </a:defRPr>
            </a:pPr>
            <a:r>
              <a:t>Settlement bancario complejo</a:t>
            </a:r>
          </a:p>
        </p:txBody>
      </p:sp>
      <p:sp>
        <p:nvSpPr>
          <p:cNvPr id="6" name="Rectangle 5"/>
          <p:cNvSpPr/>
          <p:nvPr/>
        </p:nvSpPr>
        <p:spPr>
          <a:xfrm>
            <a:off x="457200" y="96012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828800" cy="365760"/>
          </a:xfrm>
          <a:prstGeom prst="rect">
            <a:avLst/>
          </a:prstGeom>
          <a:noFill/>
        </p:spPr>
        <p:txBody>
          <a:bodyPr wrap="square"/>
          <a:lstStyle/>
          <a:p>
            <a:pPr algn="l">
              <a:defRPr sz="1400" b="1">
                <a:solidFill>
                  <a:srgbClr val="B45D09"/>
                </a:solidFill>
                <a:latin typeface="Calibri"/>
              </a:defRPr>
            </a:pPr>
            <a:r>
              <a:t>Pregunta</a:t>
            </a:r>
          </a:p>
        </p:txBody>
      </p:sp>
      <p:sp>
        <p:nvSpPr>
          <p:cNvPr id="8" name="TextBox 7"/>
          <p:cNvSpPr txBox="1"/>
          <p:nvPr/>
        </p:nvSpPr>
        <p:spPr>
          <a:xfrm>
            <a:off x="457200" y="1554480"/>
            <a:ext cx="11247120" cy="1280160"/>
          </a:xfrm>
          <a:prstGeom prst="rect">
            <a:avLst/>
          </a:prstGeom>
          <a:noFill/>
        </p:spPr>
        <p:txBody>
          <a:bodyPr wrap="square"/>
          <a:lstStyle/>
          <a:p>
            <a:pPr algn="l">
              <a:defRPr sz="2000" b="0">
                <a:solidFill>
                  <a:srgbClr val="333333"/>
                </a:solidFill>
                <a:latin typeface="Calibri"/>
              </a:defRPr>
            </a:pPr>
            <a:r>
              <a:t>¿Por qué el settlement es complejo y costoso en las transacciones interbancarias actuales?</a:t>
            </a:r>
          </a:p>
        </p:txBody>
      </p:sp>
      <p:sp>
        <p:nvSpPr>
          <p:cNvPr id="9" name="Rectangle 8"/>
          <p:cNvSpPr/>
          <p:nvPr/>
        </p:nvSpPr>
        <p:spPr>
          <a:xfrm>
            <a:off x="457200" y="2971800"/>
            <a:ext cx="1097280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108960"/>
            <a:ext cx="1828800" cy="365760"/>
          </a:xfrm>
          <a:prstGeom prst="rect">
            <a:avLst/>
          </a:prstGeom>
          <a:noFill/>
        </p:spPr>
        <p:txBody>
          <a:bodyPr wrap="square"/>
          <a:lstStyle/>
          <a:p>
            <a:pPr algn="l">
              <a:defRPr sz="1400" b="1">
                <a:solidFill>
                  <a:srgbClr val="22627E"/>
                </a:solidFill>
                <a:latin typeface="Calibri"/>
              </a:defRPr>
            </a:pPr>
            <a:r>
              <a:t>Respuesta razonada</a:t>
            </a:r>
          </a:p>
        </p:txBody>
      </p:sp>
      <p:sp>
        <p:nvSpPr>
          <p:cNvPr id="11" name="TextBox 10"/>
          <p:cNvSpPr txBox="1"/>
          <p:nvPr/>
        </p:nvSpPr>
        <p:spPr>
          <a:xfrm>
            <a:off x="457200" y="3474720"/>
            <a:ext cx="11247120" cy="3200400"/>
          </a:xfrm>
          <a:prstGeom prst="rect">
            <a:avLst/>
          </a:prstGeom>
          <a:noFill/>
        </p:spPr>
        <p:txBody>
          <a:bodyPr wrap="square"/>
          <a:lstStyle/>
          <a:p>
            <a:pPr algn="l">
              <a:defRPr sz="1700" b="0">
                <a:solidFill>
                  <a:srgbClr val="333333"/>
                </a:solidFill>
                <a:latin typeface="Calibri"/>
              </a:defRPr>
            </a:pPr>
            <a:r>
              <a:t>Porque autorización, clearing y liquidación ocurren en procesos y entidades distintas, los bancos no confían plenamente entre sí, las infraestructuras tienen calendarios separados (cierre de bolsa, festivos, husos horarios), hay múltiples intermediarios en cross-border (corresponsales) y comisiones acumuladas etapa tras etapa. Resultado: tiempos poco predecibles, poca transparencia y un coste operacional elevado.</a:t>
            </a:r>
          </a:p>
        </p:txBody>
      </p:sp>
      <p:sp>
        <p:nvSpPr>
          <p:cNvPr id="12" name="TextBox 11"/>
          <p:cNvSpPr txBox="1"/>
          <p:nvPr/>
        </p:nvSpPr>
        <p:spPr>
          <a:xfrm>
            <a:off x="10515600" y="6446520"/>
            <a:ext cx="1371600" cy="274320"/>
          </a:xfrm>
          <a:prstGeom prst="rect">
            <a:avLst/>
          </a:prstGeom>
          <a:noFill/>
        </p:spPr>
        <p:txBody>
          <a:bodyPr wrap="square"/>
          <a:lstStyle/>
          <a:p>
            <a:pPr algn="r">
              <a:defRPr sz="1200" b="0">
                <a:solidFill>
                  <a:srgbClr val="333333"/>
                </a:solidFill>
                <a:latin typeface="Calibri"/>
              </a:defRPr>
            </a:pPr>
            <a:r>
              <a:t>8 / 16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Imagen 15">
            <a:extLst>
              <a:ext uri="{FF2B5EF4-FFF2-40B4-BE49-F238E27FC236}">
                <a16:creationId xmlns:a16="http://schemas.microsoft.com/office/drawing/2014/main" id="{AADF7724-6A24-FC10-7F31-9B3C26C508CD}"/>
              </a:ext>
            </a:extLst>
          </p:cNvPr>
          <p:cNvPicPr>
            <a:picLocks noChangeAspect="1"/>
          </p:cNvPicPr>
          <p:nvPr/>
        </p:nvPicPr>
        <p:blipFill>
          <a:blip r:embed="rId2"/>
          <a:stretch>
            <a:fillRect/>
          </a:stretch>
        </p:blipFill>
        <p:spPr>
          <a:xfrm>
            <a:off x="17421" y="0"/>
            <a:ext cx="12153982"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6B774-A30E-1C0B-F91A-3FD08F360F9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4922677-9F0F-71F0-2102-0225B2BDFE61}"/>
              </a:ext>
            </a:extLst>
          </p:cNvPr>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9FA05ECD-90E9-BE5C-0508-38BD2028AE1A}"/>
              </a:ext>
            </a:extLst>
          </p:cNvPr>
          <p:cNvSpPr/>
          <p:nvPr/>
        </p:nvSpPr>
        <p:spPr>
          <a:xfrm>
            <a:off x="457200" y="274320"/>
            <a:ext cx="2377440" cy="4572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F4DBE965-DABF-8DA5-5105-C9175BE5021F}"/>
              </a:ext>
            </a:extLst>
          </p:cNvPr>
          <p:cNvSpPr txBox="1"/>
          <p:nvPr/>
        </p:nvSpPr>
        <p:spPr>
          <a:xfrm>
            <a:off x="457200" y="274320"/>
            <a:ext cx="2377440" cy="457200"/>
          </a:xfrm>
          <a:prstGeom prst="rect">
            <a:avLst/>
          </a:prstGeom>
          <a:noFill/>
        </p:spPr>
        <p:txBody>
          <a:bodyPr wrap="square"/>
          <a:lstStyle/>
          <a:p>
            <a:pPr algn="ctr">
              <a:defRPr sz="1600" b="1">
                <a:solidFill>
                  <a:srgbClr val="FFFFFF"/>
                </a:solidFill>
                <a:latin typeface="Calibri"/>
              </a:defRPr>
            </a:pPr>
            <a:r>
              <a:t>PREGUNTA 9 / 16</a:t>
            </a:r>
          </a:p>
        </p:txBody>
      </p:sp>
      <p:sp>
        <p:nvSpPr>
          <p:cNvPr id="5" name="TextBox 4">
            <a:extLst>
              <a:ext uri="{FF2B5EF4-FFF2-40B4-BE49-F238E27FC236}">
                <a16:creationId xmlns:a16="http://schemas.microsoft.com/office/drawing/2014/main" id="{42E98414-82E1-8665-5DD0-C9B896D50E29}"/>
              </a:ext>
            </a:extLst>
          </p:cNvPr>
          <p:cNvSpPr txBox="1"/>
          <p:nvPr/>
        </p:nvSpPr>
        <p:spPr>
          <a:xfrm>
            <a:off x="3017520" y="256032"/>
            <a:ext cx="8686800" cy="640080"/>
          </a:xfrm>
          <a:prstGeom prst="rect">
            <a:avLst/>
          </a:prstGeom>
          <a:noFill/>
        </p:spPr>
        <p:txBody>
          <a:bodyPr wrap="square"/>
          <a:lstStyle/>
          <a:p>
            <a:pPr algn="l">
              <a:defRPr sz="2600" b="1">
                <a:solidFill>
                  <a:srgbClr val="333333"/>
                </a:solidFill>
                <a:latin typeface="Calibri"/>
              </a:defRPr>
            </a:pPr>
            <a:r>
              <a:t>Bizum vs PayPal</a:t>
            </a:r>
          </a:p>
        </p:txBody>
      </p:sp>
      <p:sp>
        <p:nvSpPr>
          <p:cNvPr id="6" name="Rectangle 5">
            <a:extLst>
              <a:ext uri="{FF2B5EF4-FFF2-40B4-BE49-F238E27FC236}">
                <a16:creationId xmlns:a16="http://schemas.microsoft.com/office/drawing/2014/main" id="{EA3F7452-5B8A-57F2-4B14-2439D54AAE61}"/>
              </a:ext>
            </a:extLst>
          </p:cNvPr>
          <p:cNvSpPr/>
          <p:nvPr/>
        </p:nvSpPr>
        <p:spPr>
          <a:xfrm>
            <a:off x="457200" y="96012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B9171E0-ABE5-05DA-09ED-F7DC17A8B6CE}"/>
              </a:ext>
            </a:extLst>
          </p:cNvPr>
          <p:cNvSpPr txBox="1"/>
          <p:nvPr/>
        </p:nvSpPr>
        <p:spPr>
          <a:xfrm>
            <a:off x="457200" y="1188720"/>
            <a:ext cx="1828800" cy="365760"/>
          </a:xfrm>
          <a:prstGeom prst="rect">
            <a:avLst/>
          </a:prstGeom>
          <a:noFill/>
        </p:spPr>
        <p:txBody>
          <a:bodyPr wrap="square"/>
          <a:lstStyle/>
          <a:p>
            <a:pPr algn="l">
              <a:defRPr sz="1400" b="1">
                <a:solidFill>
                  <a:srgbClr val="B45D09"/>
                </a:solidFill>
                <a:latin typeface="Calibri"/>
              </a:defRPr>
            </a:pPr>
            <a:r>
              <a:t>Pregunta</a:t>
            </a:r>
          </a:p>
        </p:txBody>
      </p:sp>
      <p:sp>
        <p:nvSpPr>
          <p:cNvPr id="8" name="TextBox 7">
            <a:extLst>
              <a:ext uri="{FF2B5EF4-FFF2-40B4-BE49-F238E27FC236}">
                <a16:creationId xmlns:a16="http://schemas.microsoft.com/office/drawing/2014/main" id="{C679B90E-32E2-7737-E244-DFFDA9CF23B6}"/>
              </a:ext>
            </a:extLst>
          </p:cNvPr>
          <p:cNvSpPr txBox="1"/>
          <p:nvPr/>
        </p:nvSpPr>
        <p:spPr>
          <a:xfrm>
            <a:off x="457200" y="1554480"/>
            <a:ext cx="11247120" cy="1280160"/>
          </a:xfrm>
          <a:prstGeom prst="rect">
            <a:avLst/>
          </a:prstGeom>
          <a:noFill/>
        </p:spPr>
        <p:txBody>
          <a:bodyPr wrap="square"/>
          <a:lstStyle/>
          <a:p>
            <a:pPr algn="l">
              <a:defRPr sz="2000" b="0">
                <a:solidFill>
                  <a:srgbClr val="333333"/>
                </a:solidFill>
                <a:latin typeface="Calibri"/>
              </a:defRPr>
            </a:pPr>
            <a:r>
              <a:t>¿Cuál es la diferencia clave entre cómo liquida Bizum y cómo liquida PayPal?</a:t>
            </a:r>
          </a:p>
        </p:txBody>
      </p:sp>
      <p:sp>
        <p:nvSpPr>
          <p:cNvPr id="9" name="Rectangle 8">
            <a:extLst>
              <a:ext uri="{FF2B5EF4-FFF2-40B4-BE49-F238E27FC236}">
                <a16:creationId xmlns:a16="http://schemas.microsoft.com/office/drawing/2014/main" id="{67726B68-D24C-445B-8758-B44EF0D6B8D6}"/>
              </a:ext>
            </a:extLst>
          </p:cNvPr>
          <p:cNvSpPr/>
          <p:nvPr/>
        </p:nvSpPr>
        <p:spPr>
          <a:xfrm>
            <a:off x="457200" y="2971800"/>
            <a:ext cx="1097280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5CD17210-D9BA-014E-27F6-92246D3EEE7A}"/>
              </a:ext>
            </a:extLst>
          </p:cNvPr>
          <p:cNvSpPr txBox="1"/>
          <p:nvPr/>
        </p:nvSpPr>
        <p:spPr>
          <a:xfrm>
            <a:off x="457200" y="3108960"/>
            <a:ext cx="1828800" cy="365760"/>
          </a:xfrm>
          <a:prstGeom prst="rect">
            <a:avLst/>
          </a:prstGeom>
          <a:noFill/>
        </p:spPr>
        <p:txBody>
          <a:bodyPr wrap="square"/>
          <a:lstStyle/>
          <a:p>
            <a:pPr algn="l">
              <a:defRPr sz="1400" b="1">
                <a:solidFill>
                  <a:srgbClr val="22627E"/>
                </a:solidFill>
                <a:latin typeface="Calibri"/>
              </a:defRPr>
            </a:pPr>
            <a:r>
              <a:t>Respuesta razonada</a:t>
            </a:r>
          </a:p>
        </p:txBody>
      </p:sp>
      <p:sp>
        <p:nvSpPr>
          <p:cNvPr id="11" name="TextBox 10">
            <a:extLst>
              <a:ext uri="{FF2B5EF4-FFF2-40B4-BE49-F238E27FC236}">
                <a16:creationId xmlns:a16="http://schemas.microsoft.com/office/drawing/2014/main" id="{6DB141A2-86A8-314D-00F7-F64D7670EE2C}"/>
              </a:ext>
            </a:extLst>
          </p:cNvPr>
          <p:cNvSpPr txBox="1"/>
          <p:nvPr/>
        </p:nvSpPr>
        <p:spPr>
          <a:xfrm>
            <a:off x="457200" y="3474720"/>
            <a:ext cx="11247120" cy="3200400"/>
          </a:xfrm>
          <a:prstGeom prst="rect">
            <a:avLst/>
          </a:prstGeom>
          <a:noFill/>
        </p:spPr>
        <p:txBody>
          <a:bodyPr wrap="square"/>
          <a:lstStyle/>
          <a:p>
            <a:pPr algn="l">
              <a:defRPr sz="1700" b="0">
                <a:solidFill>
                  <a:srgbClr val="333333"/>
                </a:solidFill>
                <a:latin typeface="Calibri"/>
              </a:defRPr>
            </a:pPr>
            <a:r>
              <a:t>Bizum liquida en dinero de banco central vía SEPA Instant: el dinero pasa de un banco al otro y la liquidación final es inmediata. PayPal mueve saldo internamente entre sus propias cuentas (no entre bancos) y solo después ejecuta una transferencia bancaria tradicional para que el usuario retire el dinero. Bizum es transmisión real de dinero bancario; PayPal es un libro contable interno con liquidación bancaria diferida.</a:t>
            </a:r>
          </a:p>
        </p:txBody>
      </p:sp>
      <p:sp>
        <p:nvSpPr>
          <p:cNvPr id="12" name="TextBox 11">
            <a:extLst>
              <a:ext uri="{FF2B5EF4-FFF2-40B4-BE49-F238E27FC236}">
                <a16:creationId xmlns:a16="http://schemas.microsoft.com/office/drawing/2014/main" id="{CB4C5AE3-34E0-0BC4-E285-6E3206A68253}"/>
              </a:ext>
            </a:extLst>
          </p:cNvPr>
          <p:cNvSpPr txBox="1"/>
          <p:nvPr/>
        </p:nvSpPr>
        <p:spPr>
          <a:xfrm>
            <a:off x="10515600" y="6446520"/>
            <a:ext cx="1371600" cy="274320"/>
          </a:xfrm>
          <a:prstGeom prst="rect">
            <a:avLst/>
          </a:prstGeom>
          <a:noFill/>
        </p:spPr>
        <p:txBody>
          <a:bodyPr wrap="square"/>
          <a:lstStyle/>
          <a:p>
            <a:pPr algn="r">
              <a:defRPr sz="1200" b="0">
                <a:solidFill>
                  <a:srgbClr val="333333"/>
                </a:solidFill>
                <a:latin typeface="Calibri"/>
              </a:defRPr>
            </a:pPr>
            <a:r>
              <a:t>9 / 16</a:t>
            </a:r>
          </a:p>
        </p:txBody>
      </p:sp>
    </p:spTree>
    <p:extLst>
      <p:ext uri="{BB962C8B-B14F-4D97-AF65-F5344CB8AC3E}">
        <p14:creationId xmlns:p14="http://schemas.microsoft.com/office/powerpoint/2010/main" val="518112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2377440" cy="4572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2377440" cy="457200"/>
          </a:xfrm>
          <a:prstGeom prst="rect">
            <a:avLst/>
          </a:prstGeom>
          <a:noFill/>
        </p:spPr>
        <p:txBody>
          <a:bodyPr wrap="square"/>
          <a:lstStyle/>
          <a:p>
            <a:pPr algn="ctr">
              <a:defRPr sz="1600" b="1">
                <a:solidFill>
                  <a:srgbClr val="FFFFFF"/>
                </a:solidFill>
                <a:latin typeface="Calibri"/>
              </a:defRPr>
            </a:pPr>
            <a:r>
              <a:t>PREGUNTA 10 / 16</a:t>
            </a:r>
          </a:p>
        </p:txBody>
      </p:sp>
      <p:sp>
        <p:nvSpPr>
          <p:cNvPr id="5" name="TextBox 4"/>
          <p:cNvSpPr txBox="1"/>
          <p:nvPr/>
        </p:nvSpPr>
        <p:spPr>
          <a:xfrm>
            <a:off x="3017520" y="256032"/>
            <a:ext cx="8686800" cy="640080"/>
          </a:xfrm>
          <a:prstGeom prst="rect">
            <a:avLst/>
          </a:prstGeom>
          <a:noFill/>
        </p:spPr>
        <p:txBody>
          <a:bodyPr wrap="square"/>
          <a:lstStyle/>
          <a:p>
            <a:pPr algn="l">
              <a:defRPr sz="2600" b="1">
                <a:solidFill>
                  <a:srgbClr val="333333"/>
                </a:solidFill>
                <a:latin typeface="Calibri"/>
              </a:defRPr>
            </a:pPr>
            <a:r>
              <a:t>Multiplicación del dinero</a:t>
            </a:r>
          </a:p>
        </p:txBody>
      </p:sp>
      <p:sp>
        <p:nvSpPr>
          <p:cNvPr id="6" name="Rectangle 5"/>
          <p:cNvSpPr/>
          <p:nvPr/>
        </p:nvSpPr>
        <p:spPr>
          <a:xfrm>
            <a:off x="457200" y="96012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828800" cy="365760"/>
          </a:xfrm>
          <a:prstGeom prst="rect">
            <a:avLst/>
          </a:prstGeom>
          <a:noFill/>
        </p:spPr>
        <p:txBody>
          <a:bodyPr wrap="square"/>
          <a:lstStyle/>
          <a:p>
            <a:pPr algn="l">
              <a:defRPr sz="1400" b="1">
                <a:solidFill>
                  <a:srgbClr val="B45D09"/>
                </a:solidFill>
                <a:latin typeface="Calibri"/>
              </a:defRPr>
            </a:pPr>
            <a:r>
              <a:t>Pregunta</a:t>
            </a:r>
          </a:p>
        </p:txBody>
      </p:sp>
      <p:sp>
        <p:nvSpPr>
          <p:cNvPr id="8" name="TextBox 7"/>
          <p:cNvSpPr txBox="1"/>
          <p:nvPr/>
        </p:nvSpPr>
        <p:spPr>
          <a:xfrm>
            <a:off x="457200" y="1554480"/>
            <a:ext cx="11247120" cy="1280160"/>
          </a:xfrm>
          <a:prstGeom prst="rect">
            <a:avLst/>
          </a:prstGeom>
          <a:noFill/>
        </p:spPr>
        <p:txBody>
          <a:bodyPr wrap="square"/>
          <a:lstStyle/>
          <a:p>
            <a:pPr algn="l">
              <a:defRPr sz="2000" b="0">
                <a:solidFill>
                  <a:srgbClr val="333333"/>
                </a:solidFill>
                <a:latin typeface="Calibri"/>
              </a:defRPr>
            </a:pPr>
            <a:r>
              <a:t>¿Qué ratio aproximado puede aplicar un banco con la reserva fraccionaria y para qué debe usarlo?</a:t>
            </a:r>
          </a:p>
        </p:txBody>
      </p:sp>
      <p:sp>
        <p:nvSpPr>
          <p:cNvPr id="9" name="Rectangle 8"/>
          <p:cNvSpPr/>
          <p:nvPr/>
        </p:nvSpPr>
        <p:spPr>
          <a:xfrm>
            <a:off x="457200" y="2971800"/>
            <a:ext cx="1097280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108960"/>
            <a:ext cx="1828800" cy="365760"/>
          </a:xfrm>
          <a:prstGeom prst="rect">
            <a:avLst/>
          </a:prstGeom>
          <a:noFill/>
        </p:spPr>
        <p:txBody>
          <a:bodyPr wrap="square"/>
          <a:lstStyle/>
          <a:p>
            <a:pPr algn="l">
              <a:defRPr sz="1400" b="1">
                <a:solidFill>
                  <a:srgbClr val="22627E"/>
                </a:solidFill>
                <a:latin typeface="Calibri"/>
              </a:defRPr>
            </a:pPr>
            <a:r>
              <a:t>Respuesta razonada</a:t>
            </a:r>
          </a:p>
        </p:txBody>
      </p:sp>
      <p:sp>
        <p:nvSpPr>
          <p:cNvPr id="11" name="TextBox 10"/>
          <p:cNvSpPr txBox="1"/>
          <p:nvPr/>
        </p:nvSpPr>
        <p:spPr>
          <a:xfrm>
            <a:off x="457200" y="3474720"/>
            <a:ext cx="11247120" cy="3200400"/>
          </a:xfrm>
          <a:prstGeom prst="rect">
            <a:avLst/>
          </a:prstGeom>
          <a:noFill/>
        </p:spPr>
        <p:txBody>
          <a:bodyPr wrap="square"/>
          <a:lstStyle/>
          <a:p>
            <a:pPr algn="l">
              <a:defRPr sz="1700" b="0">
                <a:solidFill>
                  <a:srgbClr val="333333"/>
                </a:solidFill>
                <a:latin typeface="Calibri"/>
              </a:defRPr>
            </a:pPr>
            <a:r>
              <a:t>El ratio es aproximadamente 10 a 1: por cada euro depositado, el banco puede crear hasta diez en forma de préstamos. La condición regulatoria es que ese dinero creado se dedique a préstamos (no a consumo del propio banco). El argumento es que los bancos seleccionan los proyectos más prometedores y multiplican así el dinero del Banco Central; el problema es que dependen de su capacidad para evaluar correctamente el riesgo.</a:t>
            </a:r>
          </a:p>
        </p:txBody>
      </p:sp>
      <p:sp>
        <p:nvSpPr>
          <p:cNvPr id="12" name="TextBox 11"/>
          <p:cNvSpPr txBox="1"/>
          <p:nvPr/>
        </p:nvSpPr>
        <p:spPr>
          <a:xfrm>
            <a:off x="10515600" y="6446520"/>
            <a:ext cx="1371600" cy="274320"/>
          </a:xfrm>
          <a:prstGeom prst="rect">
            <a:avLst/>
          </a:prstGeom>
          <a:noFill/>
        </p:spPr>
        <p:txBody>
          <a:bodyPr wrap="square"/>
          <a:lstStyle/>
          <a:p>
            <a:pPr algn="r">
              <a:defRPr sz="1200" b="0">
                <a:solidFill>
                  <a:srgbClr val="333333"/>
                </a:solidFill>
                <a:latin typeface="Calibri"/>
              </a:defRPr>
            </a:pPr>
            <a:r>
              <a:t>10 / 16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2377440" cy="4572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2377440" cy="457200"/>
          </a:xfrm>
          <a:prstGeom prst="rect">
            <a:avLst/>
          </a:prstGeom>
          <a:noFill/>
        </p:spPr>
        <p:txBody>
          <a:bodyPr wrap="square"/>
          <a:lstStyle/>
          <a:p>
            <a:pPr algn="ctr">
              <a:defRPr sz="1600" b="1">
                <a:solidFill>
                  <a:srgbClr val="FFFFFF"/>
                </a:solidFill>
                <a:latin typeface="Calibri"/>
              </a:defRPr>
            </a:pPr>
            <a:r>
              <a:t>PREGUNTA 11 / 16</a:t>
            </a:r>
          </a:p>
        </p:txBody>
      </p:sp>
      <p:sp>
        <p:nvSpPr>
          <p:cNvPr id="5" name="TextBox 4"/>
          <p:cNvSpPr txBox="1"/>
          <p:nvPr/>
        </p:nvSpPr>
        <p:spPr>
          <a:xfrm>
            <a:off x="3017520" y="256032"/>
            <a:ext cx="8686800" cy="640080"/>
          </a:xfrm>
          <a:prstGeom prst="rect">
            <a:avLst/>
          </a:prstGeom>
          <a:noFill/>
        </p:spPr>
        <p:txBody>
          <a:bodyPr wrap="square"/>
          <a:lstStyle/>
          <a:p>
            <a:pPr algn="l">
              <a:defRPr sz="2600" b="1">
                <a:solidFill>
                  <a:srgbClr val="333333"/>
                </a:solidFill>
                <a:latin typeface="Calibri"/>
              </a:defRPr>
            </a:pPr>
            <a:r>
              <a:t>Crisis 2008</a:t>
            </a:r>
          </a:p>
        </p:txBody>
      </p:sp>
      <p:sp>
        <p:nvSpPr>
          <p:cNvPr id="6" name="Rectangle 5"/>
          <p:cNvSpPr/>
          <p:nvPr/>
        </p:nvSpPr>
        <p:spPr>
          <a:xfrm>
            <a:off x="457200" y="96012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828800" cy="365760"/>
          </a:xfrm>
          <a:prstGeom prst="rect">
            <a:avLst/>
          </a:prstGeom>
          <a:noFill/>
        </p:spPr>
        <p:txBody>
          <a:bodyPr wrap="square"/>
          <a:lstStyle/>
          <a:p>
            <a:pPr algn="l">
              <a:defRPr sz="1400" b="1">
                <a:solidFill>
                  <a:srgbClr val="B45D09"/>
                </a:solidFill>
                <a:latin typeface="Calibri"/>
              </a:defRPr>
            </a:pPr>
            <a:r>
              <a:t>Pregunta</a:t>
            </a:r>
          </a:p>
        </p:txBody>
      </p:sp>
      <p:sp>
        <p:nvSpPr>
          <p:cNvPr id="8" name="TextBox 7"/>
          <p:cNvSpPr txBox="1"/>
          <p:nvPr/>
        </p:nvSpPr>
        <p:spPr>
          <a:xfrm>
            <a:off x="457200" y="1554480"/>
            <a:ext cx="11247120" cy="1280160"/>
          </a:xfrm>
          <a:prstGeom prst="rect">
            <a:avLst/>
          </a:prstGeom>
          <a:noFill/>
        </p:spPr>
        <p:txBody>
          <a:bodyPr wrap="square"/>
          <a:lstStyle/>
          <a:p>
            <a:pPr algn="l">
              <a:defRPr sz="2000" b="0">
                <a:solidFill>
                  <a:srgbClr val="333333"/>
                </a:solidFill>
                <a:latin typeface="Calibri"/>
              </a:defRPr>
            </a:pPr>
            <a:r>
              <a:t>¿Qué falló en la crisis de 2008 desde la perspectiva del riesgo de contrapartida?</a:t>
            </a:r>
          </a:p>
        </p:txBody>
      </p:sp>
      <p:sp>
        <p:nvSpPr>
          <p:cNvPr id="9" name="Rectangle 8"/>
          <p:cNvSpPr/>
          <p:nvPr/>
        </p:nvSpPr>
        <p:spPr>
          <a:xfrm>
            <a:off x="457200" y="2971800"/>
            <a:ext cx="1097280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108960"/>
            <a:ext cx="1828800" cy="365760"/>
          </a:xfrm>
          <a:prstGeom prst="rect">
            <a:avLst/>
          </a:prstGeom>
          <a:noFill/>
        </p:spPr>
        <p:txBody>
          <a:bodyPr wrap="square"/>
          <a:lstStyle/>
          <a:p>
            <a:pPr algn="l">
              <a:defRPr sz="1400" b="1">
                <a:solidFill>
                  <a:srgbClr val="22627E"/>
                </a:solidFill>
                <a:latin typeface="Calibri"/>
              </a:defRPr>
            </a:pPr>
            <a:r>
              <a:t>Respuesta razonada</a:t>
            </a:r>
          </a:p>
        </p:txBody>
      </p:sp>
      <p:sp>
        <p:nvSpPr>
          <p:cNvPr id="11" name="TextBox 10"/>
          <p:cNvSpPr txBox="1"/>
          <p:nvPr/>
        </p:nvSpPr>
        <p:spPr>
          <a:xfrm>
            <a:off x="457200" y="3474720"/>
            <a:ext cx="11247120" cy="3200400"/>
          </a:xfrm>
          <a:prstGeom prst="rect">
            <a:avLst/>
          </a:prstGeom>
          <a:noFill/>
        </p:spPr>
        <p:txBody>
          <a:bodyPr wrap="square"/>
          <a:lstStyle/>
          <a:p>
            <a:pPr algn="l">
              <a:defRPr sz="1700" b="0">
                <a:solidFill>
                  <a:srgbClr val="333333"/>
                </a:solidFill>
                <a:latin typeface="Calibri"/>
              </a:defRPr>
            </a:pPr>
            <a:r>
              <a:t>Los bancos prestaron a clientes de baja solvencia (hipotecas subprime), empaquetaron esas hipotecas en productos financieros que parecían seguros y los vendieron entre ellos. Cuando los impagos crecieron, se rompió la confianza en la solvencia bancaria: los bancos dejaron de prestarse entre sí porque no confiaban en cobrar. Eso congeló el settlement interbancario, derivó en corridas bancarias modernas y forzó rescates masivos.</a:t>
            </a:r>
          </a:p>
        </p:txBody>
      </p:sp>
      <p:sp>
        <p:nvSpPr>
          <p:cNvPr id="12" name="TextBox 11"/>
          <p:cNvSpPr txBox="1"/>
          <p:nvPr/>
        </p:nvSpPr>
        <p:spPr>
          <a:xfrm>
            <a:off x="10515600" y="6446520"/>
            <a:ext cx="1371600" cy="274320"/>
          </a:xfrm>
          <a:prstGeom prst="rect">
            <a:avLst/>
          </a:prstGeom>
          <a:noFill/>
        </p:spPr>
        <p:txBody>
          <a:bodyPr wrap="square"/>
          <a:lstStyle/>
          <a:p>
            <a:pPr algn="r">
              <a:defRPr sz="1200" b="0">
                <a:solidFill>
                  <a:srgbClr val="333333"/>
                </a:solidFill>
                <a:latin typeface="Calibri"/>
              </a:defRPr>
            </a:pPr>
            <a:r>
              <a:t>11 / 16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2377440" cy="4572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2377440" cy="457200"/>
          </a:xfrm>
          <a:prstGeom prst="rect">
            <a:avLst/>
          </a:prstGeom>
          <a:noFill/>
        </p:spPr>
        <p:txBody>
          <a:bodyPr wrap="square"/>
          <a:lstStyle/>
          <a:p>
            <a:pPr algn="ctr">
              <a:defRPr sz="1600" b="1">
                <a:solidFill>
                  <a:srgbClr val="FFFFFF"/>
                </a:solidFill>
                <a:latin typeface="Calibri"/>
              </a:defRPr>
            </a:pPr>
            <a:r>
              <a:t>PREGUNTA 12 / 16</a:t>
            </a:r>
          </a:p>
        </p:txBody>
      </p:sp>
      <p:sp>
        <p:nvSpPr>
          <p:cNvPr id="5" name="TextBox 4"/>
          <p:cNvSpPr txBox="1"/>
          <p:nvPr/>
        </p:nvSpPr>
        <p:spPr>
          <a:xfrm>
            <a:off x="3017520" y="256032"/>
            <a:ext cx="8686800" cy="640080"/>
          </a:xfrm>
          <a:prstGeom prst="rect">
            <a:avLst/>
          </a:prstGeom>
          <a:noFill/>
        </p:spPr>
        <p:txBody>
          <a:bodyPr wrap="square"/>
          <a:lstStyle/>
          <a:p>
            <a:pPr algn="l">
              <a:defRPr sz="2600" b="1">
                <a:solidFill>
                  <a:srgbClr val="333333"/>
                </a:solidFill>
                <a:latin typeface="Calibri"/>
              </a:defRPr>
            </a:pPr>
            <a:r>
              <a:t>Bancos centrales en 2008</a:t>
            </a:r>
          </a:p>
        </p:txBody>
      </p:sp>
      <p:sp>
        <p:nvSpPr>
          <p:cNvPr id="6" name="Rectangle 5"/>
          <p:cNvSpPr/>
          <p:nvPr/>
        </p:nvSpPr>
        <p:spPr>
          <a:xfrm>
            <a:off x="457200" y="96012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828800" cy="365760"/>
          </a:xfrm>
          <a:prstGeom prst="rect">
            <a:avLst/>
          </a:prstGeom>
          <a:noFill/>
        </p:spPr>
        <p:txBody>
          <a:bodyPr wrap="square"/>
          <a:lstStyle/>
          <a:p>
            <a:pPr algn="l">
              <a:defRPr sz="1400" b="1">
                <a:solidFill>
                  <a:srgbClr val="B45D09"/>
                </a:solidFill>
                <a:latin typeface="Calibri"/>
              </a:defRPr>
            </a:pPr>
            <a:r>
              <a:t>Pregunta</a:t>
            </a:r>
          </a:p>
        </p:txBody>
      </p:sp>
      <p:sp>
        <p:nvSpPr>
          <p:cNvPr id="8" name="TextBox 7"/>
          <p:cNvSpPr txBox="1"/>
          <p:nvPr/>
        </p:nvSpPr>
        <p:spPr>
          <a:xfrm>
            <a:off x="457200" y="1554480"/>
            <a:ext cx="11247120" cy="1280160"/>
          </a:xfrm>
          <a:prstGeom prst="rect">
            <a:avLst/>
          </a:prstGeom>
          <a:noFill/>
        </p:spPr>
        <p:txBody>
          <a:bodyPr wrap="square"/>
          <a:lstStyle/>
          <a:p>
            <a:pPr algn="l">
              <a:defRPr sz="2000" b="0">
                <a:solidFill>
                  <a:srgbClr val="333333"/>
                </a:solidFill>
                <a:latin typeface="Calibri"/>
              </a:defRPr>
            </a:pPr>
            <a:r>
              <a:t>¿Qué papel jugaron los bancos centrales antes, durante y después de la crisis de 2008?</a:t>
            </a:r>
          </a:p>
        </p:txBody>
      </p:sp>
      <p:sp>
        <p:nvSpPr>
          <p:cNvPr id="9" name="Rectangle 8"/>
          <p:cNvSpPr/>
          <p:nvPr/>
        </p:nvSpPr>
        <p:spPr>
          <a:xfrm>
            <a:off x="457200" y="2971800"/>
            <a:ext cx="1097280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108960"/>
            <a:ext cx="1828800" cy="365760"/>
          </a:xfrm>
          <a:prstGeom prst="rect">
            <a:avLst/>
          </a:prstGeom>
          <a:noFill/>
        </p:spPr>
        <p:txBody>
          <a:bodyPr wrap="square"/>
          <a:lstStyle/>
          <a:p>
            <a:pPr algn="l">
              <a:defRPr sz="1400" b="1">
                <a:solidFill>
                  <a:srgbClr val="22627E"/>
                </a:solidFill>
                <a:latin typeface="Calibri"/>
              </a:defRPr>
            </a:pPr>
            <a:r>
              <a:t>Respuesta razonada</a:t>
            </a:r>
          </a:p>
        </p:txBody>
      </p:sp>
      <p:sp>
        <p:nvSpPr>
          <p:cNvPr id="11" name="TextBox 10"/>
          <p:cNvSpPr txBox="1"/>
          <p:nvPr/>
        </p:nvSpPr>
        <p:spPr>
          <a:xfrm>
            <a:off x="457200" y="3474720"/>
            <a:ext cx="11247120" cy="3200400"/>
          </a:xfrm>
          <a:prstGeom prst="rect">
            <a:avLst/>
          </a:prstGeom>
          <a:noFill/>
        </p:spPr>
        <p:txBody>
          <a:bodyPr wrap="square"/>
          <a:lstStyle/>
          <a:p>
            <a:pPr algn="l">
              <a:defRPr sz="1700" b="0">
                <a:solidFill>
                  <a:srgbClr val="333333"/>
                </a:solidFill>
                <a:latin typeface="Calibri"/>
              </a:defRPr>
            </a:pPr>
            <a:r>
              <a:t>Antes: permitieron una expansión crediticia excesiva y una regulación laxa del riesgo. Durante: actuaron como prestamistas de última instancia, inyectando liquidez masiva y rescatando bancos para evitar el colapso. Después: reforzaron la regulación (mayores requisitos de capital, supervisión más estricta) y mantuvieron políticas monetarias expansivas (tipos bajos, compras de activos). Quedó claro que el sistema dependía de la confianza en el dinero bancario, no solo en el del banco central.</a:t>
            </a:r>
          </a:p>
        </p:txBody>
      </p:sp>
      <p:sp>
        <p:nvSpPr>
          <p:cNvPr id="12" name="TextBox 11"/>
          <p:cNvSpPr txBox="1"/>
          <p:nvPr/>
        </p:nvSpPr>
        <p:spPr>
          <a:xfrm>
            <a:off x="10515600" y="6446520"/>
            <a:ext cx="1371600" cy="274320"/>
          </a:xfrm>
          <a:prstGeom prst="rect">
            <a:avLst/>
          </a:prstGeom>
          <a:noFill/>
        </p:spPr>
        <p:txBody>
          <a:bodyPr wrap="square"/>
          <a:lstStyle/>
          <a:p>
            <a:pPr algn="r">
              <a:defRPr sz="1200" b="0">
                <a:solidFill>
                  <a:srgbClr val="333333"/>
                </a:solidFill>
                <a:latin typeface="Calibri"/>
              </a:defRPr>
            </a:pPr>
            <a:r>
              <a:t>12 / 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2377440" cy="4572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2377440" cy="457200"/>
          </a:xfrm>
          <a:prstGeom prst="rect">
            <a:avLst/>
          </a:prstGeom>
          <a:noFill/>
        </p:spPr>
        <p:txBody>
          <a:bodyPr wrap="square"/>
          <a:lstStyle/>
          <a:p>
            <a:pPr algn="ctr">
              <a:defRPr sz="1600" b="1">
                <a:solidFill>
                  <a:srgbClr val="FFFFFF"/>
                </a:solidFill>
                <a:latin typeface="Calibri"/>
              </a:defRPr>
            </a:pPr>
            <a:r>
              <a:t>PREGUNTA 13 / 16</a:t>
            </a:r>
          </a:p>
        </p:txBody>
      </p:sp>
      <p:sp>
        <p:nvSpPr>
          <p:cNvPr id="5" name="TextBox 4"/>
          <p:cNvSpPr txBox="1"/>
          <p:nvPr/>
        </p:nvSpPr>
        <p:spPr>
          <a:xfrm>
            <a:off x="3017520" y="256032"/>
            <a:ext cx="8686800" cy="640080"/>
          </a:xfrm>
          <a:prstGeom prst="rect">
            <a:avLst/>
          </a:prstGeom>
          <a:noFill/>
        </p:spPr>
        <p:txBody>
          <a:bodyPr wrap="square"/>
          <a:lstStyle/>
          <a:p>
            <a:pPr algn="l">
              <a:defRPr sz="2600" b="1">
                <a:solidFill>
                  <a:srgbClr val="333333"/>
                </a:solidFill>
                <a:latin typeface="Calibri"/>
              </a:defRPr>
            </a:pPr>
            <a:r>
              <a:t>Whitepaper de Bitcoin</a:t>
            </a:r>
          </a:p>
        </p:txBody>
      </p:sp>
      <p:sp>
        <p:nvSpPr>
          <p:cNvPr id="6" name="Rectangle 5"/>
          <p:cNvSpPr/>
          <p:nvPr/>
        </p:nvSpPr>
        <p:spPr>
          <a:xfrm>
            <a:off x="457200" y="96012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828800" cy="365760"/>
          </a:xfrm>
          <a:prstGeom prst="rect">
            <a:avLst/>
          </a:prstGeom>
          <a:noFill/>
        </p:spPr>
        <p:txBody>
          <a:bodyPr wrap="square"/>
          <a:lstStyle/>
          <a:p>
            <a:pPr algn="l">
              <a:defRPr sz="1400" b="1">
                <a:solidFill>
                  <a:srgbClr val="B45D09"/>
                </a:solidFill>
                <a:latin typeface="Calibri"/>
              </a:defRPr>
            </a:pPr>
            <a:r>
              <a:t>Pregunta</a:t>
            </a:r>
          </a:p>
        </p:txBody>
      </p:sp>
      <p:sp>
        <p:nvSpPr>
          <p:cNvPr id="8" name="TextBox 7"/>
          <p:cNvSpPr txBox="1"/>
          <p:nvPr/>
        </p:nvSpPr>
        <p:spPr>
          <a:xfrm>
            <a:off x="457200" y="1554480"/>
            <a:ext cx="11247120" cy="1280160"/>
          </a:xfrm>
          <a:prstGeom prst="rect">
            <a:avLst/>
          </a:prstGeom>
          <a:noFill/>
        </p:spPr>
        <p:txBody>
          <a:bodyPr wrap="square"/>
          <a:lstStyle/>
          <a:p>
            <a:pPr algn="l">
              <a:defRPr sz="2000" b="0">
                <a:solidFill>
                  <a:srgbClr val="333333"/>
                </a:solidFill>
                <a:latin typeface="Calibri"/>
              </a:defRPr>
            </a:pPr>
            <a:r>
              <a:t>¿Qué propuso Satoshi Nakamoto en octubre de 2008 y por qué fue una respuesta directa a la crisis?</a:t>
            </a:r>
          </a:p>
        </p:txBody>
      </p:sp>
      <p:sp>
        <p:nvSpPr>
          <p:cNvPr id="9" name="Rectangle 8"/>
          <p:cNvSpPr/>
          <p:nvPr/>
        </p:nvSpPr>
        <p:spPr>
          <a:xfrm>
            <a:off x="457200" y="2971800"/>
            <a:ext cx="1097280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108960"/>
            <a:ext cx="1828800" cy="365760"/>
          </a:xfrm>
          <a:prstGeom prst="rect">
            <a:avLst/>
          </a:prstGeom>
          <a:noFill/>
        </p:spPr>
        <p:txBody>
          <a:bodyPr wrap="square"/>
          <a:lstStyle/>
          <a:p>
            <a:pPr algn="l">
              <a:defRPr sz="1400" b="1">
                <a:solidFill>
                  <a:srgbClr val="22627E"/>
                </a:solidFill>
                <a:latin typeface="Calibri"/>
              </a:defRPr>
            </a:pPr>
            <a:r>
              <a:t>Respuesta razonada</a:t>
            </a:r>
          </a:p>
        </p:txBody>
      </p:sp>
      <p:sp>
        <p:nvSpPr>
          <p:cNvPr id="11" name="TextBox 10"/>
          <p:cNvSpPr txBox="1"/>
          <p:nvPr/>
        </p:nvSpPr>
        <p:spPr>
          <a:xfrm>
            <a:off x="457200" y="3474720"/>
            <a:ext cx="11247120" cy="3200400"/>
          </a:xfrm>
          <a:prstGeom prst="rect">
            <a:avLst/>
          </a:prstGeom>
          <a:noFill/>
        </p:spPr>
        <p:txBody>
          <a:bodyPr wrap="square"/>
          <a:lstStyle/>
          <a:p>
            <a:pPr algn="l">
              <a:defRPr sz="1700" b="0">
                <a:solidFill>
                  <a:srgbClr val="333333"/>
                </a:solidFill>
                <a:latin typeface="Calibri"/>
              </a:defRPr>
            </a:pPr>
            <a:r>
              <a:t>Propuso un sistema de dinero digital descentralizado y sin necesidad de bancos, basado en criptografía y consenso distribuido. La crisis había hecho visible que la confianza en intermediarios financieros era frágil; el whitepaper de Bitcoin planteaba justo eliminar ese punto único de fallo. No es solo un activo financiero: es una respuesta política y técnica a la fragilidad del dinero bancario evidenciada en 2008.</a:t>
            </a:r>
          </a:p>
        </p:txBody>
      </p:sp>
      <p:sp>
        <p:nvSpPr>
          <p:cNvPr id="12" name="TextBox 11"/>
          <p:cNvSpPr txBox="1"/>
          <p:nvPr/>
        </p:nvSpPr>
        <p:spPr>
          <a:xfrm>
            <a:off x="10515600" y="6446520"/>
            <a:ext cx="1371600" cy="274320"/>
          </a:xfrm>
          <a:prstGeom prst="rect">
            <a:avLst/>
          </a:prstGeom>
          <a:noFill/>
        </p:spPr>
        <p:txBody>
          <a:bodyPr wrap="square"/>
          <a:lstStyle/>
          <a:p>
            <a:pPr algn="r">
              <a:defRPr sz="1200" b="0">
                <a:solidFill>
                  <a:srgbClr val="333333"/>
                </a:solidFill>
                <a:latin typeface="Calibri"/>
              </a:defRPr>
            </a:pPr>
            <a:r>
              <a:t>13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2377440" cy="4572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2377440" cy="457200"/>
          </a:xfrm>
          <a:prstGeom prst="rect">
            <a:avLst/>
          </a:prstGeom>
          <a:noFill/>
        </p:spPr>
        <p:txBody>
          <a:bodyPr wrap="square"/>
          <a:lstStyle/>
          <a:p>
            <a:pPr algn="ctr">
              <a:defRPr sz="1600" b="1">
                <a:solidFill>
                  <a:srgbClr val="FFFFFF"/>
                </a:solidFill>
                <a:latin typeface="Calibri"/>
              </a:defRPr>
            </a:pPr>
            <a:r>
              <a:t>PREGUNTA 14 / 16</a:t>
            </a:r>
          </a:p>
        </p:txBody>
      </p:sp>
      <p:sp>
        <p:nvSpPr>
          <p:cNvPr id="5" name="TextBox 4"/>
          <p:cNvSpPr txBox="1"/>
          <p:nvPr/>
        </p:nvSpPr>
        <p:spPr>
          <a:xfrm>
            <a:off x="3017520" y="256032"/>
            <a:ext cx="8686800" cy="640080"/>
          </a:xfrm>
          <a:prstGeom prst="rect">
            <a:avLst/>
          </a:prstGeom>
          <a:noFill/>
        </p:spPr>
        <p:txBody>
          <a:bodyPr wrap="square"/>
          <a:lstStyle/>
          <a:p>
            <a:pPr algn="l">
              <a:defRPr sz="2600" b="1">
                <a:solidFill>
                  <a:srgbClr val="333333"/>
                </a:solidFill>
                <a:latin typeface="Calibri"/>
              </a:defRPr>
            </a:pPr>
            <a:r>
              <a:t>Genesis block</a:t>
            </a:r>
          </a:p>
        </p:txBody>
      </p:sp>
      <p:sp>
        <p:nvSpPr>
          <p:cNvPr id="6" name="Rectangle 5"/>
          <p:cNvSpPr/>
          <p:nvPr/>
        </p:nvSpPr>
        <p:spPr>
          <a:xfrm>
            <a:off x="457200" y="96012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828800" cy="365760"/>
          </a:xfrm>
          <a:prstGeom prst="rect">
            <a:avLst/>
          </a:prstGeom>
          <a:noFill/>
        </p:spPr>
        <p:txBody>
          <a:bodyPr wrap="square"/>
          <a:lstStyle/>
          <a:p>
            <a:pPr algn="l">
              <a:defRPr sz="1400" b="1">
                <a:solidFill>
                  <a:srgbClr val="B45D09"/>
                </a:solidFill>
                <a:latin typeface="Calibri"/>
              </a:defRPr>
            </a:pPr>
            <a:r>
              <a:t>Pregunta</a:t>
            </a:r>
          </a:p>
        </p:txBody>
      </p:sp>
      <p:sp>
        <p:nvSpPr>
          <p:cNvPr id="8" name="TextBox 7"/>
          <p:cNvSpPr txBox="1"/>
          <p:nvPr/>
        </p:nvSpPr>
        <p:spPr>
          <a:xfrm>
            <a:off x="457200" y="1554480"/>
            <a:ext cx="11247120" cy="1280160"/>
          </a:xfrm>
          <a:prstGeom prst="rect">
            <a:avLst/>
          </a:prstGeom>
          <a:noFill/>
        </p:spPr>
        <p:txBody>
          <a:bodyPr wrap="square"/>
          <a:lstStyle/>
          <a:p>
            <a:pPr algn="l">
              <a:defRPr sz="2000" b="0">
                <a:solidFill>
                  <a:srgbClr val="333333"/>
                </a:solidFill>
                <a:latin typeface="Calibri"/>
              </a:defRPr>
            </a:pPr>
            <a:r>
              <a:t>¿Qué simboliza la frase 'The Times 03/Jan/2009 Chancellor on brink of second bailout for banks' del genesis block?</a:t>
            </a:r>
          </a:p>
        </p:txBody>
      </p:sp>
      <p:sp>
        <p:nvSpPr>
          <p:cNvPr id="9" name="Rectangle 8"/>
          <p:cNvSpPr/>
          <p:nvPr/>
        </p:nvSpPr>
        <p:spPr>
          <a:xfrm>
            <a:off x="457200" y="2971800"/>
            <a:ext cx="1097280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108960"/>
            <a:ext cx="1828800" cy="365760"/>
          </a:xfrm>
          <a:prstGeom prst="rect">
            <a:avLst/>
          </a:prstGeom>
          <a:noFill/>
        </p:spPr>
        <p:txBody>
          <a:bodyPr wrap="square"/>
          <a:lstStyle/>
          <a:p>
            <a:pPr algn="l">
              <a:defRPr sz="1400" b="1">
                <a:solidFill>
                  <a:srgbClr val="22627E"/>
                </a:solidFill>
                <a:latin typeface="Calibri"/>
              </a:defRPr>
            </a:pPr>
            <a:r>
              <a:t>Respuesta razonada</a:t>
            </a:r>
          </a:p>
        </p:txBody>
      </p:sp>
      <p:sp>
        <p:nvSpPr>
          <p:cNvPr id="11" name="TextBox 10"/>
          <p:cNvSpPr txBox="1"/>
          <p:nvPr/>
        </p:nvSpPr>
        <p:spPr>
          <a:xfrm>
            <a:off x="457200" y="3474720"/>
            <a:ext cx="11247120" cy="3200400"/>
          </a:xfrm>
          <a:prstGeom prst="rect">
            <a:avLst/>
          </a:prstGeom>
          <a:noFill/>
        </p:spPr>
        <p:txBody>
          <a:bodyPr wrap="square"/>
          <a:lstStyle/>
          <a:p>
            <a:pPr algn="l">
              <a:defRPr sz="1700" b="0">
                <a:solidFill>
                  <a:srgbClr val="333333"/>
                </a:solidFill>
                <a:latin typeface="Calibri"/>
              </a:defRPr>
            </a:pPr>
            <a:r>
              <a:t>Es la portada del Times del 3 de enero de 2009, día en que Satoshi minó el primer bloque, y hablaba del segundo rescate bancario que el Canciller británico estaba preparando. Cumple dos funciones: como sello temporal criptográfico (timestamp que demuestra que ese bloque no se minó antes), y como declaración política del proyecto: Bitcoin nace como alternativa a un sistema que rescata bancos con dinero público.</a:t>
            </a:r>
          </a:p>
        </p:txBody>
      </p:sp>
      <p:sp>
        <p:nvSpPr>
          <p:cNvPr id="12" name="TextBox 11"/>
          <p:cNvSpPr txBox="1"/>
          <p:nvPr/>
        </p:nvSpPr>
        <p:spPr>
          <a:xfrm>
            <a:off x="10515600" y="6446520"/>
            <a:ext cx="1371600" cy="274320"/>
          </a:xfrm>
          <a:prstGeom prst="rect">
            <a:avLst/>
          </a:prstGeom>
          <a:noFill/>
        </p:spPr>
        <p:txBody>
          <a:bodyPr wrap="square"/>
          <a:lstStyle/>
          <a:p>
            <a:pPr algn="r">
              <a:defRPr sz="1200" b="0">
                <a:solidFill>
                  <a:srgbClr val="333333"/>
                </a:solidFill>
                <a:latin typeface="Calibri"/>
              </a:defRPr>
            </a:pPr>
            <a:r>
              <a:t>14 / 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2377440" cy="4572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2377440" cy="457200"/>
          </a:xfrm>
          <a:prstGeom prst="rect">
            <a:avLst/>
          </a:prstGeom>
          <a:noFill/>
        </p:spPr>
        <p:txBody>
          <a:bodyPr wrap="square"/>
          <a:lstStyle/>
          <a:p>
            <a:pPr algn="ctr">
              <a:defRPr sz="1600" b="1">
                <a:solidFill>
                  <a:srgbClr val="FFFFFF"/>
                </a:solidFill>
                <a:latin typeface="Calibri"/>
              </a:defRPr>
            </a:pPr>
            <a:r>
              <a:t>PREGUNTA 15 / 16</a:t>
            </a:r>
          </a:p>
        </p:txBody>
      </p:sp>
      <p:sp>
        <p:nvSpPr>
          <p:cNvPr id="5" name="TextBox 4"/>
          <p:cNvSpPr txBox="1"/>
          <p:nvPr/>
        </p:nvSpPr>
        <p:spPr>
          <a:xfrm>
            <a:off x="3017520" y="256032"/>
            <a:ext cx="8686800" cy="640080"/>
          </a:xfrm>
          <a:prstGeom prst="rect">
            <a:avLst/>
          </a:prstGeom>
          <a:noFill/>
        </p:spPr>
        <p:txBody>
          <a:bodyPr wrap="square"/>
          <a:lstStyle/>
          <a:p>
            <a:pPr algn="l">
              <a:defRPr sz="2600" b="1">
                <a:solidFill>
                  <a:srgbClr val="333333"/>
                </a:solidFill>
                <a:latin typeface="Calibri"/>
              </a:defRPr>
            </a:pPr>
            <a:r>
              <a:t>Cuatro problemas de blockchain</a:t>
            </a:r>
          </a:p>
        </p:txBody>
      </p:sp>
      <p:sp>
        <p:nvSpPr>
          <p:cNvPr id="6" name="Rectangle 5"/>
          <p:cNvSpPr/>
          <p:nvPr/>
        </p:nvSpPr>
        <p:spPr>
          <a:xfrm>
            <a:off x="457200" y="96012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828800" cy="365760"/>
          </a:xfrm>
          <a:prstGeom prst="rect">
            <a:avLst/>
          </a:prstGeom>
          <a:noFill/>
        </p:spPr>
        <p:txBody>
          <a:bodyPr wrap="square"/>
          <a:lstStyle/>
          <a:p>
            <a:pPr algn="l">
              <a:defRPr sz="1400" b="1">
                <a:solidFill>
                  <a:srgbClr val="B45D09"/>
                </a:solidFill>
                <a:latin typeface="Calibri"/>
              </a:defRPr>
            </a:pPr>
            <a:r>
              <a:t>Pregunta</a:t>
            </a:r>
          </a:p>
        </p:txBody>
      </p:sp>
      <p:sp>
        <p:nvSpPr>
          <p:cNvPr id="8" name="TextBox 7"/>
          <p:cNvSpPr txBox="1"/>
          <p:nvPr/>
        </p:nvSpPr>
        <p:spPr>
          <a:xfrm>
            <a:off x="457200" y="1554480"/>
            <a:ext cx="11247120" cy="1280160"/>
          </a:xfrm>
          <a:prstGeom prst="rect">
            <a:avLst/>
          </a:prstGeom>
          <a:noFill/>
        </p:spPr>
        <p:txBody>
          <a:bodyPr wrap="square"/>
          <a:lstStyle/>
          <a:p>
            <a:pPr algn="l">
              <a:defRPr sz="2000" b="0">
                <a:solidFill>
                  <a:srgbClr val="333333"/>
                </a:solidFill>
                <a:latin typeface="Calibri"/>
              </a:defRPr>
            </a:pPr>
            <a:r>
              <a:t>Enumera los cuatro problemas técnicos que blockchain resuelve para hacer posible el dinero digital sin intermediarios.</a:t>
            </a:r>
          </a:p>
        </p:txBody>
      </p:sp>
      <p:sp>
        <p:nvSpPr>
          <p:cNvPr id="9" name="Rectangle 8"/>
          <p:cNvSpPr/>
          <p:nvPr/>
        </p:nvSpPr>
        <p:spPr>
          <a:xfrm>
            <a:off x="457200" y="2971800"/>
            <a:ext cx="1097280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108960"/>
            <a:ext cx="1828800" cy="365760"/>
          </a:xfrm>
          <a:prstGeom prst="rect">
            <a:avLst/>
          </a:prstGeom>
          <a:noFill/>
        </p:spPr>
        <p:txBody>
          <a:bodyPr wrap="square"/>
          <a:lstStyle/>
          <a:p>
            <a:pPr algn="l">
              <a:defRPr sz="1400" b="1">
                <a:solidFill>
                  <a:srgbClr val="22627E"/>
                </a:solidFill>
                <a:latin typeface="Calibri"/>
              </a:defRPr>
            </a:pPr>
            <a:r>
              <a:t>Respuesta razonada</a:t>
            </a:r>
          </a:p>
        </p:txBody>
      </p:sp>
      <p:sp>
        <p:nvSpPr>
          <p:cNvPr id="11" name="TextBox 10"/>
          <p:cNvSpPr txBox="1"/>
          <p:nvPr/>
        </p:nvSpPr>
        <p:spPr>
          <a:xfrm>
            <a:off x="457200" y="3474720"/>
            <a:ext cx="11247120" cy="3200400"/>
          </a:xfrm>
          <a:prstGeom prst="rect">
            <a:avLst/>
          </a:prstGeom>
          <a:noFill/>
        </p:spPr>
        <p:txBody>
          <a:bodyPr wrap="square"/>
          <a:lstStyle/>
          <a:p>
            <a:pPr algn="l">
              <a:defRPr sz="1700" b="0">
                <a:solidFill>
                  <a:srgbClr val="333333"/>
                </a:solidFill>
                <a:latin typeface="Calibri"/>
              </a:defRPr>
            </a:pPr>
            <a:r>
              <a:t>Doble gasto: evitar que la misma moneda se use dos veces sin un árbitro central. Orden de las transacciones: en una red descentralizada los nodos ven mensajes en distinto orden y hace falta un mecanismo compartido de secuencia. Integridad de los registros: una vez acordado el orden, garantizar que nadie pueda alterar el pasado (encadenamiento por hash). Y confianza sin intermediario: la propia red verifica colectivamente cada transacción, sustituyendo al banco central como árbitro.</a:t>
            </a:r>
          </a:p>
        </p:txBody>
      </p:sp>
      <p:sp>
        <p:nvSpPr>
          <p:cNvPr id="12" name="TextBox 11"/>
          <p:cNvSpPr txBox="1"/>
          <p:nvPr/>
        </p:nvSpPr>
        <p:spPr>
          <a:xfrm>
            <a:off x="10515600" y="6446520"/>
            <a:ext cx="1371600" cy="274320"/>
          </a:xfrm>
          <a:prstGeom prst="rect">
            <a:avLst/>
          </a:prstGeom>
          <a:noFill/>
        </p:spPr>
        <p:txBody>
          <a:bodyPr wrap="square"/>
          <a:lstStyle/>
          <a:p>
            <a:pPr algn="r">
              <a:defRPr sz="1200" b="0">
                <a:solidFill>
                  <a:srgbClr val="333333"/>
                </a:solidFill>
                <a:latin typeface="Calibri"/>
              </a:defRPr>
            </a:pPr>
            <a:r>
              <a:t>15 / 16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2377440" cy="4572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2377440" cy="457200"/>
          </a:xfrm>
          <a:prstGeom prst="rect">
            <a:avLst/>
          </a:prstGeom>
          <a:noFill/>
        </p:spPr>
        <p:txBody>
          <a:bodyPr wrap="square"/>
          <a:lstStyle/>
          <a:p>
            <a:pPr algn="ctr">
              <a:defRPr sz="1600" b="1">
                <a:solidFill>
                  <a:srgbClr val="FFFFFF"/>
                </a:solidFill>
                <a:latin typeface="Calibri"/>
              </a:defRPr>
            </a:pPr>
            <a:r>
              <a:t>PREGUNTA 16 / 16</a:t>
            </a:r>
          </a:p>
        </p:txBody>
      </p:sp>
      <p:sp>
        <p:nvSpPr>
          <p:cNvPr id="5" name="TextBox 4"/>
          <p:cNvSpPr txBox="1"/>
          <p:nvPr/>
        </p:nvSpPr>
        <p:spPr>
          <a:xfrm>
            <a:off x="3017520" y="256032"/>
            <a:ext cx="8686800" cy="640080"/>
          </a:xfrm>
          <a:prstGeom prst="rect">
            <a:avLst/>
          </a:prstGeom>
          <a:noFill/>
        </p:spPr>
        <p:txBody>
          <a:bodyPr wrap="square"/>
          <a:lstStyle/>
          <a:p>
            <a:pPr algn="l">
              <a:defRPr sz="2600" b="1">
                <a:solidFill>
                  <a:srgbClr val="333333"/>
                </a:solidFill>
                <a:latin typeface="Calibri"/>
              </a:defRPr>
            </a:pPr>
            <a:r>
              <a:t>Doble gasto</a:t>
            </a:r>
          </a:p>
        </p:txBody>
      </p:sp>
      <p:sp>
        <p:nvSpPr>
          <p:cNvPr id="6" name="Rectangle 5"/>
          <p:cNvSpPr/>
          <p:nvPr/>
        </p:nvSpPr>
        <p:spPr>
          <a:xfrm>
            <a:off x="457200" y="96012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828800" cy="365760"/>
          </a:xfrm>
          <a:prstGeom prst="rect">
            <a:avLst/>
          </a:prstGeom>
          <a:noFill/>
        </p:spPr>
        <p:txBody>
          <a:bodyPr wrap="square"/>
          <a:lstStyle/>
          <a:p>
            <a:pPr algn="l">
              <a:defRPr sz="1400" b="1">
                <a:solidFill>
                  <a:srgbClr val="B45D09"/>
                </a:solidFill>
                <a:latin typeface="Calibri"/>
              </a:defRPr>
            </a:pPr>
            <a:r>
              <a:t>Pregunta</a:t>
            </a:r>
          </a:p>
        </p:txBody>
      </p:sp>
      <p:sp>
        <p:nvSpPr>
          <p:cNvPr id="8" name="TextBox 7"/>
          <p:cNvSpPr txBox="1"/>
          <p:nvPr/>
        </p:nvSpPr>
        <p:spPr>
          <a:xfrm>
            <a:off x="457200" y="1554480"/>
            <a:ext cx="11247120" cy="1280160"/>
          </a:xfrm>
          <a:prstGeom prst="rect">
            <a:avLst/>
          </a:prstGeom>
          <a:noFill/>
        </p:spPr>
        <p:txBody>
          <a:bodyPr wrap="square"/>
          <a:lstStyle/>
          <a:p>
            <a:pPr algn="l">
              <a:defRPr sz="2000" b="0">
                <a:solidFill>
                  <a:srgbClr val="333333"/>
                </a:solidFill>
                <a:latin typeface="Calibri"/>
              </a:defRPr>
            </a:pPr>
            <a:r>
              <a:t>¿Qué es el problema del doble gasto y por qué hace que el dinero digital sea fundamentalmente distinto de los archivos?</a:t>
            </a:r>
          </a:p>
        </p:txBody>
      </p:sp>
      <p:sp>
        <p:nvSpPr>
          <p:cNvPr id="9" name="Rectangle 8"/>
          <p:cNvSpPr/>
          <p:nvPr/>
        </p:nvSpPr>
        <p:spPr>
          <a:xfrm>
            <a:off x="457200" y="2971800"/>
            <a:ext cx="1097280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108960"/>
            <a:ext cx="1828800" cy="365760"/>
          </a:xfrm>
          <a:prstGeom prst="rect">
            <a:avLst/>
          </a:prstGeom>
          <a:noFill/>
        </p:spPr>
        <p:txBody>
          <a:bodyPr wrap="square"/>
          <a:lstStyle/>
          <a:p>
            <a:pPr algn="l">
              <a:defRPr sz="1400" b="1">
                <a:solidFill>
                  <a:srgbClr val="22627E"/>
                </a:solidFill>
                <a:latin typeface="Calibri"/>
              </a:defRPr>
            </a:pPr>
            <a:r>
              <a:t>Respuesta razonada</a:t>
            </a:r>
          </a:p>
        </p:txBody>
      </p:sp>
      <p:sp>
        <p:nvSpPr>
          <p:cNvPr id="11" name="TextBox 10"/>
          <p:cNvSpPr txBox="1"/>
          <p:nvPr/>
        </p:nvSpPr>
        <p:spPr>
          <a:xfrm>
            <a:off x="457200" y="3474720"/>
            <a:ext cx="11247120" cy="3200400"/>
          </a:xfrm>
          <a:prstGeom prst="rect">
            <a:avLst/>
          </a:prstGeom>
          <a:noFill/>
        </p:spPr>
        <p:txBody>
          <a:bodyPr wrap="square"/>
          <a:lstStyle/>
          <a:p>
            <a:pPr algn="l">
              <a:defRPr sz="1700" b="0">
                <a:solidFill>
                  <a:srgbClr val="333333"/>
                </a:solidFill>
                <a:latin typeface="Calibri"/>
              </a:defRPr>
            </a:pPr>
            <a:r>
              <a:t>Un fichero digital se puede copiar trivialmente — copiar/pegar deja dos copias idénticas — y eso es irrelevante para una foto, pero con dinero sería fraude: gastarías la misma moneda dos veces. Antes de Bitcoin, toda forma de dinero digital requería un tercero central (banco, PayPal) que llevara la cuenta de quién tiene qué y validara cada operación. La innovación de blockchain es resolver ese problema sin árbitro: cada transacción se valida colectivamente y queda registrada de forma inmutable.</a:t>
            </a:r>
          </a:p>
        </p:txBody>
      </p:sp>
      <p:sp>
        <p:nvSpPr>
          <p:cNvPr id="12" name="TextBox 11"/>
          <p:cNvSpPr txBox="1"/>
          <p:nvPr/>
        </p:nvSpPr>
        <p:spPr>
          <a:xfrm>
            <a:off x="10515600" y="6446520"/>
            <a:ext cx="1371600" cy="274320"/>
          </a:xfrm>
          <a:prstGeom prst="rect">
            <a:avLst/>
          </a:prstGeom>
          <a:noFill/>
        </p:spPr>
        <p:txBody>
          <a:bodyPr wrap="square"/>
          <a:lstStyle/>
          <a:p>
            <a:pPr algn="r">
              <a:defRPr sz="1200" b="0">
                <a:solidFill>
                  <a:srgbClr val="333333"/>
                </a:solidFill>
                <a:latin typeface="Calibri"/>
              </a:defRPr>
            </a:pPr>
            <a: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2030</Words>
  <Application>Microsoft Office PowerPoint</Application>
  <PresentationFormat>Personalizado</PresentationFormat>
  <Paragraphs>132</Paragraphs>
  <Slides>19</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19</vt:i4>
      </vt:variant>
    </vt:vector>
  </HeadingPairs>
  <TitlesOfParts>
    <vt:vector size="22"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Javier Nieto</cp:lastModifiedBy>
  <cp:revision>2</cp:revision>
  <dcterms:created xsi:type="dcterms:W3CDTF">2013-01-27T09:14:16Z</dcterms:created>
  <dcterms:modified xsi:type="dcterms:W3CDTF">2026-05-06T08:07:40Z</dcterms:modified>
  <cp:category/>
</cp:coreProperties>
</file>